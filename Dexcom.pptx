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4" r:id="rId2"/>
    <p:sldId id="275" r:id="rId3"/>
    <p:sldId id="262" r:id="rId4"/>
    <p:sldId id="260" r:id="rId5"/>
    <p:sldId id="272" r:id="rId6"/>
    <p:sldId id="269" r:id="rId7"/>
    <p:sldId id="271" r:id="rId8"/>
    <p:sldId id="276" r:id="rId9"/>
    <p:sldId id="277" r:id="rId10"/>
    <p:sldId id="278" r:id="rId11"/>
    <p:sldId id="267" r:id="rId12"/>
    <p:sldId id="258" r:id="rId13"/>
    <p:sldId id="261" r:id="rId14"/>
    <p:sldId id="273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139E96-F6B6-9D24-1274-93F32C906542}" name="Chen, Sharon" initials="CS" userId="S::sharon.chen@yale.edu::5882ce11-cff6-4f87-9ca6-97431da07c9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AFB"/>
    <a:srgbClr val="00B4C6"/>
    <a:srgbClr val="1E2E31"/>
    <a:srgbClr val="03C39A"/>
    <a:srgbClr val="028090"/>
    <a:srgbClr val="02C39A"/>
    <a:srgbClr val="F59E0B"/>
    <a:srgbClr val="1A2E32"/>
    <a:srgbClr val="2D505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13351C-4FBF-0545-A0C9-CE12546AFAF5}" v="2779" dt="2026-02-28T05:45:14.953"/>
    <p1510:client id="{4DFD2A17-9957-A344-A870-13927938E4DE}" v="620" dt="2026-02-28T13:47:35.809"/>
    <p1510:client id="{6B61383F-2D5A-4149-1233-E0B8EEC7A24A}" v="9" dt="2026-02-28T17:35:43.341"/>
    <p1510:client id="{D3E0E1D0-867C-EF48-BE2E-650A08218B3E}" v="421" dt="2026-02-28T18:33:40.348"/>
    <p1510:client id="{DA0AEA0B-A944-262E-9A96-9ABF8B55D08F}" v="60" dt="2026-02-27T20:59:07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4"/>
  </p:normalViewPr>
  <p:slideViewPr>
    <p:cSldViewPr snapToGrid="0">
      <p:cViewPr varScale="1">
        <p:scale>
          <a:sx n="149" d="100"/>
          <a:sy n="149" d="100"/>
        </p:scale>
        <p:origin x="7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F1C-4140-BD31-84A7D322C4B2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1C-4140-BD31-84A7D322C4B2}"/>
              </c:ext>
            </c:extLst>
          </c:dPt>
          <c:dPt>
            <c:idx val="2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F1C-4140-BD31-84A7D322C4B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1C-4140-BD31-84A7D322C4B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1C-4140-BD31-84A7D322C4B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F1C-4140-BD31-84A7D322C4B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Dexcom</c:v>
                </c:pt>
                <c:pt idx="1">
                  <c:v>Abbott (Libre)</c:v>
                </c:pt>
                <c:pt idx="2">
                  <c:v>Others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38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F1C-4140-BD31-84A7D322C4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0FA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E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2.4500000000000002</c:v>
                </c:pt>
                <c:pt idx="1">
                  <c:v>2.91</c:v>
                </c:pt>
                <c:pt idx="2">
                  <c:v>3.62</c:v>
                </c:pt>
                <c:pt idx="3">
                  <c:v>4.03</c:v>
                </c:pt>
                <c:pt idx="4">
                  <c:v>4.66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BC-0C43-87A4-799E69A28F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E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879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AA5DB-8C36-BC47-F8F3-A69CDC2DE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294AD-00DB-AA8D-E2D3-09BFC8802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DC7B9-970B-A842-CD30-BAE118509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B074A-36C9-16D2-79F8-9A167B7E20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6190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62F55-F68A-1755-CDF6-12A2E777C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F731C-5CBF-87B7-40C8-3852F786F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38ACAA-EE74-F999-4636-A29893512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269DF-92C0-2C42-B975-79A554142D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160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4437E-BED2-F8FE-33B8-B324C984C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70A9C3-AF03-EAD9-A506-0939C153D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BFFA77-ECD1-B015-AA36-450B84EF12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C408D-6992-7C4E-6E90-C71236A6FD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12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0AE53-139E-D37F-9D31-960A47F88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AEBA8E-AD30-F5D7-EAF7-D2D0B19BC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EE818-449C-46F8-1EDD-1F1DB6495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Right away – Focus on retention &amp; relationship marketing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G7 Reliability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Streamline Onboarding</a:t>
            </a:r>
          </a:p>
          <a:p>
            <a:pPr marL="228600" indent="-228600">
              <a:buFont typeface="+mj-lt"/>
              <a:buAutoNum type="arabicPeriod"/>
            </a:pPr>
            <a:endParaRPr lang="en-US"/>
          </a:p>
          <a:p>
            <a:r>
              <a:rPr lang="en-US"/>
              <a:t>1 year – 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Sustainability pilot for sensor waste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Focus in on </a:t>
            </a:r>
            <a:r>
              <a:rPr lang="en-US" err="1"/>
              <a:t>Stelo</a:t>
            </a:r>
            <a:r>
              <a:rPr lang="en-US"/>
              <a:t> (Specificity) - </a:t>
            </a:r>
            <a:r>
              <a:rPr lang="en-US" sz="1200">
                <a:solidFill>
                  <a:srgbClr val="2D5057"/>
                </a:solidFill>
              </a:rPr>
              <a:t>Platform economy: Open Dexcom API to enable third-party clinical tools; revenue-share model with impact validators; horizonal integration (Oura Ring) </a:t>
            </a:r>
            <a:endParaRPr lang="en-US"/>
          </a:p>
          <a:p>
            <a:endParaRPr lang="en-US"/>
          </a:p>
          <a:p>
            <a:r>
              <a:rPr lang="en-US"/>
              <a:t>3 year – 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Dexcom for Low-Income US households + countries (partner with NGOs – UNDP) - change in payer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Use patient data to generate synthetic data to create a research marketplace (pharma)</a:t>
            </a:r>
          </a:p>
          <a:p>
            <a:pPr marL="228600" indent="-228600">
              <a:buFont typeface="+mj-lt"/>
              <a:buAutoNum type="arabicPeriod"/>
            </a:pPr>
            <a:endParaRPr lang="en-US"/>
          </a:p>
          <a:p>
            <a:pPr marL="228600" indent="-228600">
              <a:buFont typeface="+mj-lt"/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17CD5-6BE0-E23D-9154-5FE9861ACB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21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C182B-3C48-EDB9-7035-6A13E2DA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E9002-E964-50BD-9586-C67EBEC3F6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5C15B-8C25-00A0-5A56-D9A303655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7D38A-E2C5-7AB7-D088-F097942AE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4894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D2695-8036-C53A-3EB9-1E7324A9E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29C57D-C4D9-6273-96CD-FD76C0DB5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12EF44-A17E-9470-5106-BFC6CE927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3D009-3F39-6D11-077D-DEE7CC0906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13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A7C3C-B79C-E883-6EED-72A258A8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D4501-36A1-1BF3-2B1F-07FF0C321D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05990-56E9-2E93-50F4-73CC61673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C34CD-91AC-7425-FBC0-C9A025E7D0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110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32DED-466E-6AF7-FFCD-19B542DA9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DC22E-5BDE-AE21-DB43-3E6006FD4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D4E86-9DFA-D199-D550-1E19917FF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Right away – Focus on retention &amp; relationship marketing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G7 Reliability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Streamline Onboarding</a:t>
            </a:r>
          </a:p>
          <a:p>
            <a:pPr marL="228600" indent="-228600">
              <a:buFont typeface="+mj-lt"/>
              <a:buAutoNum type="arabicPeriod"/>
            </a:pPr>
            <a:endParaRPr lang="en-US"/>
          </a:p>
          <a:p>
            <a:r>
              <a:rPr lang="en-US"/>
              <a:t>1 year – 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Sustainability pilot for sensor waste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Focus in on </a:t>
            </a:r>
            <a:r>
              <a:rPr lang="en-US" err="1"/>
              <a:t>Stelo</a:t>
            </a:r>
            <a:r>
              <a:rPr lang="en-US"/>
              <a:t> (Specificity) - </a:t>
            </a:r>
            <a:r>
              <a:rPr lang="en-US" sz="1200">
                <a:solidFill>
                  <a:srgbClr val="2D5057"/>
                </a:solidFill>
              </a:rPr>
              <a:t>Platform economy: Open Dexcom API to enable third-party clinical tools; revenue-share model with impact validators; horizonal integration (Oura Ring) </a:t>
            </a:r>
            <a:endParaRPr lang="en-US"/>
          </a:p>
          <a:p>
            <a:endParaRPr lang="en-US"/>
          </a:p>
          <a:p>
            <a:r>
              <a:rPr lang="en-US"/>
              <a:t>3 year – 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Dexcom for Low-Income US households + countries (partner with NGOs – UNDP) - change in payer</a:t>
            </a:r>
          </a:p>
          <a:p>
            <a:pPr marL="228600" indent="-228600">
              <a:buFont typeface="+mj-lt"/>
              <a:buAutoNum type="arabicPeriod"/>
            </a:pPr>
            <a:r>
              <a:rPr lang="en-US"/>
              <a:t>Use patient data to generate synthetic data to create a research marketplace (pharma)</a:t>
            </a:r>
          </a:p>
          <a:p>
            <a:pPr marL="228600" indent="-228600">
              <a:buFont typeface="+mj-lt"/>
              <a:buAutoNum type="arabicPeriod"/>
            </a:pPr>
            <a:endParaRPr lang="en-US"/>
          </a:p>
          <a:p>
            <a:pPr marL="228600" indent="-228600">
              <a:buFont typeface="+mj-lt"/>
              <a:buAutoNum type="arabicPeriod"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E2BB4-ACA4-178A-9673-0D6EBFDCE1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922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5761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36A1D35-FB0F-7980-943B-871D787D25D0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49154718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36A1D35-FB0F-7980-943B-871D787D25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hyperlink" Target="https://www.fda.gov/inspections-compliance-enforcement-and-criminal-investigations/warning-letters/dexcom-inc-700835-03042025" TargetMode="Externa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0990A-AFFC-6B8B-8EA5-F01D92967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C5E46E3F-BCEA-C2C1-C305-0A4E41D7ACE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055811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7108BE95-ADED-4B22-D366-245FEF113F4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B"/>
          </a:solidFill>
          <a:ln>
            <a:solidFill>
              <a:srgbClr val="F2FA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A9A52FA-FE97-D38B-ACF1-49F9BE3C85CD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C72CDE4-3649-E6DE-1C4B-17AAAE328847}"/>
              </a:ext>
            </a:extLst>
          </p:cNvPr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0150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DB611BE-A288-3670-1E9C-9E5791550429}"/>
              </a:ext>
            </a:extLst>
          </p:cNvPr>
          <p:cNvSpPr/>
          <p:nvPr/>
        </p:nvSpPr>
        <p:spPr>
          <a:xfrm>
            <a:off x="7040880" y="1097280"/>
            <a:ext cx="182880" cy="358902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C9DE5C4-00D9-C523-9DF2-2AF1D71F5509}"/>
              </a:ext>
            </a:extLst>
          </p:cNvPr>
          <p:cNvSpPr/>
          <p:nvPr/>
        </p:nvSpPr>
        <p:spPr>
          <a:xfrm>
            <a:off x="7315200" y="822960"/>
            <a:ext cx="182880" cy="386334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BB16347-1BB9-937A-AF20-A11A72FC92DE}"/>
              </a:ext>
            </a:extLst>
          </p:cNvPr>
          <p:cNvSpPr/>
          <p:nvPr/>
        </p:nvSpPr>
        <p:spPr>
          <a:xfrm>
            <a:off x="7589520" y="1280160"/>
            <a:ext cx="182880" cy="340614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F34BC75-1133-40BC-1C2F-E379C4E665F0}"/>
              </a:ext>
            </a:extLst>
          </p:cNvPr>
          <p:cNvSpPr/>
          <p:nvPr/>
        </p:nvSpPr>
        <p:spPr>
          <a:xfrm>
            <a:off x="7863840" y="640080"/>
            <a:ext cx="182880" cy="404622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8F27233-BF5D-57B5-7A7F-DA2FE7B7C9E1}"/>
              </a:ext>
            </a:extLst>
          </p:cNvPr>
          <p:cNvSpPr/>
          <p:nvPr/>
        </p:nvSpPr>
        <p:spPr>
          <a:xfrm>
            <a:off x="8138160" y="1005840"/>
            <a:ext cx="182880" cy="368046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A143219-0797-CD4F-37EC-21B0B4BE9741}"/>
              </a:ext>
            </a:extLst>
          </p:cNvPr>
          <p:cNvSpPr/>
          <p:nvPr/>
        </p:nvSpPr>
        <p:spPr>
          <a:xfrm>
            <a:off x="8412480" y="1463040"/>
            <a:ext cx="182880" cy="322326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F327569-EC61-3C90-7770-D386FD80E5D9}"/>
              </a:ext>
            </a:extLst>
          </p:cNvPr>
          <p:cNvSpPr/>
          <p:nvPr/>
        </p:nvSpPr>
        <p:spPr>
          <a:xfrm>
            <a:off x="8686800" y="731520"/>
            <a:ext cx="182880" cy="3954780"/>
          </a:xfrm>
          <a:prstGeom prst="rect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8B7ABA0-8BB6-7AEA-0A00-A2686D568892}"/>
              </a:ext>
            </a:extLst>
          </p:cNvPr>
          <p:cNvSpPr/>
          <p:nvPr/>
        </p:nvSpPr>
        <p:spPr>
          <a:xfrm>
            <a:off x="45720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00B4C6"/>
                </a:solidFill>
              </a:rPr>
              <a:t>MGT 875 | SERVICE MANAGEMENT</a:t>
            </a:r>
            <a:endParaRPr lang="en-US" sz="11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FB03972-CB5C-149F-B518-8369689ADC49}"/>
              </a:ext>
            </a:extLst>
          </p:cNvPr>
          <p:cNvSpPr/>
          <p:nvPr/>
        </p:nvSpPr>
        <p:spPr>
          <a:xfrm>
            <a:off x="457200" y="1816451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Dexcom</a:t>
            </a:r>
            <a:endParaRPr lang="en-US" sz="6000" dirty="0">
              <a:solidFill>
                <a:srgbClr val="1E2E31"/>
              </a:solidFill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B384AA45-D2A3-08C9-D224-3CDDEBB951FB}"/>
              </a:ext>
            </a:extLst>
          </p:cNvPr>
          <p:cNvSpPr/>
          <p:nvPr/>
        </p:nvSpPr>
        <p:spPr>
          <a:xfrm>
            <a:off x="457200" y="2697480"/>
            <a:ext cx="4572000" cy="365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4C95A6B-CA9A-AF9A-4DC6-1AB006F2DCC0}"/>
              </a:ext>
            </a:extLst>
          </p:cNvPr>
          <p:cNvSpPr/>
          <p:nvPr/>
        </p:nvSpPr>
        <p:spPr>
          <a:xfrm>
            <a:off x="457200" y="2834640"/>
            <a:ext cx="6217920" cy="538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i="1">
                <a:solidFill>
                  <a:srgbClr val="03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Glucose Monitoring as a Service for Social Impact</a:t>
            </a:r>
            <a:endParaRPr lang="en-US" i="1">
              <a:solidFill>
                <a:srgbClr val="03C39A"/>
              </a:solidFill>
            </a:endParaRPr>
          </a:p>
          <a:p>
            <a:r>
              <a:rPr lang="en-US" i="1">
                <a:solidFill>
                  <a:srgbClr val="03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i="1">
              <a:solidFill>
                <a:srgbClr val="03C39A"/>
              </a:solidFill>
            </a:endParaRPr>
          </a:p>
        </p:txBody>
      </p:sp>
      <p:sp>
        <p:nvSpPr>
          <p:cNvPr id="30" name="Text 14">
            <a:extLst>
              <a:ext uri="{FF2B5EF4-FFF2-40B4-BE49-F238E27FC236}">
                <a16:creationId xmlns:a16="http://schemas.microsoft.com/office/drawing/2014/main" id="{111B1B62-CCDD-DD84-0046-0BBEFE105453}"/>
              </a:ext>
            </a:extLst>
          </p:cNvPr>
          <p:cNvSpPr/>
          <p:nvPr/>
        </p:nvSpPr>
        <p:spPr>
          <a:xfrm>
            <a:off x="434340" y="47777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4: </a:t>
            </a:r>
            <a:r>
              <a:rPr lang="en-US" sz="1400" i="1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 Sawant, Gina Aikens, </a:t>
            </a:r>
            <a:r>
              <a:rPr lang="en-US" sz="1400" i="1" dirty="0" err="1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Hsinyun</a:t>
            </a:r>
            <a:r>
              <a:rPr lang="en-US" sz="1400" i="1" dirty="0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Chang, Jude Bart-Plange, Sharon Chen</a:t>
            </a:r>
            <a:endParaRPr lang="en-US" sz="1400" i="1" dirty="0">
              <a:solidFill>
                <a:srgbClr val="00B4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994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E9953-E3F8-E8CD-579E-E84C6C38F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hink-cell data - do not delete" hidden="1">
            <a:extLst>
              <a:ext uri="{FF2B5EF4-FFF2-40B4-BE49-F238E27FC236}">
                <a16:creationId xmlns:a16="http://schemas.microsoft.com/office/drawing/2014/main" id="{8ED19FA8-DF21-E05B-3ECA-ECBB804AB3C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777064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3974165A-1DF1-5430-DE24-836238F5CF6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B"/>
          </a:solidFill>
          <a:ln>
            <a:solidFill>
              <a:srgbClr val="F2FA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0394CA5-2E38-AC92-1AED-2E12BA8C594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923EEAE-788F-E70F-CAA9-AE8A5FA2A6FC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SOCIAL IMPACT CASE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FBCABDD-261B-6F2A-679D-7DEC4A129097}"/>
              </a:ext>
            </a:extLst>
          </p:cNvPr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2C39A"/>
                </a:solidFill>
              </a:rPr>
              <a:t>The Global Diabetes Crisis</a:t>
            </a:r>
            <a:endParaRPr lang="en-US" sz="2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F814E6A-53FA-3A25-000A-C62139A5E7D2}"/>
              </a:ext>
            </a:extLst>
          </p:cNvPr>
          <p:cNvSpPr/>
          <p:nvPr/>
        </p:nvSpPr>
        <p:spPr>
          <a:xfrm>
            <a:off x="365760" y="1325880"/>
            <a:ext cx="1965960" cy="1371600"/>
          </a:xfrm>
          <a:prstGeom prst="rect">
            <a:avLst/>
          </a:prstGeom>
          <a:solidFill>
            <a:srgbClr val="2D5057"/>
          </a:solidFill>
          <a:ln/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4193F6C-6C3B-6CFA-87E5-9F9F19020189}"/>
              </a:ext>
            </a:extLst>
          </p:cNvPr>
          <p:cNvSpPr/>
          <p:nvPr/>
        </p:nvSpPr>
        <p:spPr>
          <a:xfrm>
            <a:off x="36576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2C39A"/>
                </a:solidFill>
              </a:rPr>
              <a:t>537M</a:t>
            </a:r>
            <a:endParaRPr lang="en-US" sz="26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8BC9566-3F7A-ACE6-8F2D-A3D3B999B8F0}"/>
              </a:ext>
            </a:extLst>
          </p:cNvPr>
          <p:cNvSpPr/>
          <p:nvPr/>
        </p:nvSpPr>
        <p:spPr>
          <a:xfrm>
            <a:off x="438912" y="2011680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EF0"/>
                </a:solidFill>
              </a:rPr>
              <a:t>Adults with diabetes globally (IDF 2025)</a:t>
            </a:r>
            <a:endParaRPr lang="en-US" sz="100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CB0B8CD-E539-EBE1-F6E0-6F818BC4B3A2}"/>
              </a:ext>
            </a:extLst>
          </p:cNvPr>
          <p:cNvSpPr/>
          <p:nvPr/>
        </p:nvSpPr>
        <p:spPr>
          <a:xfrm>
            <a:off x="2514600" y="1325880"/>
            <a:ext cx="1965960" cy="1371600"/>
          </a:xfrm>
          <a:prstGeom prst="rect">
            <a:avLst/>
          </a:prstGeom>
          <a:solidFill>
            <a:srgbClr val="2D5057"/>
          </a:solidFill>
          <a:ln/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BAB69C2-7374-240E-184C-AA739A77CEDD}"/>
              </a:ext>
            </a:extLst>
          </p:cNvPr>
          <p:cNvSpPr/>
          <p:nvPr/>
        </p:nvSpPr>
        <p:spPr>
          <a:xfrm>
            <a:off x="251460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2C39A"/>
                </a:solidFill>
              </a:rPr>
              <a:t>11.1%</a:t>
            </a:r>
            <a:endParaRPr lang="en-US" sz="2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1C9A99F-7526-F32B-58FD-44EAEFE75774}"/>
              </a:ext>
            </a:extLst>
          </p:cNvPr>
          <p:cNvSpPr/>
          <p:nvPr/>
        </p:nvSpPr>
        <p:spPr>
          <a:xfrm>
            <a:off x="2587752" y="2011680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EF0"/>
                </a:solidFill>
              </a:rPr>
              <a:t>Of global adults ages 20-79 affected</a:t>
            </a:r>
            <a:endParaRPr lang="en-US" sz="1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803AAD5-2C6E-2DA8-FEA7-93E3A07BBB6E}"/>
              </a:ext>
            </a:extLst>
          </p:cNvPr>
          <p:cNvSpPr/>
          <p:nvPr/>
        </p:nvSpPr>
        <p:spPr>
          <a:xfrm>
            <a:off x="4663440" y="1325880"/>
            <a:ext cx="1965960" cy="1371600"/>
          </a:xfrm>
          <a:prstGeom prst="rect">
            <a:avLst/>
          </a:prstGeom>
          <a:solidFill>
            <a:srgbClr val="2D5057"/>
          </a:solidFill>
          <a:ln/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740703B-23FE-8A00-67F7-1F74322A76FC}"/>
              </a:ext>
            </a:extLst>
          </p:cNvPr>
          <p:cNvSpPr/>
          <p:nvPr/>
        </p:nvSpPr>
        <p:spPr>
          <a:xfrm>
            <a:off x="466344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2C39A"/>
                </a:solidFill>
              </a:rPr>
              <a:t>$966B</a:t>
            </a:r>
            <a:endParaRPr lang="en-US" sz="26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5229602-008F-823C-E38F-79006E88DD25}"/>
              </a:ext>
            </a:extLst>
          </p:cNvPr>
          <p:cNvSpPr/>
          <p:nvPr/>
        </p:nvSpPr>
        <p:spPr>
          <a:xfrm>
            <a:off x="4736592" y="2011680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EF0"/>
                </a:solidFill>
              </a:rPr>
              <a:t>Annual global healthcare costs from diabetes</a:t>
            </a:r>
            <a:endParaRPr lang="en-US" sz="100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4BACB82-20DE-DE91-9F69-5FD4EEDE51ED}"/>
              </a:ext>
            </a:extLst>
          </p:cNvPr>
          <p:cNvSpPr/>
          <p:nvPr/>
        </p:nvSpPr>
        <p:spPr>
          <a:xfrm>
            <a:off x="6812280" y="1325880"/>
            <a:ext cx="1965960" cy="1371600"/>
          </a:xfrm>
          <a:prstGeom prst="rect">
            <a:avLst/>
          </a:prstGeom>
          <a:solidFill>
            <a:srgbClr val="2D5057"/>
          </a:solidFill>
          <a:ln/>
          <a:effectLst>
            <a:outerShdw blurRad="76200" dist="254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6C62E42-A051-1C4D-4D37-355653671EF6}"/>
              </a:ext>
            </a:extLst>
          </p:cNvPr>
          <p:cNvSpPr/>
          <p:nvPr/>
        </p:nvSpPr>
        <p:spPr>
          <a:xfrm>
            <a:off x="6812280" y="14173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02C39A"/>
                </a:solidFill>
              </a:rPr>
              <a:t>3.5M</a:t>
            </a:r>
            <a:endParaRPr lang="en-US" sz="26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411841D-6F0E-27EB-DA39-04E5379E7895}"/>
              </a:ext>
            </a:extLst>
          </p:cNvPr>
          <p:cNvSpPr/>
          <p:nvPr/>
        </p:nvSpPr>
        <p:spPr>
          <a:xfrm>
            <a:off x="6885432" y="2011680"/>
            <a:ext cx="1819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2EEF0"/>
                </a:solidFill>
              </a:rPr>
              <a:t>Annual deaths attributed to diabetes complications</a:t>
            </a:r>
            <a:endParaRPr lang="en-US" sz="10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B538E6E-66EF-C13E-4E75-C2FF58CB6E6B}"/>
              </a:ext>
            </a:extLst>
          </p:cNvPr>
          <p:cNvSpPr/>
          <p:nvPr/>
        </p:nvSpPr>
        <p:spPr>
          <a:xfrm>
            <a:off x="448884" y="2884608"/>
            <a:ext cx="8243100" cy="22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b="1">
              <a:solidFill>
                <a:srgbClr val="00B4C6"/>
              </a:solidFill>
              <a:ea typeface="Calibri"/>
              <a:cs typeface="Calibri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9B910BE-D2E7-C4A1-8FDD-A49BD7F91251}"/>
              </a:ext>
            </a:extLst>
          </p:cNvPr>
          <p:cNvSpPr/>
          <p:nvPr/>
        </p:nvSpPr>
        <p:spPr>
          <a:xfrm>
            <a:off x="365760" y="3246120"/>
            <a:ext cx="2697480" cy="1645920"/>
          </a:xfrm>
          <a:prstGeom prst="rect">
            <a:avLst/>
          </a:prstGeom>
          <a:solidFill>
            <a:srgbClr val="2D5057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FF01217-C113-F1D0-6A90-C073437AF5AF}"/>
              </a:ext>
            </a:extLst>
          </p:cNvPr>
          <p:cNvSpPr/>
          <p:nvPr/>
        </p:nvSpPr>
        <p:spPr>
          <a:xfrm>
            <a:off x="365760" y="3246120"/>
            <a:ext cx="26974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CC4045A-BD56-6FAD-EB7F-506E4FA9AC1F}"/>
              </a:ext>
            </a:extLst>
          </p:cNvPr>
          <p:cNvSpPr/>
          <p:nvPr/>
        </p:nvSpPr>
        <p:spPr>
          <a:xfrm>
            <a:off x="457200" y="3273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SDG 3 · Good Health &amp; Well-Being</a:t>
            </a:r>
            <a:endParaRPr lang="en-US" sz="110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00C7B99-0200-6010-720B-A44CB96834CB}"/>
              </a:ext>
            </a:extLst>
          </p:cNvPr>
          <p:cNvSpPr/>
          <p:nvPr/>
        </p:nvSpPr>
        <p:spPr>
          <a:xfrm>
            <a:off x="457200" y="3703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2EEF0"/>
                </a:solidFill>
              </a:rPr>
              <a:t>Reducing diabetes-related mortality, improving glucose management, enabling preventive care</a:t>
            </a:r>
            <a:endParaRPr lang="en-US" sz="10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90D8339-3C37-2F98-95C7-3F704CCB8233}"/>
              </a:ext>
            </a:extLst>
          </p:cNvPr>
          <p:cNvSpPr/>
          <p:nvPr/>
        </p:nvSpPr>
        <p:spPr>
          <a:xfrm>
            <a:off x="3246120" y="3246120"/>
            <a:ext cx="2697480" cy="1645920"/>
          </a:xfrm>
          <a:prstGeom prst="rect">
            <a:avLst/>
          </a:prstGeom>
          <a:solidFill>
            <a:srgbClr val="2D5057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23615B3-1C68-A395-402F-3FF2590473AB}"/>
              </a:ext>
            </a:extLst>
          </p:cNvPr>
          <p:cNvSpPr/>
          <p:nvPr/>
        </p:nvSpPr>
        <p:spPr>
          <a:xfrm>
            <a:off x="3246120" y="3246120"/>
            <a:ext cx="26974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EBFB0E1-FF98-0DCC-FE76-B79A6F96FBBE}"/>
              </a:ext>
            </a:extLst>
          </p:cNvPr>
          <p:cNvSpPr/>
          <p:nvPr/>
        </p:nvSpPr>
        <p:spPr>
          <a:xfrm>
            <a:off x="3337560" y="3273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SDG 10 · Reduced Inequalities</a:t>
            </a:r>
            <a:endParaRPr lang="en-US" sz="11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E04689FC-828B-BBE5-8C65-3F2A85788E01}"/>
              </a:ext>
            </a:extLst>
          </p:cNvPr>
          <p:cNvSpPr/>
          <p:nvPr/>
        </p:nvSpPr>
        <p:spPr>
          <a:xfrm>
            <a:off x="3337560" y="3703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2EEF0"/>
                </a:solidFill>
              </a:rPr>
              <a:t>Stelo OTC access, Patient Assistance Program, Community Glucose Monitoring Project for uninsured</a:t>
            </a:r>
            <a:endParaRPr lang="en-US" sz="100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FDC4D8D-0F96-9616-878B-44E1E0467954}"/>
              </a:ext>
            </a:extLst>
          </p:cNvPr>
          <p:cNvSpPr/>
          <p:nvPr/>
        </p:nvSpPr>
        <p:spPr>
          <a:xfrm>
            <a:off x="6126480" y="3246120"/>
            <a:ext cx="2697480" cy="1645920"/>
          </a:xfrm>
          <a:prstGeom prst="rect">
            <a:avLst/>
          </a:prstGeom>
          <a:solidFill>
            <a:srgbClr val="2D5057"/>
          </a:solidFill>
          <a:ln/>
          <a:effectLst>
            <a:outerShdw blurRad="635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773C398-447F-E18E-6737-9B841E83D039}"/>
              </a:ext>
            </a:extLst>
          </p:cNvPr>
          <p:cNvSpPr/>
          <p:nvPr/>
        </p:nvSpPr>
        <p:spPr>
          <a:xfrm>
            <a:off x="6126480" y="3246120"/>
            <a:ext cx="2697480" cy="411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DC5AD30-78FB-5EFD-46DE-6B798856FE55}"/>
              </a:ext>
            </a:extLst>
          </p:cNvPr>
          <p:cNvSpPr/>
          <p:nvPr/>
        </p:nvSpPr>
        <p:spPr>
          <a:xfrm>
            <a:off x="6217920" y="3273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</a:rPr>
              <a:t>SDG 17 · Partnerships for Goals</a:t>
            </a:r>
            <a:endParaRPr lang="en-US" sz="11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8D36615-30BD-5788-8100-41684BE4575A}"/>
              </a:ext>
            </a:extLst>
          </p:cNvPr>
          <p:cNvSpPr/>
          <p:nvPr/>
        </p:nvSpPr>
        <p:spPr>
          <a:xfrm>
            <a:off x="6217920" y="3703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E2EEF0"/>
                </a:solidFill>
              </a:rPr>
              <a:t>Collaborations with insulin pump makers, EHR systems, payers, and public health programs</a:t>
            </a:r>
            <a:endParaRPr lang="en-US" sz="1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EC646B-036A-C837-DA65-005798D46587}"/>
              </a:ext>
            </a:extLst>
          </p:cNvPr>
          <p:cNvSpPr txBox="1"/>
          <p:nvPr/>
        </p:nvSpPr>
        <p:spPr>
          <a:xfrm>
            <a:off x="328500" y="2877750"/>
            <a:ext cx="44415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baseline="0">
                <a:solidFill>
                  <a:srgbClr val="00B4C6"/>
                </a:solidFill>
                <a:latin typeface="Calibri"/>
              </a:rPr>
              <a:t>Alignment with UN Sustainable Development Goals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92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</a:rPr>
              <a:t>SERVICE STRATEGY &amp; INNOVATION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28090"/>
                </a:solidFill>
              </a:rPr>
              <a:t>The Service Profit Chain at Dexcom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36192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32"/>
                </a:solidFill>
              </a:rPr>
              <a:t>Internal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A2E32"/>
                </a:solidFill>
              </a:rPr>
              <a:t>Quality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Manufacturing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R&amp;D investments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FDA compliance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10512" y="1965960"/>
            <a:ext cx="18288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93392" y="1234440"/>
            <a:ext cx="1536192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93392" y="13258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2E32"/>
                </a:solidFill>
              </a:rPr>
              <a:t>Employee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A2E32"/>
                </a:solidFill>
              </a:rPr>
              <a:t>Satisfaction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2039112" y="19202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Clinical &amp; tech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expertise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Academy training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529584" y="1965960"/>
            <a:ext cx="18288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12464" y="1234440"/>
            <a:ext cx="1536192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12464" y="13258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2E32"/>
                </a:solidFill>
              </a:rPr>
              <a:t>Service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A2E32"/>
                </a:solidFill>
              </a:rPr>
              <a:t>Value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3758184" y="19202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Real-time data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Clinical outcomes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Peace of mind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5248656" y="1965960"/>
            <a:ext cx="18288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31536" y="1234440"/>
            <a:ext cx="1536192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31536" y="13258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2E32"/>
                </a:solidFill>
              </a:rPr>
              <a:t>Patient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1A2E32"/>
                </a:solidFill>
              </a:rPr>
              <a:t>Loyalty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5477256" y="19202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Re-subscription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Clinician trust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Ward-of-mouth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6967728" y="1965960"/>
            <a:ext cx="18288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50608" y="1234440"/>
            <a:ext cx="1536192" cy="164592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50608" y="1325880"/>
            <a:ext cx="1536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Social &amp;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Financial ROI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7196328" y="19202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E2EEF0"/>
                </a:solidFill>
              </a:rPr>
              <a:t>A1C reduction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E2EEF0"/>
                </a:solidFill>
              </a:rPr>
              <a:t>Hospitalization ↓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E2EEF0"/>
                </a:solidFill>
              </a:rPr>
              <a:t>$4.7B revenue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36576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</a:rPr>
              <a:t>Service Innovation &amp; Digital Transformation</a:t>
            </a:r>
            <a:endParaRPr lang="en-US" sz="1400"/>
          </a:p>
        </p:txBody>
      </p:sp>
      <p:sp>
        <p:nvSpPr>
          <p:cNvPr id="25" name="Shape 23"/>
          <p:cNvSpPr/>
          <p:nvPr/>
        </p:nvSpPr>
        <p:spPr>
          <a:xfrm>
            <a:off x="365760" y="3429000"/>
            <a:ext cx="2286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3429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2"/>
                </a:solidFill>
              </a:rPr>
              <a:t>AI-powered meal logging launched Q3 2025 — personalized glucose impact insights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2286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" y="3840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2"/>
                </a:solidFill>
              </a:rPr>
              <a:t>Dexcom Clarity: retrospective analytics platform for clinicians and patients</a:t>
            </a:r>
            <a:endParaRPr lang="en-US" sz="1000"/>
          </a:p>
        </p:txBody>
      </p:sp>
      <p:sp>
        <p:nvSpPr>
          <p:cNvPr id="29" name="Shape 27"/>
          <p:cNvSpPr/>
          <p:nvPr/>
        </p:nvSpPr>
        <p:spPr>
          <a:xfrm>
            <a:off x="365760" y="4251960"/>
            <a:ext cx="2286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2"/>
                </a:solidFill>
              </a:rPr>
              <a:t>Open API / developer ecosystem — 3rd party apps (Signos, Levels, Nutrisense) drive new segments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365760" y="4663440"/>
            <a:ext cx="228600" cy="2743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A2E32"/>
                </a:solidFill>
              </a:rPr>
              <a:t>Automated Insulin Delivery (AID) integration: Omnipod 5, iLet Bionic Pancreas, Tandem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502920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</a:rPr>
              <a:t>Competitive Positioning</a:t>
            </a:r>
            <a:endParaRPr lang="en-US" sz="1400"/>
          </a:p>
        </p:txBody>
      </p:sp>
      <p:graphicFrame>
        <p:nvGraphicFramePr>
          <p:cNvPr id="34" name="Chart 0"/>
          <p:cNvGraphicFramePr/>
          <p:nvPr/>
        </p:nvGraphicFramePr>
        <p:xfrm>
          <a:off x="5029200" y="3383280"/>
          <a:ext cx="384048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</a:rPr>
              <a:t>SERVICE OPERATIONS &amp; CUSTOMER JOURNEY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</a:rPr>
              <a:t>Dexcom's Multi-Sided Service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2E32"/>
                </a:solidFill>
              </a:rPr>
              <a:t>Awareness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Patient diagnosed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Doctor recommends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Insurance checks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1828800" y="1783080"/>
            <a:ext cx="18288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123444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2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201168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2E32"/>
                </a:solidFill>
              </a:rPr>
              <a:t>Access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2103120" y="21945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Prescription/OTC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DME or pharmacy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Activation app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3566160" y="1783080"/>
            <a:ext cx="18288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123444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3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374904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2E32"/>
                </a:solidFill>
              </a:rPr>
              <a:t>Onboarding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3840480" y="21945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Sensor placement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App setup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Clinician training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5303520" y="1783080"/>
            <a:ext cx="18288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0" y="123444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4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548640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2E32"/>
                </a:solidFill>
              </a:rPr>
              <a:t>Daily Use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5577840" y="21945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Real-time readings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Alerts &amp; trends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Share w/ caregivers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7040880" y="1783080"/>
            <a:ext cx="18288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223760" y="1234440"/>
            <a:ext cx="1554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72400" y="12801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5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7223760" y="1828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A2E32"/>
                </a:solidFill>
              </a:rPr>
              <a:t>Re-supply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7315200" y="219456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Auto-refill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Insurance renewal</a:t>
            </a:r>
            <a:endParaRPr lang="en-US" sz="950"/>
          </a:p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</a:rPr>
              <a:t>Sensor replacement</a:t>
            </a:r>
            <a:endParaRPr lang="en-US" sz="950"/>
          </a:p>
        </p:txBody>
      </p:sp>
      <p:sp>
        <p:nvSpPr>
          <p:cNvPr id="34" name="Text 32"/>
          <p:cNvSpPr/>
          <p:nvPr/>
        </p:nvSpPr>
        <p:spPr>
          <a:xfrm>
            <a:off x="36576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E32"/>
                </a:solidFill>
              </a:rPr>
              <a:t>Front Stage vs. Back Stage Operations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365760" y="3794760"/>
            <a:ext cx="4023360" cy="1051560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FRONT STAGE (Visible to Patient)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457200" y="4114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</a:rPr>
              <a:t>Mobile app, glucose alerts, Dexcom Clarity reports, Share feature, customer support, sensor packaging &amp; instructions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4754880" y="3794760"/>
            <a:ext cx="4023360" cy="1051560"/>
          </a:xfrm>
          <a:prstGeom prst="rect">
            <a:avLst/>
          </a:prstGeom>
          <a:solidFill>
            <a:srgbClr val="2D5057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4632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BACK STAGE (Invisible to Patient)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4846320" y="4114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2EEF0"/>
                </a:solidFill>
              </a:rPr>
              <a:t>Sensor manufacturing (US &amp; Malaysia), FDA regulatory compliance, insurance &amp; DME partnerships, R&amp;D ($157M/quarter), cloud data infrastructure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 txBox="1"/>
          <p:nvPr/>
        </p:nvSpPr>
        <p:spPr>
          <a:xfrm>
            <a:off x="365760" y="167641"/>
            <a:ext cx="8229600" cy="4308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 CREATION × VALUE CAPTURE</a:t>
            </a:r>
            <a:endParaRPr sz="2200" dirty="0"/>
          </a:p>
        </p:txBody>
      </p:sp>
      <p:sp>
        <p:nvSpPr>
          <p:cNvPr id="461" name="Google Shape;461;p12"/>
          <p:cNvSpPr txBox="1"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Where is Dexcom now — and where can it go next?</a:t>
            </a:r>
            <a:endParaRPr dirty="0"/>
          </a:p>
        </p:txBody>
      </p:sp>
      <p:sp>
        <p:nvSpPr>
          <p:cNvPr id="462" name="Google Shape;462;p12"/>
          <p:cNvSpPr/>
          <p:nvPr/>
        </p:nvSpPr>
        <p:spPr>
          <a:xfrm>
            <a:off x="502920" y="2267712"/>
            <a:ext cx="77724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 txBox="1"/>
          <p:nvPr/>
        </p:nvSpPr>
        <p:spPr>
          <a:xfrm>
            <a:off x="1600200" y="449884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Value-in-exchange</a:t>
            </a:r>
            <a:endParaRPr/>
          </a:p>
        </p:txBody>
      </p:sp>
      <p:sp>
        <p:nvSpPr>
          <p:cNvPr id="464" name="Google Shape;464;p12"/>
          <p:cNvSpPr txBox="1"/>
          <p:nvPr/>
        </p:nvSpPr>
        <p:spPr>
          <a:xfrm>
            <a:off x="1600200" y="477316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(sensor as product — sell the hardware)</a:t>
            </a:r>
            <a:endParaRPr/>
          </a:p>
        </p:txBody>
      </p:sp>
      <p:sp>
        <p:nvSpPr>
          <p:cNvPr id="465" name="Google Shape;465;p12"/>
          <p:cNvSpPr txBox="1"/>
          <p:nvPr/>
        </p:nvSpPr>
        <p:spPr>
          <a:xfrm>
            <a:off x="4617720" y="44988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Value-in-use</a:t>
            </a:r>
            <a:endParaRPr/>
          </a:p>
        </p:txBody>
      </p:sp>
      <p:sp>
        <p:nvSpPr>
          <p:cNvPr id="466" name="Google Shape;466;p12"/>
          <p:cNvSpPr txBox="1"/>
          <p:nvPr/>
        </p:nvSpPr>
        <p:spPr>
          <a:xfrm>
            <a:off x="4617720" y="477316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(CGM as ongoing health service — outcomes delivered)</a:t>
            </a:r>
            <a:endParaRPr/>
          </a:p>
        </p:txBody>
      </p:sp>
      <p:sp>
        <p:nvSpPr>
          <p:cNvPr id="467" name="Google Shape;467;p12"/>
          <p:cNvSpPr txBox="1"/>
          <p:nvPr/>
        </p:nvSpPr>
        <p:spPr>
          <a:xfrm>
            <a:off x="1600200" y="4251960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VALUE CREATION  →</a:t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1572768" y="1170432"/>
            <a:ext cx="7269480" cy="3108960"/>
          </a:xfrm>
          <a:prstGeom prst="rect">
            <a:avLst/>
          </a:prstGeom>
          <a:solidFill>
            <a:srgbClr val="E2EE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4663440" y="1170432"/>
            <a:ext cx="36576" cy="3108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1572768" y="2715768"/>
            <a:ext cx="726948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1572768" y="1170432"/>
            <a:ext cx="3090672" cy="1536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1664208" y="1234440"/>
            <a:ext cx="1463040" cy="274320"/>
          </a:xfrm>
          <a:prstGeom prst="rect">
            <a:avLst/>
          </a:prstGeom>
          <a:solidFill>
            <a:srgbClr val="2D50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 txBox="1"/>
          <p:nvPr/>
        </p:nvSpPr>
        <p:spPr>
          <a:xfrm>
            <a:off x="1664208" y="1234440"/>
            <a:ext cx="146304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E2EEF0"/>
                </a:solidFill>
                <a:latin typeface="Calibri"/>
                <a:ea typeface="Calibri"/>
                <a:cs typeface="Calibri"/>
                <a:sym typeface="Calibri"/>
              </a:rPr>
              <a:t>WHERE DEXCOM WAS</a:t>
            </a:r>
            <a:endParaRPr sz="2400" dirty="0"/>
          </a:p>
        </p:txBody>
      </p:sp>
      <p:sp>
        <p:nvSpPr>
          <p:cNvPr id="474" name="Google Shape;474;p12"/>
          <p:cNvSpPr txBox="1"/>
          <p:nvPr/>
        </p:nvSpPr>
        <p:spPr>
          <a:xfrm>
            <a:off x="1664208" y="157276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2E32"/>
                </a:solidFill>
                <a:latin typeface="Calibri"/>
                <a:ea typeface="Calibri"/>
                <a:cs typeface="Calibri"/>
                <a:sym typeface="Calibri"/>
              </a:rPr>
              <a:t>Sell the sensor.</a:t>
            </a:r>
            <a:endParaRPr/>
          </a:p>
        </p:txBody>
      </p:sp>
      <p:sp>
        <p:nvSpPr>
          <p:cNvPr id="475" name="Google Shape;475;p12"/>
          <p:cNvSpPr txBox="1"/>
          <p:nvPr/>
        </p:nvSpPr>
        <p:spPr>
          <a:xfrm>
            <a:off x="1664208" y="1828800"/>
            <a:ext cx="2834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G6/G7 device sold via DME channel; revenue = units shipped; patient relationship mediated by payer &amp; pharmacy. No direct data relationship.</a:t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4700016" y="1170432"/>
            <a:ext cx="4142232" cy="1536192"/>
          </a:xfrm>
          <a:prstGeom prst="rect">
            <a:avLst/>
          </a:prstGeom>
          <a:solidFill>
            <a:srgbClr val="E8F7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4791456" y="1234440"/>
            <a:ext cx="1508760" cy="2743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 txBox="1"/>
          <p:nvPr/>
        </p:nvSpPr>
        <p:spPr>
          <a:xfrm>
            <a:off x="4791456" y="1234440"/>
            <a:ext cx="150876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TRANSITION ZONE</a:t>
            </a:r>
            <a:endParaRPr sz="2400" dirty="0"/>
          </a:p>
        </p:txBody>
      </p:sp>
      <p:sp>
        <p:nvSpPr>
          <p:cNvPr id="479" name="Google Shape;479;p12"/>
          <p:cNvSpPr txBox="1"/>
          <p:nvPr/>
        </p:nvSpPr>
        <p:spPr>
          <a:xfrm>
            <a:off x="4791456" y="1572768"/>
            <a:ext cx="388620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2E32"/>
                </a:solidFill>
                <a:latin typeface="Calibri"/>
                <a:ea typeface="Calibri"/>
                <a:cs typeface="Calibri"/>
                <a:sym typeface="Calibri"/>
              </a:rPr>
              <a:t>Stelo subscription + GenAI.</a:t>
            </a:r>
            <a:endParaRPr/>
          </a:p>
        </p:txBody>
      </p:sp>
      <p:sp>
        <p:nvSpPr>
          <p:cNvPr id="480" name="Google Shape;480;p12"/>
          <p:cNvSpPr txBox="1"/>
          <p:nvPr/>
        </p:nvSpPr>
        <p:spPr>
          <a:xfrm>
            <a:off x="4791456" y="1828800"/>
            <a:ext cx="3886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OTC subscription model; 50%+ renewal rate; GenAI Weekly Insights; Oura Ring integration. Still capturing exchange value but creating use value through AI coaching.</a:t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1572768" y="2752344"/>
            <a:ext cx="3090672" cy="1517904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1664208" y="2816352"/>
            <a:ext cx="1645920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 txBox="1"/>
          <p:nvPr/>
        </p:nvSpPr>
        <p:spPr>
          <a:xfrm>
            <a:off x="1664208" y="2816352"/>
            <a:ext cx="16459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1A2E32"/>
                </a:solidFill>
                <a:latin typeface="Calibri"/>
                <a:ea typeface="Calibri"/>
                <a:cs typeface="Calibri"/>
                <a:sym typeface="Calibri"/>
              </a:rPr>
              <a:t>MISSED OPPORTUNITY</a:t>
            </a:r>
            <a:endParaRPr sz="2400" dirty="0"/>
          </a:p>
        </p:txBody>
      </p:sp>
      <p:sp>
        <p:nvSpPr>
          <p:cNvPr id="484" name="Google Shape;484;p12"/>
          <p:cNvSpPr txBox="1"/>
          <p:nvPr/>
        </p:nvSpPr>
        <p:spPr>
          <a:xfrm>
            <a:off x="1664208" y="315468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2E32"/>
                </a:solidFill>
                <a:latin typeface="Calibri"/>
                <a:ea typeface="Calibri"/>
                <a:cs typeface="Calibri"/>
                <a:sym typeface="Calibri"/>
              </a:rPr>
              <a:t>Outcomes-based payer contracts.</a:t>
            </a:r>
            <a:endParaRPr/>
          </a:p>
        </p:txBody>
      </p:sp>
      <p:sp>
        <p:nvSpPr>
          <p:cNvPr id="485" name="Google Shape;485;p12"/>
          <p:cNvSpPr txBox="1"/>
          <p:nvPr/>
        </p:nvSpPr>
        <p:spPr>
          <a:xfrm>
            <a:off x="1645900" y="3332764"/>
            <a:ext cx="2834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Dexcom has real-world outcome data (A1C, hospitalizations) but does not yet monetize it. Shared-savings contracts with Medicare Advantage payers remain untapped.</a:t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4700016" y="2752344"/>
            <a:ext cx="4142232" cy="1517904"/>
          </a:xfrm>
          <a:prstGeom prst="rect">
            <a:avLst/>
          </a:prstGeom>
          <a:solidFill>
            <a:srgbClr val="E0F7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4791456" y="2816352"/>
            <a:ext cx="1783080" cy="2743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 txBox="1"/>
          <p:nvPr/>
        </p:nvSpPr>
        <p:spPr>
          <a:xfrm>
            <a:off x="4791456" y="2816352"/>
            <a:ext cx="178308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1A2E32"/>
                </a:solidFill>
                <a:latin typeface="Calibri"/>
                <a:ea typeface="Calibri"/>
                <a:cs typeface="Calibri"/>
                <a:sym typeface="Calibri"/>
              </a:rPr>
              <a:t>★  WHERE DEXCOM IS GOING</a:t>
            </a:r>
            <a:endParaRPr sz="2400" dirty="0"/>
          </a:p>
        </p:txBody>
      </p:sp>
      <p:sp>
        <p:nvSpPr>
          <p:cNvPr id="489" name="Google Shape;489;p12"/>
          <p:cNvSpPr txBox="1"/>
          <p:nvPr/>
        </p:nvSpPr>
        <p:spPr>
          <a:xfrm>
            <a:off x="4791456" y="3154680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1A2E32"/>
                </a:solidFill>
                <a:latin typeface="Calibri"/>
                <a:ea typeface="Calibri"/>
                <a:cs typeface="Calibri"/>
                <a:sym typeface="Calibri"/>
              </a:rPr>
              <a:t>Biosensing health platform.</a:t>
            </a:r>
            <a:endParaRPr/>
          </a:p>
        </p:txBody>
      </p:sp>
      <p:sp>
        <p:nvSpPr>
          <p:cNvPr id="490" name="Google Shape;490;p12"/>
          <p:cNvSpPr txBox="1"/>
          <p:nvPr/>
        </p:nvSpPr>
        <p:spPr>
          <a:xfrm>
            <a:off x="4791456" y="3410712"/>
            <a:ext cx="38862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 coach + multi-biomarker sensing + WHO/LMIC partnerships + platform API. Monetize outcomes, not transactions. Long-term patient relationship = lifetime health value.</a:t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320040" y="4187952"/>
            <a:ext cx="8046720" cy="0"/>
          </a:xfrm>
          <a:prstGeom prst="rect">
            <a:avLst/>
          </a:prstGeom>
          <a:solidFill>
            <a:srgbClr val="1A2E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20040" y="1170432"/>
            <a:ext cx="1143000" cy="347472"/>
          </a:xfrm>
          <a:prstGeom prst="rect">
            <a:avLst/>
          </a:prstGeom>
          <a:solidFill>
            <a:srgbClr val="1A2E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 txBox="1"/>
          <p:nvPr/>
        </p:nvSpPr>
        <p:spPr>
          <a:xfrm>
            <a:off x="320040" y="1170432"/>
            <a:ext cx="114300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 CAPTURE</a:t>
            </a:r>
            <a:endParaRPr sz="2000" dirty="0"/>
          </a:p>
        </p:txBody>
      </p:sp>
      <p:sp>
        <p:nvSpPr>
          <p:cNvPr id="498" name="Google Shape;498;p12"/>
          <p:cNvSpPr/>
          <p:nvPr/>
        </p:nvSpPr>
        <p:spPr>
          <a:xfrm>
            <a:off x="320040" y="1517904"/>
            <a:ext cx="1143000" cy="1188720"/>
          </a:xfrm>
          <a:prstGeom prst="rect">
            <a:avLst/>
          </a:prstGeom>
          <a:solidFill>
            <a:srgbClr val="0250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 txBox="1"/>
          <p:nvPr/>
        </p:nvSpPr>
        <p:spPr>
          <a:xfrm>
            <a:off x="347472" y="1554480"/>
            <a:ext cx="10881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Value-in-use</a:t>
            </a:r>
            <a:endParaRPr/>
          </a:p>
        </p:txBody>
      </p:sp>
      <p:sp>
        <p:nvSpPr>
          <p:cNvPr id="500" name="Google Shape;500;p12"/>
          <p:cNvSpPr txBox="1"/>
          <p:nvPr/>
        </p:nvSpPr>
        <p:spPr>
          <a:xfrm>
            <a:off x="347472" y="1892807"/>
            <a:ext cx="1088136" cy="484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E2EEF0"/>
                </a:solidFill>
                <a:latin typeface="Calibri"/>
                <a:ea typeface="Calibri"/>
                <a:cs typeface="Calibri"/>
                <a:sym typeface="Calibri"/>
              </a:rPr>
              <a:t>Maximizing</a:t>
            </a:r>
            <a:r>
              <a:rPr lang="en-US" sz="850" b="0" i="0" u="none" strike="noStrike" cap="none">
                <a:solidFill>
                  <a:srgbClr val="E2EEF0"/>
                </a:solidFill>
                <a:latin typeface="Calibri"/>
                <a:ea typeface="Calibri"/>
                <a:cs typeface="Calibri"/>
                <a:sym typeface="Calibri"/>
              </a:rPr>
              <a:t> long-term benefit to the patient over time</a:t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411480" y="2715768"/>
            <a:ext cx="96012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293050" y="2801700"/>
            <a:ext cx="1143000" cy="1334400"/>
          </a:xfrm>
          <a:prstGeom prst="rect">
            <a:avLst/>
          </a:prstGeom>
          <a:solidFill>
            <a:srgbClr val="1A3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 txBox="1"/>
          <p:nvPr/>
        </p:nvSpPr>
        <p:spPr>
          <a:xfrm>
            <a:off x="347472" y="2848892"/>
            <a:ext cx="1088136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Value-in-exchange</a:t>
            </a:r>
            <a:endParaRPr/>
          </a:p>
        </p:txBody>
      </p:sp>
      <p:sp>
        <p:nvSpPr>
          <p:cNvPr id="504" name="Google Shape;504;p12"/>
          <p:cNvSpPr txBox="1"/>
          <p:nvPr/>
        </p:nvSpPr>
        <p:spPr>
          <a:xfrm>
            <a:off x="347472" y="3166054"/>
            <a:ext cx="108813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2EEF0"/>
                </a:solidFill>
                <a:latin typeface="Calibri"/>
                <a:ea typeface="Calibri"/>
                <a:cs typeface="Calibri"/>
                <a:sym typeface="Calibri"/>
              </a:rPr>
              <a:t>One-time transaction: device or sensor sale</a:t>
            </a:r>
            <a:endParaRPr/>
          </a:p>
        </p:txBody>
      </p:sp>
      <p:sp>
        <p:nvSpPr>
          <p:cNvPr id="505" name="Google Shape;505;p12"/>
          <p:cNvSpPr txBox="1"/>
          <p:nvPr/>
        </p:nvSpPr>
        <p:spPr>
          <a:xfrm>
            <a:off x="730730" y="3777403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91246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516A3-E338-2C17-CF28-27BD6B4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think-cell data - do not delete" hidden="1">
            <a:extLst>
              <a:ext uri="{FF2B5EF4-FFF2-40B4-BE49-F238E27FC236}">
                <a16:creationId xmlns:a16="http://schemas.microsoft.com/office/drawing/2014/main" id="{7F8D5AA8-C146-02B6-F324-CFCC0922926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1630165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8D5AA8-C146-02B6-F324-CFCC092292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701036C3-AE4A-9BFA-6733-C71139D1440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B"/>
          </a:solidFill>
          <a:ln>
            <a:solidFill>
              <a:srgbClr val="F2FA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74F5BC38-D6E3-6CFC-7C29-129F96B3F6C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73549C4-9959-B54B-74D4-C04FEAE1B13A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FFFFFF"/>
                </a:solidFill>
              </a:rPr>
              <a:t>CURRENT STATE SUMMARY</a:t>
            </a:r>
            <a:endParaRPr lang="en-US" sz="22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A5F0B23-82C5-BA47-EB7D-6749BF40F535}"/>
              </a:ext>
            </a:extLst>
          </p:cNvPr>
          <p:cNvGrpSpPr/>
          <p:nvPr/>
        </p:nvGrpSpPr>
        <p:grpSpPr>
          <a:xfrm>
            <a:off x="244208" y="863542"/>
            <a:ext cx="4206240" cy="3752526"/>
            <a:chOff x="244208" y="885576"/>
            <a:chExt cx="4206240" cy="375252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9FC2C55-5842-12AB-0895-B9D38EB9D060}"/>
                </a:ext>
              </a:extLst>
            </p:cNvPr>
            <p:cNvGrpSpPr/>
            <p:nvPr/>
          </p:nvGrpSpPr>
          <p:grpSpPr>
            <a:xfrm>
              <a:off x="244208" y="885576"/>
              <a:ext cx="4206240" cy="3752526"/>
              <a:chOff x="244208" y="929644"/>
              <a:chExt cx="4206240" cy="3752526"/>
            </a:xfrm>
          </p:grpSpPr>
          <p:sp>
            <p:nvSpPr>
              <p:cNvPr id="29" name="Shape 27">
                <a:extLst>
                  <a:ext uri="{FF2B5EF4-FFF2-40B4-BE49-F238E27FC236}">
                    <a16:creationId xmlns:a16="http://schemas.microsoft.com/office/drawing/2014/main" id="{2E75F384-1383-F25E-8CC4-7FD4F2ADC6AC}"/>
                  </a:ext>
                </a:extLst>
              </p:cNvPr>
              <p:cNvSpPr/>
              <p:nvPr/>
            </p:nvSpPr>
            <p:spPr>
              <a:xfrm>
                <a:off x="244208" y="1410160"/>
                <a:ext cx="4206240" cy="327201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/>
              </a:p>
            </p:txBody>
          </p:sp>
          <p:sp>
            <p:nvSpPr>
              <p:cNvPr id="13" name="Shape 4">
                <a:extLst>
                  <a:ext uri="{FF2B5EF4-FFF2-40B4-BE49-F238E27FC236}">
                    <a16:creationId xmlns:a16="http://schemas.microsoft.com/office/drawing/2014/main" id="{72B6D5F6-617B-FE20-4E96-3DC30609C44E}"/>
                  </a:ext>
                </a:extLst>
              </p:cNvPr>
              <p:cNvSpPr/>
              <p:nvPr/>
            </p:nvSpPr>
            <p:spPr>
              <a:xfrm>
                <a:off x="244208" y="929644"/>
                <a:ext cx="4206240" cy="480516"/>
              </a:xfrm>
              <a:prstGeom prst="rect">
                <a:avLst/>
              </a:prstGeom>
              <a:solidFill>
                <a:srgbClr val="03C39A"/>
              </a:solidFill>
              <a:ln/>
            </p:spPr>
            <p:txBody>
              <a:bodyPr anchor="ctr"/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</a:rPr>
                  <a:t>What’s Going Well</a:t>
                </a:r>
                <a:endParaRPr lang="en-US" sz="2000" b="1" dirty="0">
                  <a:solidFill>
                    <a:srgbClr val="2D5057"/>
                  </a:solidFill>
                </a:endParaRPr>
              </a:p>
            </p:txBody>
          </p:sp>
        </p:grpSp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937DC846-49B7-B1EE-4294-2639D3BF0B63}"/>
                </a:ext>
              </a:extLst>
            </p:cNvPr>
            <p:cNvSpPr/>
            <p:nvPr/>
          </p:nvSpPr>
          <p:spPr>
            <a:xfrm>
              <a:off x="365760" y="1362170"/>
              <a:ext cx="4052005" cy="31528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>
                <a:spcBef>
                  <a:spcPts val="1200"/>
                </a:spcBef>
                <a:buClr>
                  <a:srgbClr val="03C39A"/>
                </a:buClr>
                <a:buSzPct val="100000"/>
                <a:buFont typeface="Wingdings" pitchFamily="2" charset="2"/>
                <a:buChar char="q"/>
              </a:pPr>
              <a:endParaRPr lang="en-US" sz="1200" b="1" dirty="0">
                <a:solidFill>
                  <a:srgbClr val="2D5057"/>
                </a:solidFill>
              </a:endParaRPr>
            </a:p>
            <a:p>
              <a:pPr marL="285750" indent="-285750">
                <a:spcBef>
                  <a:spcPts val="1200"/>
                </a:spcBef>
                <a:buClr>
                  <a:srgbClr val="03C39A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Scale:</a:t>
              </a:r>
              <a:r>
                <a:rPr lang="en-US" sz="1200" dirty="0">
                  <a:solidFill>
                    <a:srgbClr val="2D5057"/>
                  </a:solidFill>
                </a:rPr>
                <a:t> &gt;2.8 million customers at year-end 2024</a:t>
              </a:r>
            </a:p>
            <a:p>
              <a:pPr marL="285750" indent="-285750">
                <a:spcBef>
                  <a:spcPts val="1200"/>
                </a:spcBef>
                <a:buClr>
                  <a:srgbClr val="03C39A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Dexcom Warriors Community: </a:t>
              </a:r>
              <a:r>
                <a:rPr lang="en-US" sz="1200" dirty="0">
                  <a:solidFill>
                    <a:srgbClr val="2D5057"/>
                  </a:solidFill>
                </a:rPr>
                <a:t>30,000+ people sharing stories and support others with diabetes</a:t>
              </a:r>
            </a:p>
            <a:p>
              <a:pPr marL="285750" indent="-285750">
                <a:spcBef>
                  <a:spcPts val="1200"/>
                </a:spcBef>
                <a:buClr>
                  <a:srgbClr val="03C39A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Access Pathways: </a:t>
              </a:r>
              <a:r>
                <a:rPr lang="en-US" sz="1200" dirty="0">
                  <a:solidFill>
                    <a:srgbClr val="2D5057"/>
                  </a:solidFill>
                </a:rPr>
                <a:t>Pharmacy savings program, Insurance coverage navigation, Patient Assistance Program portal </a:t>
              </a:r>
            </a:p>
            <a:p>
              <a:pPr marL="285750" indent="-285750">
                <a:spcBef>
                  <a:spcPts val="1200"/>
                </a:spcBef>
                <a:buClr>
                  <a:srgbClr val="03C39A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Research Engine: </a:t>
              </a:r>
              <a:r>
                <a:rPr lang="en-US" sz="1200" dirty="0">
                  <a:solidFill>
                    <a:srgbClr val="2D5057"/>
                  </a:solidFill>
                </a:rPr>
                <a:t>200+ peer-reviewed journal articles and 350+ clinical trials worldwide in 2024</a:t>
              </a:r>
            </a:p>
            <a:p>
              <a:pPr marL="285750" indent="-285750">
                <a:spcBef>
                  <a:spcPts val="1200"/>
                </a:spcBef>
                <a:buClr>
                  <a:srgbClr val="03C39A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Mission Alignment: </a:t>
              </a:r>
              <a:r>
                <a:rPr lang="en-US" sz="1200" dirty="0">
                  <a:solidFill>
                    <a:srgbClr val="2D5057"/>
                  </a:solidFill>
                </a:rPr>
                <a:t>89% of employees said they can see a clear link between their work and Dexcom’s mission </a:t>
              </a:r>
            </a:p>
          </p:txBody>
        </p:sp>
      </p:grpSp>
      <p:sp>
        <p:nvSpPr>
          <p:cNvPr id="27" name="Text 7">
            <a:extLst>
              <a:ext uri="{FF2B5EF4-FFF2-40B4-BE49-F238E27FC236}">
                <a16:creationId xmlns:a16="http://schemas.microsoft.com/office/drawing/2014/main" id="{0EBDA8D4-F26A-2A6F-9D7F-99ABE2847489}"/>
              </a:ext>
            </a:extLst>
          </p:cNvPr>
          <p:cNvSpPr/>
          <p:nvPr/>
        </p:nvSpPr>
        <p:spPr>
          <a:xfrm>
            <a:off x="182879" y="4936383"/>
            <a:ext cx="8359599" cy="207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4748B"/>
                </a:solidFill>
              </a:rPr>
              <a:t>Source: Company, Dexcom Sustainability Report (April 2025), </a:t>
            </a:r>
            <a:r>
              <a:rPr lang="en-US" sz="800" dirty="0">
                <a:solidFill>
                  <a:srgbClr val="64748B"/>
                </a:solidFill>
                <a:hlinkClick r:id="rId6"/>
              </a:rPr>
              <a:t>https://www.fda.gov/inspections-compliance-enforcement-and-criminal-investigations/warning-letters/dexcom-inc-700835-03042025</a:t>
            </a:r>
            <a:endParaRPr lang="en-US" sz="800" dirty="0">
              <a:solidFill>
                <a:srgbClr val="64748B"/>
              </a:solidFill>
            </a:endParaRPr>
          </a:p>
          <a:p>
            <a:r>
              <a:rPr lang="en-US" sz="800" dirty="0">
                <a:solidFill>
                  <a:srgbClr val="64748B"/>
                </a:solidFill>
              </a:rPr>
              <a:t>  </a:t>
            </a:r>
            <a:endParaRPr lang="en-US" sz="8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D55F209-D3C2-45F5-F4A2-B7C9BFCD8ABD}"/>
              </a:ext>
            </a:extLst>
          </p:cNvPr>
          <p:cNvGrpSpPr/>
          <p:nvPr/>
        </p:nvGrpSpPr>
        <p:grpSpPr>
          <a:xfrm>
            <a:off x="4693552" y="863542"/>
            <a:ext cx="4206240" cy="3752526"/>
            <a:chOff x="4693552" y="863542"/>
            <a:chExt cx="4206240" cy="375252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6BF197E-1157-3CCD-ACE1-E282012E77FB}"/>
                </a:ext>
              </a:extLst>
            </p:cNvPr>
            <p:cNvGrpSpPr/>
            <p:nvPr/>
          </p:nvGrpSpPr>
          <p:grpSpPr>
            <a:xfrm>
              <a:off x="4693552" y="863542"/>
              <a:ext cx="4206240" cy="3752526"/>
              <a:chOff x="244208" y="929644"/>
              <a:chExt cx="4206240" cy="3752526"/>
            </a:xfrm>
          </p:grpSpPr>
          <p:sp>
            <p:nvSpPr>
              <p:cNvPr id="19" name="Shape 27">
                <a:extLst>
                  <a:ext uri="{FF2B5EF4-FFF2-40B4-BE49-F238E27FC236}">
                    <a16:creationId xmlns:a16="http://schemas.microsoft.com/office/drawing/2014/main" id="{ACE8797E-DE86-E6A9-6999-3204BF8762D9}"/>
                  </a:ext>
                </a:extLst>
              </p:cNvPr>
              <p:cNvSpPr/>
              <p:nvPr/>
            </p:nvSpPr>
            <p:spPr>
              <a:xfrm>
                <a:off x="244208" y="1410160"/>
                <a:ext cx="4206240" cy="3272010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Shape 4">
                <a:extLst>
                  <a:ext uri="{FF2B5EF4-FFF2-40B4-BE49-F238E27FC236}">
                    <a16:creationId xmlns:a16="http://schemas.microsoft.com/office/drawing/2014/main" id="{17D02A59-FDD7-6BEC-DA09-96DD34D1E767}"/>
                  </a:ext>
                </a:extLst>
              </p:cNvPr>
              <p:cNvSpPr/>
              <p:nvPr/>
            </p:nvSpPr>
            <p:spPr>
              <a:xfrm>
                <a:off x="244208" y="929644"/>
                <a:ext cx="4206240" cy="480516"/>
              </a:xfrm>
              <a:prstGeom prst="rect">
                <a:avLst/>
              </a:prstGeom>
              <a:solidFill>
                <a:srgbClr val="EF4444"/>
              </a:solidFill>
              <a:ln/>
            </p:spPr>
            <p:txBody>
              <a:bodyPr anchor="ctr"/>
              <a:lstStyle/>
              <a:p>
                <a:pPr algn="ctr"/>
                <a:r>
                  <a:rPr lang="en-US" sz="1600" b="1">
                    <a:solidFill>
                      <a:schemeClr val="bg1"/>
                    </a:solidFill>
                  </a:rPr>
                  <a:t>Gaps &amp; Challenges</a:t>
                </a:r>
                <a:endParaRPr lang="en-US" sz="2000" b="1">
                  <a:solidFill>
                    <a:srgbClr val="2D5057"/>
                  </a:solidFill>
                </a:endParaRPr>
              </a:p>
            </p:txBody>
          </p:sp>
        </p:grpSp>
        <p:sp>
          <p:nvSpPr>
            <p:cNvPr id="31" name="Text 8">
              <a:extLst>
                <a:ext uri="{FF2B5EF4-FFF2-40B4-BE49-F238E27FC236}">
                  <a16:creationId xmlns:a16="http://schemas.microsoft.com/office/drawing/2014/main" id="{FB1B97E9-3B10-8BF3-5695-3A7608531374}"/>
                </a:ext>
              </a:extLst>
            </p:cNvPr>
            <p:cNvSpPr/>
            <p:nvPr/>
          </p:nvSpPr>
          <p:spPr>
            <a:xfrm>
              <a:off x="4847787" y="1340136"/>
              <a:ext cx="4052005" cy="31528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>
                <a:spcBef>
                  <a:spcPts val="1200"/>
                </a:spcBef>
                <a:buClr>
                  <a:srgbClr val="EF4444"/>
                </a:buClr>
                <a:buSzPct val="100000"/>
                <a:buFont typeface="Wingdings" pitchFamily="2" charset="2"/>
                <a:buChar char="q"/>
              </a:pPr>
              <a:endParaRPr lang="en-US" sz="1200" b="1" dirty="0">
                <a:solidFill>
                  <a:srgbClr val="2D5057"/>
                </a:solidFill>
              </a:endParaRPr>
            </a:p>
            <a:p>
              <a:pPr marL="285750" indent="-285750">
                <a:spcBef>
                  <a:spcPts val="1200"/>
                </a:spcBef>
                <a:buClr>
                  <a:srgbClr val="EF4444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Reliability Issues: </a:t>
              </a:r>
              <a:r>
                <a:rPr lang="en-US" sz="1200" dirty="0">
                  <a:solidFill>
                    <a:srgbClr val="2D5057"/>
                  </a:solidFill>
                </a:rPr>
                <a:t>FDA recall and corrections tied to alert reliability</a:t>
              </a:r>
            </a:p>
            <a:p>
              <a:pPr marL="285750" indent="-285750">
                <a:spcBef>
                  <a:spcPts val="1200"/>
                </a:spcBef>
                <a:buClr>
                  <a:srgbClr val="EF4444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Manufacturing Compliance: </a:t>
              </a:r>
              <a:r>
                <a:rPr lang="en-US" sz="1200" dirty="0">
                  <a:solidFill>
                    <a:srgbClr val="2D5057"/>
                  </a:solidFill>
                </a:rPr>
                <a:t>FDA Warning Letter raised quality-system requirements</a:t>
              </a:r>
            </a:p>
            <a:p>
              <a:pPr marL="285750" indent="-285750">
                <a:spcBef>
                  <a:spcPts val="1200"/>
                </a:spcBef>
                <a:buClr>
                  <a:srgbClr val="EF4444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Interoperability Gap: </a:t>
              </a:r>
              <a:r>
                <a:rPr lang="en-US" sz="1200" dirty="0">
                  <a:solidFill>
                    <a:srgbClr val="2D5057"/>
                  </a:solidFill>
                </a:rPr>
                <a:t>Uneven integration across devices/apps creates inconsistent user experience</a:t>
              </a:r>
            </a:p>
            <a:p>
              <a:pPr marL="285750" indent="-285750">
                <a:spcBef>
                  <a:spcPts val="1200"/>
                </a:spcBef>
                <a:buClr>
                  <a:srgbClr val="EF4444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Access: </a:t>
              </a:r>
              <a:r>
                <a:rPr lang="en-US" sz="1200" dirty="0">
                  <a:solidFill>
                    <a:srgbClr val="2D5057"/>
                  </a:solidFill>
                </a:rPr>
                <a:t>Reimbursement pressure limits affordability, slowing adoption &amp; widening inequity</a:t>
              </a:r>
            </a:p>
            <a:p>
              <a:pPr marL="285750" indent="-285750">
                <a:spcBef>
                  <a:spcPts val="1200"/>
                </a:spcBef>
                <a:buClr>
                  <a:srgbClr val="EF4444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Sustainability Constraint : </a:t>
              </a:r>
              <a:r>
                <a:rPr lang="en-US" sz="1200" dirty="0">
                  <a:solidFill>
                    <a:srgbClr val="2D5057"/>
                  </a:solidFill>
                </a:rPr>
                <a:t>Disposable sensors and transmitters generates significant plastic waste; Limited recycling options</a:t>
              </a:r>
            </a:p>
            <a:p>
              <a:pPr>
                <a:spcBef>
                  <a:spcPts val="1200"/>
                </a:spcBef>
                <a:buClr>
                  <a:srgbClr val="EF4444"/>
                </a:buClr>
                <a:buSzPct val="100000"/>
              </a:pPr>
              <a:endParaRPr lang="en-US" sz="1200" dirty="0">
                <a:solidFill>
                  <a:srgbClr val="2D5057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164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ACE7F-81A8-CD6D-BAD3-C2BE9AEC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think-cell data - do not delete" hidden="1">
            <a:extLst>
              <a:ext uri="{FF2B5EF4-FFF2-40B4-BE49-F238E27FC236}">
                <a16:creationId xmlns:a16="http://schemas.microsoft.com/office/drawing/2014/main" id="{B27699F7-0C4B-0894-FAA2-C8FC1B173DA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6365130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7699F7-0C4B-0894-FAA2-C8FC1B173D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70C9C8B-95F7-23DE-D582-3C2894AEE6D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B"/>
          </a:solidFill>
          <a:ln>
            <a:solidFill>
              <a:srgbClr val="F2FA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C2F068AB-F30E-DC33-A8B3-8900A255ED5E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1B8C51-FD60-5D92-7CEE-3AF6CB659408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FFFFFF"/>
                </a:solidFill>
              </a:rPr>
              <a:t>FUTURE EXPANSION PLAN</a:t>
            </a:r>
            <a:endParaRPr lang="en-US" sz="220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F5C0169-B0C0-BACA-7B1C-2AE2449675F5}"/>
              </a:ext>
            </a:extLst>
          </p:cNvPr>
          <p:cNvGrpSpPr/>
          <p:nvPr/>
        </p:nvGrpSpPr>
        <p:grpSpPr>
          <a:xfrm>
            <a:off x="175167" y="907609"/>
            <a:ext cx="2834640" cy="4065128"/>
            <a:chOff x="274320" y="929643"/>
            <a:chExt cx="2834640" cy="4065128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085F3298-0A2D-DAD3-0F65-B0ABDAC5968B}"/>
                </a:ext>
              </a:extLst>
            </p:cNvPr>
            <p:cNvSpPr/>
            <p:nvPr/>
          </p:nvSpPr>
          <p:spPr>
            <a:xfrm>
              <a:off x="274320" y="929643"/>
              <a:ext cx="2834640" cy="40651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ADD7591B-051E-C59D-3F0C-EF7895A0FFFA}"/>
                </a:ext>
              </a:extLst>
            </p:cNvPr>
            <p:cNvSpPr/>
            <p:nvPr/>
          </p:nvSpPr>
          <p:spPr>
            <a:xfrm>
              <a:off x="274320" y="929643"/>
              <a:ext cx="2834640" cy="899157"/>
            </a:xfrm>
            <a:prstGeom prst="rect">
              <a:avLst/>
            </a:prstGeom>
            <a:solidFill>
              <a:srgbClr val="EF4444"/>
            </a:solidFill>
            <a:ln/>
          </p:spPr>
          <p:txBody>
            <a:bodyPr anchor="ctr"/>
            <a:lstStyle/>
            <a:p>
              <a:pPr algn="ctr"/>
              <a:r>
                <a:rPr lang="en-US" sz="1600" b="1" u="sng" dirty="0">
                  <a:solidFill>
                    <a:schemeClr val="bg1"/>
                  </a:solidFill>
                </a:rPr>
                <a:t>RIGHT AWAY</a:t>
              </a:r>
            </a:p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Stabilize Core Service</a:t>
              </a:r>
              <a:endParaRPr lang="en-US" sz="1600" dirty="0">
                <a:solidFill>
                  <a:srgbClr val="2D5057"/>
                </a:solidFill>
              </a:endParaRPr>
            </a:p>
          </p:txBody>
        </p:sp>
        <p:sp>
          <p:nvSpPr>
            <p:cNvPr id="7" name="Text 8">
              <a:extLst>
                <a:ext uri="{FF2B5EF4-FFF2-40B4-BE49-F238E27FC236}">
                  <a16:creationId xmlns:a16="http://schemas.microsoft.com/office/drawing/2014/main" id="{EFF3D7EF-72EB-F557-236F-CECEB3ED6A7E}"/>
                </a:ext>
              </a:extLst>
            </p:cNvPr>
            <p:cNvSpPr/>
            <p:nvPr/>
          </p:nvSpPr>
          <p:spPr>
            <a:xfrm>
              <a:off x="386611" y="1932456"/>
              <a:ext cx="2640911" cy="2544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>
                <a:spcBef>
                  <a:spcPts val="1200"/>
                </a:spcBef>
                <a:buClr>
                  <a:srgbClr val="EF4444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Fix G7 Reliability Issues</a:t>
              </a:r>
              <a:br>
                <a:rPr lang="en-US" sz="1200" b="1" dirty="0">
                  <a:solidFill>
                    <a:srgbClr val="2D5057"/>
                  </a:solidFill>
                </a:rPr>
              </a:br>
              <a:r>
                <a:rPr lang="en-US" sz="1200" dirty="0">
                  <a:solidFill>
                    <a:srgbClr val="2D5057"/>
                  </a:solidFill>
                </a:rPr>
                <a:t>Sensor accuracy, app stability, supply continuity</a:t>
              </a:r>
            </a:p>
            <a:p>
              <a:pPr marL="285750" indent="-285750">
                <a:spcBef>
                  <a:spcPts val="1200"/>
                </a:spcBef>
                <a:buClr>
                  <a:srgbClr val="EF4444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Reduce Onboarding Friction </a:t>
              </a:r>
              <a:br>
                <a:rPr lang="en-US" sz="1200" b="1" dirty="0">
                  <a:solidFill>
                    <a:srgbClr val="2D5057"/>
                  </a:solidFill>
                </a:rPr>
              </a:br>
              <a:r>
                <a:rPr lang="en-US" sz="1200" dirty="0">
                  <a:solidFill>
                    <a:srgbClr val="2D5057"/>
                  </a:solidFill>
                </a:rPr>
                <a:t>Simplify activation &amp; insurance workflows to prevent early churn; Dexcom Warriors </a:t>
              </a:r>
            </a:p>
            <a:p>
              <a:pPr marL="285750" indent="-285750">
                <a:spcBef>
                  <a:spcPts val="1200"/>
                </a:spcBef>
                <a:buClr>
                  <a:srgbClr val="EF4444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Ensure Infrastructure Readiness</a:t>
              </a:r>
              <a:br>
                <a:rPr lang="en-US" sz="1200" b="1" dirty="0">
                  <a:solidFill>
                    <a:srgbClr val="2D5057"/>
                  </a:solidFill>
                </a:rPr>
              </a:br>
              <a:r>
                <a:rPr lang="en-US" sz="1200" dirty="0">
                  <a:solidFill>
                    <a:srgbClr val="2D5057"/>
                  </a:solidFill>
                </a:rPr>
                <a:t>Minimize execution risk before scaling up 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4D9E025-E1F9-2E18-BA37-CD19D768A73C}"/>
              </a:ext>
            </a:extLst>
          </p:cNvPr>
          <p:cNvGrpSpPr/>
          <p:nvPr/>
        </p:nvGrpSpPr>
        <p:grpSpPr>
          <a:xfrm>
            <a:off x="3146967" y="907609"/>
            <a:ext cx="2834640" cy="4065128"/>
            <a:chOff x="3246120" y="929643"/>
            <a:chExt cx="2834640" cy="4065128"/>
          </a:xfrm>
        </p:grpSpPr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71A64134-5631-ECEE-7D9D-6D9BC2C7A5BA}"/>
                </a:ext>
              </a:extLst>
            </p:cNvPr>
            <p:cNvSpPr/>
            <p:nvPr/>
          </p:nvSpPr>
          <p:spPr>
            <a:xfrm>
              <a:off x="3246120" y="929643"/>
              <a:ext cx="2834640" cy="40651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>
              <a:extLst>
                <a:ext uri="{FF2B5EF4-FFF2-40B4-BE49-F238E27FC236}">
                  <a16:creationId xmlns:a16="http://schemas.microsoft.com/office/drawing/2014/main" id="{E791E358-688F-4E1D-D4DC-CDF4B5291EF6}"/>
                </a:ext>
              </a:extLst>
            </p:cNvPr>
            <p:cNvSpPr/>
            <p:nvPr/>
          </p:nvSpPr>
          <p:spPr>
            <a:xfrm>
              <a:off x="3246120" y="929643"/>
              <a:ext cx="2834640" cy="899157"/>
            </a:xfrm>
            <a:prstGeom prst="rect">
              <a:avLst/>
            </a:prstGeom>
            <a:solidFill>
              <a:srgbClr val="F59E0B"/>
            </a:solidFill>
            <a:ln/>
          </p:spPr>
          <p:txBody>
            <a:bodyPr anchor="ctr"/>
            <a:lstStyle/>
            <a:p>
              <a:pPr algn="ctr"/>
              <a:r>
                <a:rPr lang="en-US" sz="1600" b="1" u="sng" dirty="0">
                  <a:solidFill>
                    <a:schemeClr val="bg1"/>
                  </a:solidFill>
                </a:rPr>
                <a:t>1 YEAR</a:t>
              </a:r>
            </a:p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Horizontal Integration</a:t>
              </a:r>
            </a:p>
          </p:txBody>
        </p:sp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B21CFEF3-715F-CE26-ED0E-3F3B85FF6AF6}"/>
                </a:ext>
              </a:extLst>
            </p:cNvPr>
            <p:cNvSpPr/>
            <p:nvPr/>
          </p:nvSpPr>
          <p:spPr>
            <a:xfrm>
              <a:off x="3350697" y="1932456"/>
              <a:ext cx="2640911" cy="29586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>
                <a:spcBef>
                  <a:spcPts val="1200"/>
                </a:spcBef>
                <a:buClr>
                  <a:srgbClr val="F59E0B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Sustainability for Scale</a:t>
              </a:r>
              <a:br>
                <a:rPr lang="en-US" sz="1200" dirty="0">
                  <a:solidFill>
                    <a:srgbClr val="2D5057"/>
                  </a:solidFill>
                </a:rPr>
              </a:br>
              <a:r>
                <a:rPr lang="en-US" sz="1200" dirty="0">
                  <a:solidFill>
                    <a:srgbClr val="2D5057"/>
                  </a:solidFill>
                </a:rPr>
                <a:t>Reduce packaging/material footprint; Design for future recycling</a:t>
              </a:r>
            </a:p>
            <a:p>
              <a:pPr marL="285750" indent="-285750">
                <a:spcBef>
                  <a:spcPts val="1200"/>
                </a:spcBef>
                <a:buClr>
                  <a:srgbClr val="F59E0B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Open Ecosystem Partnerships</a:t>
              </a:r>
              <a:br>
                <a:rPr lang="en-US" sz="1200" b="1" dirty="0">
                  <a:solidFill>
                    <a:srgbClr val="2D5057"/>
                  </a:solidFill>
                </a:rPr>
              </a:br>
              <a:r>
                <a:rPr lang="en-US" sz="1200" dirty="0">
                  <a:solidFill>
                    <a:srgbClr val="2D5057"/>
                  </a:solidFill>
                </a:rPr>
                <a:t>Dexcom API; Integrate with wearables; Health dashboards &amp; data platforms</a:t>
              </a:r>
              <a:endParaRPr lang="en-US" sz="1200" b="1" dirty="0">
                <a:solidFill>
                  <a:srgbClr val="2D5057"/>
                </a:solidFill>
              </a:endParaRPr>
            </a:p>
            <a:p>
              <a:pPr marL="285750" indent="-285750">
                <a:spcBef>
                  <a:spcPts val="1200"/>
                </a:spcBef>
                <a:buClr>
                  <a:srgbClr val="F59E0B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Expand beyond Diabetes (</a:t>
              </a:r>
              <a:r>
                <a:rPr lang="en-US" sz="1200" b="1" dirty="0" err="1">
                  <a:solidFill>
                    <a:srgbClr val="2D5057"/>
                  </a:solidFill>
                </a:rPr>
                <a:t>Stelo</a:t>
              </a:r>
              <a:r>
                <a:rPr lang="en-US" sz="1200" b="1" dirty="0">
                  <a:solidFill>
                    <a:srgbClr val="2D5057"/>
                  </a:solidFill>
                </a:rPr>
                <a:t>)</a:t>
              </a:r>
              <a:br>
                <a:rPr lang="en-US" sz="1200" b="1" dirty="0">
                  <a:solidFill>
                    <a:srgbClr val="2D5057"/>
                  </a:solidFill>
                </a:rPr>
              </a:br>
              <a:r>
                <a:rPr lang="en-US" sz="1200" dirty="0">
                  <a:solidFill>
                    <a:srgbClr val="2D5057"/>
                  </a:solidFill>
                  <a:sym typeface="Wingdings" pitchFamily="2" charset="2"/>
                </a:rPr>
                <a:t>Enter prevention segment; Shift from passive management to preventive monitoring  </a:t>
              </a:r>
              <a:endParaRPr lang="en-US" sz="1200" dirty="0">
                <a:solidFill>
                  <a:srgbClr val="2D5057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E260FE-FD94-60C7-A626-D3489688408C}"/>
              </a:ext>
            </a:extLst>
          </p:cNvPr>
          <p:cNvGrpSpPr/>
          <p:nvPr/>
        </p:nvGrpSpPr>
        <p:grpSpPr>
          <a:xfrm>
            <a:off x="6118767" y="907608"/>
            <a:ext cx="2834640" cy="4065127"/>
            <a:chOff x="6217920" y="929642"/>
            <a:chExt cx="2834640" cy="4065127"/>
          </a:xfrm>
        </p:grpSpPr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94357BB8-4B94-6295-8590-C784F80F27C0}"/>
                </a:ext>
              </a:extLst>
            </p:cNvPr>
            <p:cNvSpPr/>
            <p:nvPr/>
          </p:nvSpPr>
          <p:spPr>
            <a:xfrm>
              <a:off x="6217920" y="929642"/>
              <a:ext cx="2834640" cy="4065127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28">
              <a:extLst>
                <a:ext uri="{FF2B5EF4-FFF2-40B4-BE49-F238E27FC236}">
                  <a16:creationId xmlns:a16="http://schemas.microsoft.com/office/drawing/2014/main" id="{AFAD01E7-DF8C-87D6-63F3-83A24B04992E}"/>
                </a:ext>
              </a:extLst>
            </p:cNvPr>
            <p:cNvSpPr/>
            <p:nvPr/>
          </p:nvSpPr>
          <p:spPr>
            <a:xfrm>
              <a:off x="6217920" y="929642"/>
              <a:ext cx="2834640" cy="899157"/>
            </a:xfrm>
            <a:prstGeom prst="rect">
              <a:avLst/>
            </a:prstGeom>
            <a:solidFill>
              <a:srgbClr val="03C39A"/>
            </a:solidFill>
            <a:ln/>
          </p:spPr>
          <p:txBody>
            <a:bodyPr anchor="ctr"/>
            <a:lstStyle/>
            <a:p>
              <a:pPr algn="ctr"/>
              <a:r>
                <a:rPr lang="en-US" sz="1600" b="1" u="sng" dirty="0">
                  <a:solidFill>
                    <a:schemeClr val="bg1"/>
                  </a:solidFill>
                </a:rPr>
                <a:t>3 YEARS</a:t>
              </a:r>
            </a:p>
            <a:p>
              <a:pPr algn="ctr"/>
              <a:r>
                <a:rPr lang="en-US" sz="1600" dirty="0">
                  <a:solidFill>
                    <a:schemeClr val="bg1"/>
                  </a:solidFill>
                </a:rPr>
                <a:t>Prevention Infrastructure</a:t>
              </a:r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4CDFF9B4-6FB3-6DAF-4BEF-F1279BB6FAA4}"/>
                </a:ext>
              </a:extLst>
            </p:cNvPr>
            <p:cNvSpPr/>
            <p:nvPr/>
          </p:nvSpPr>
          <p:spPr>
            <a:xfrm>
              <a:off x="6314784" y="1914926"/>
              <a:ext cx="2640911" cy="24367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85750" indent="-285750">
                <a:spcBef>
                  <a:spcPts val="1200"/>
                </a:spcBef>
                <a:buClr>
                  <a:srgbClr val="03C39A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Expand Distribution Equity </a:t>
              </a:r>
              <a:br>
                <a:rPr lang="en-US" sz="1200" b="1" dirty="0">
                  <a:solidFill>
                    <a:srgbClr val="2D5057"/>
                  </a:solidFill>
                </a:rPr>
              </a:br>
              <a:r>
                <a:rPr lang="en-US" sz="1200" dirty="0">
                  <a:solidFill>
                    <a:srgbClr val="2D5057"/>
                  </a:solidFill>
                </a:rPr>
                <a:t>Partner with NGOs/public health payers to expand access to low-income households </a:t>
              </a:r>
            </a:p>
            <a:p>
              <a:pPr marL="285750" indent="-285750">
                <a:spcBef>
                  <a:spcPts val="1200"/>
                </a:spcBef>
                <a:buClr>
                  <a:srgbClr val="03C39A"/>
                </a:buClr>
                <a:buSzPct val="100000"/>
                <a:buFont typeface="Wingdings" pitchFamily="2" charset="2"/>
                <a:buChar char="q"/>
              </a:pPr>
              <a:r>
                <a:rPr lang="en-US" sz="1200" b="1" dirty="0">
                  <a:solidFill>
                    <a:srgbClr val="2D5057"/>
                  </a:solidFill>
                </a:rPr>
                <a:t>Data Intelligence Infrastructure</a:t>
              </a:r>
              <a:br>
                <a:rPr lang="en-US" sz="1200" b="1" dirty="0">
                  <a:solidFill>
                    <a:srgbClr val="2D5057"/>
                  </a:solidFill>
                </a:rPr>
              </a:br>
              <a:r>
                <a:rPr lang="en-US" sz="1200" dirty="0">
                  <a:solidFill>
                    <a:srgbClr val="2D5057"/>
                  </a:solidFill>
                </a:rPr>
                <a:t>Build a synthetic data &amp; research engine for predictive analytics &amp; drug development research; Build AI-powered risk modeling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311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A741C-9026-4099-0B11-A8ABC73A5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hink-cell data - do not delete" hidden="1">
            <a:extLst>
              <a:ext uri="{FF2B5EF4-FFF2-40B4-BE49-F238E27FC236}">
                <a16:creationId xmlns:a16="http://schemas.microsoft.com/office/drawing/2014/main" id="{8FF9843D-EFCB-3348-5F10-17AE660C01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57118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D35263A2-6FC7-52D8-0243-911F2AD93BA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B"/>
          </a:solidFill>
          <a:ln>
            <a:solidFill>
              <a:srgbClr val="F2FA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604D3E4-3BCD-6651-E423-0599671608D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B266FC-A2EF-2329-89B9-EEA2C9164F40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>
                <a:solidFill>
                  <a:srgbClr val="FFFFFF"/>
                </a:solidFill>
              </a:rPr>
              <a:t>06  FUTURE GROWTH | IMPACT &amp; ROI PROJECTIONS</a:t>
            </a:r>
            <a:endParaRPr lang="en-US" sz="2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30A951-3D23-F7AA-B6A4-22A46D448D45}"/>
              </a:ext>
            </a:extLst>
          </p:cNvPr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2C39A"/>
                </a:solidFill>
              </a:rPr>
              <a:t>Social Impact ROI</a:t>
            </a:r>
            <a:endParaRPr lang="en-US"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47D2113-0787-782E-21C6-547C14C71360}"/>
              </a:ext>
            </a:extLst>
          </p:cNvPr>
          <p:cNvSpPr/>
          <p:nvPr/>
        </p:nvSpPr>
        <p:spPr>
          <a:xfrm>
            <a:off x="365760" y="1234440"/>
            <a:ext cx="8412480" cy="749808"/>
          </a:xfrm>
          <a:prstGeom prst="rect">
            <a:avLst/>
          </a:prstGeom>
          <a:solidFill>
            <a:srgbClr val="2D5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52F6F83-1B80-43D9-70C6-3E076882BDA2}"/>
              </a:ext>
            </a:extLst>
          </p:cNvPr>
          <p:cNvSpPr/>
          <p:nvPr/>
        </p:nvSpPr>
        <p:spPr>
          <a:xfrm>
            <a:off x="365760" y="1234440"/>
            <a:ext cx="73152" cy="7498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A125C0-0E39-8DDB-814D-1BE7168AEF80}"/>
              </a:ext>
            </a:extLst>
          </p:cNvPr>
          <p:cNvSpPr/>
          <p:nvPr/>
        </p:nvSpPr>
        <p:spPr>
          <a:xfrm>
            <a:off x="548640" y="1289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2C39A"/>
                </a:solidFill>
              </a:rPr>
              <a:t>A1C Reduction</a:t>
            </a:r>
            <a:endParaRPr lang="en-US" sz="12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30125BF-65D9-2BF9-67A7-12816D9BD91B}"/>
              </a:ext>
            </a:extLst>
          </p:cNvPr>
          <p:cNvSpPr/>
          <p:nvPr/>
        </p:nvSpPr>
        <p:spPr>
          <a:xfrm>
            <a:off x="548640" y="15453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2EEF0"/>
                </a:solidFill>
              </a:rPr>
              <a:t>NOW: Community project: −2.4% in 6 months</a:t>
            </a:r>
            <a:endParaRPr lang="en-US" sz="9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095D3AB-4BA3-6087-801A-C6E6E8D65805}"/>
              </a:ext>
            </a:extLst>
          </p:cNvPr>
          <p:cNvSpPr/>
          <p:nvPr/>
        </p:nvSpPr>
        <p:spPr>
          <a:xfrm>
            <a:off x="4389120" y="1325880"/>
            <a:ext cx="36576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FEC2929-E3DB-BD69-BE1D-73963FF35AE3}"/>
              </a:ext>
            </a:extLst>
          </p:cNvPr>
          <p:cNvSpPr/>
          <p:nvPr/>
        </p:nvSpPr>
        <p:spPr>
          <a:xfrm>
            <a:off x="4526280" y="13258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B4C6"/>
                </a:solidFill>
              </a:rPr>
              <a:t>FUTURE: Scale to 1M uninsured patients → prevent 200K hospitalizations/yr</a:t>
            </a:r>
            <a:endParaRPr lang="en-US" sz="100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829C7F2-52F3-C505-47EB-1BC1B021E6F3}"/>
              </a:ext>
            </a:extLst>
          </p:cNvPr>
          <p:cNvSpPr/>
          <p:nvPr/>
        </p:nvSpPr>
        <p:spPr>
          <a:xfrm>
            <a:off x="365760" y="2103120"/>
            <a:ext cx="8412480" cy="749808"/>
          </a:xfrm>
          <a:prstGeom prst="rect">
            <a:avLst/>
          </a:prstGeom>
          <a:solidFill>
            <a:srgbClr val="2D5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4F3BED5-1BC2-E8FC-3391-BC829B90069F}"/>
              </a:ext>
            </a:extLst>
          </p:cNvPr>
          <p:cNvSpPr/>
          <p:nvPr/>
        </p:nvSpPr>
        <p:spPr>
          <a:xfrm>
            <a:off x="365760" y="2103120"/>
            <a:ext cx="73152" cy="7498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CF788B4-1449-DFBA-19E1-7B8218393A3C}"/>
              </a:ext>
            </a:extLst>
          </p:cNvPr>
          <p:cNvSpPr/>
          <p:nvPr/>
        </p:nvSpPr>
        <p:spPr>
          <a:xfrm>
            <a:off x="548640" y="2157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2C39A"/>
                </a:solidFill>
              </a:rPr>
              <a:t>Access Expansion</a:t>
            </a:r>
            <a:endParaRPr lang="en-US"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674AB90-8307-CBB9-8EE8-D096279B2A36}"/>
              </a:ext>
            </a:extLst>
          </p:cNvPr>
          <p:cNvSpPr/>
          <p:nvPr/>
        </p:nvSpPr>
        <p:spPr>
          <a:xfrm>
            <a:off x="548640" y="2414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2EEF0"/>
                </a:solidFill>
              </a:rPr>
              <a:t>NOW: 2.8M users globally (tiny fraction of 537M)</a:t>
            </a:r>
            <a:endParaRPr lang="en-US" sz="95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F82E363-87B7-19D8-0F49-16AD5A406DAD}"/>
              </a:ext>
            </a:extLst>
          </p:cNvPr>
          <p:cNvSpPr/>
          <p:nvPr/>
        </p:nvSpPr>
        <p:spPr>
          <a:xfrm>
            <a:off x="4389120" y="2194560"/>
            <a:ext cx="36576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5DF773E-99F0-3A2C-4871-FBDB5BCEFF6C}"/>
              </a:ext>
            </a:extLst>
          </p:cNvPr>
          <p:cNvSpPr/>
          <p:nvPr/>
        </p:nvSpPr>
        <p:spPr>
          <a:xfrm>
            <a:off x="4526280" y="21945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B4C6"/>
                </a:solidFill>
              </a:rPr>
              <a:t>FUTURE: Target: 10M users by 2028 through LMIC expansion</a:t>
            </a:r>
            <a:endParaRPr lang="en-US" sz="100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797771C-9508-154B-095E-820C6013C6A9}"/>
              </a:ext>
            </a:extLst>
          </p:cNvPr>
          <p:cNvSpPr/>
          <p:nvPr/>
        </p:nvSpPr>
        <p:spPr>
          <a:xfrm>
            <a:off x="365760" y="2971800"/>
            <a:ext cx="8412480" cy="749808"/>
          </a:xfrm>
          <a:prstGeom prst="rect">
            <a:avLst/>
          </a:prstGeom>
          <a:solidFill>
            <a:srgbClr val="2D5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6FDC2D4-2BB5-AA81-ECB9-E8DBAD95F74B}"/>
              </a:ext>
            </a:extLst>
          </p:cNvPr>
          <p:cNvSpPr/>
          <p:nvPr/>
        </p:nvSpPr>
        <p:spPr>
          <a:xfrm>
            <a:off x="365760" y="2971800"/>
            <a:ext cx="73152" cy="7498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2711F5F-585A-8916-FCDF-399E8912AEB5}"/>
              </a:ext>
            </a:extLst>
          </p:cNvPr>
          <p:cNvSpPr/>
          <p:nvPr/>
        </p:nvSpPr>
        <p:spPr>
          <a:xfrm>
            <a:off x="548640" y="3026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2C39A"/>
                </a:solidFill>
              </a:rPr>
              <a:t>Healthcare Cost Savings</a:t>
            </a:r>
            <a:endParaRPr lang="en-US" sz="12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7E9C822-E526-5508-A447-52A571BEA393}"/>
              </a:ext>
            </a:extLst>
          </p:cNvPr>
          <p:cNvSpPr/>
          <p:nvPr/>
        </p:nvSpPr>
        <p:spPr>
          <a:xfrm>
            <a:off x="548640" y="3282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2EEF0"/>
                </a:solidFill>
              </a:rPr>
              <a:t>NOW: $10,000+ annual savings per well-managed diabetic</a:t>
            </a:r>
            <a:endParaRPr lang="en-US" sz="95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453953D-8EDF-39AB-FD79-9A9269DE15CC}"/>
              </a:ext>
            </a:extLst>
          </p:cNvPr>
          <p:cNvSpPr/>
          <p:nvPr/>
        </p:nvSpPr>
        <p:spPr>
          <a:xfrm>
            <a:off x="4389120" y="3063240"/>
            <a:ext cx="36576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7733015-D570-B0BB-C192-D54C8E8B6FE1}"/>
              </a:ext>
            </a:extLst>
          </p:cNvPr>
          <p:cNvSpPr/>
          <p:nvPr/>
        </p:nvSpPr>
        <p:spPr>
          <a:xfrm>
            <a:off x="4526280" y="30632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B4C6"/>
                </a:solidFill>
              </a:rPr>
              <a:t>FUTURE: 10M users × $5K savings = $50B societal value created</a:t>
            </a:r>
            <a:endParaRPr lang="en-US" sz="10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C63CBB3-3C4B-2DF6-F490-A38B04746F8E}"/>
              </a:ext>
            </a:extLst>
          </p:cNvPr>
          <p:cNvSpPr/>
          <p:nvPr/>
        </p:nvSpPr>
        <p:spPr>
          <a:xfrm>
            <a:off x="365760" y="3840480"/>
            <a:ext cx="8412480" cy="749808"/>
          </a:xfrm>
          <a:prstGeom prst="rect">
            <a:avLst/>
          </a:prstGeom>
          <a:solidFill>
            <a:srgbClr val="2D5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3234928-6047-1056-5D75-02F9257D5233}"/>
              </a:ext>
            </a:extLst>
          </p:cNvPr>
          <p:cNvSpPr/>
          <p:nvPr/>
        </p:nvSpPr>
        <p:spPr>
          <a:xfrm>
            <a:off x="365760" y="3840480"/>
            <a:ext cx="73152" cy="7498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442111A-2C6B-0CF3-AD63-D90CC71D751A}"/>
              </a:ext>
            </a:extLst>
          </p:cNvPr>
          <p:cNvSpPr/>
          <p:nvPr/>
        </p:nvSpPr>
        <p:spPr>
          <a:xfrm>
            <a:off x="548640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2C39A"/>
                </a:solidFill>
              </a:rPr>
              <a:t>Mortality Reduction</a:t>
            </a:r>
            <a:endParaRPr lang="en-US" sz="12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9A09203-2E53-086A-D375-D61CB750194C}"/>
              </a:ext>
            </a:extLst>
          </p:cNvPr>
          <p:cNvSpPr/>
          <p:nvPr/>
        </p:nvSpPr>
        <p:spPr>
          <a:xfrm>
            <a:off x="548640" y="4151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E2EEF0"/>
                </a:solidFill>
              </a:rPr>
              <a:t>NOW: CGM proven to reduce severe hypoglycemia events by 40%+</a:t>
            </a:r>
            <a:endParaRPr lang="en-US" sz="95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F54EA00-5671-A8AC-D568-9000755D61C2}"/>
              </a:ext>
            </a:extLst>
          </p:cNvPr>
          <p:cNvSpPr/>
          <p:nvPr/>
        </p:nvSpPr>
        <p:spPr>
          <a:xfrm>
            <a:off x="4389120" y="3931920"/>
            <a:ext cx="36576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07377A0-8A59-959A-42A7-7935F00A6793}"/>
              </a:ext>
            </a:extLst>
          </p:cNvPr>
          <p:cNvSpPr/>
          <p:nvPr/>
        </p:nvSpPr>
        <p:spPr>
          <a:xfrm>
            <a:off x="452628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0B4C6"/>
                </a:solidFill>
              </a:rPr>
              <a:t>FUTURE: At scale: measurably reduce diabetes-related mortality in target markets</a:t>
            </a:r>
            <a:endParaRPr lang="en-US" sz="10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6A2D3C7-498F-1024-D466-514DF5F440C3}"/>
              </a:ext>
            </a:extLst>
          </p:cNvPr>
          <p:cNvSpPr/>
          <p:nvPr/>
        </p:nvSpPr>
        <p:spPr>
          <a:xfrm>
            <a:off x="3657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</a:rPr>
              <a:t>Financial Investment Required</a:t>
            </a:r>
            <a:endParaRPr lang="en-US" sz="12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7856A96-1259-BDAB-6459-26940399A06F}"/>
              </a:ext>
            </a:extLst>
          </p:cNvPr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E31"/>
                </a:solidFill>
              </a:rPr>
              <a:t>Short-term fix costs ~$50–100M | 1-Year program ~$200M | 3-Year vision ~$500M total → Expected revenue uplift: +$1–2B by 2028 at current growth trajectory</a:t>
            </a:r>
            <a:endParaRPr lang="en-US" sz="1000" dirty="0">
              <a:solidFill>
                <a:srgbClr val="1E2E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887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0E131-37DA-A2B6-CA86-B51E3F152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C76C61C8-436B-DF7E-AA15-A4B20A6D74B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124749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B4183677-CBE4-E7AB-E7B0-B63FBDF3D382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B"/>
          </a:solidFill>
          <a:ln>
            <a:solidFill>
              <a:srgbClr val="F2FA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0D69857-A52E-24AD-D73A-7084915AC2A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155013-F612-FFB4-7E98-0735A30576D8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>
                <a:solidFill>
                  <a:srgbClr val="FFFFFF"/>
                </a:solidFill>
              </a:rPr>
              <a:t>06  RISK MANAGEMENT</a:t>
            </a:r>
            <a:endParaRPr lang="en-US" sz="22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D37340-69AC-8611-EE67-8B5B82DAD947}"/>
              </a:ext>
            </a:extLst>
          </p:cNvPr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02C39A"/>
                </a:solidFill>
              </a:rPr>
              <a:t>Key Risks &amp; Mitigation Plan</a:t>
            </a:r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D3015D6-0CD1-B532-3FDC-3D7640167BEA}"/>
              </a:ext>
            </a:extLst>
          </p:cNvPr>
          <p:cNvSpPr/>
          <p:nvPr/>
        </p:nvSpPr>
        <p:spPr>
          <a:xfrm>
            <a:off x="365760" y="1234440"/>
            <a:ext cx="8412480" cy="749808"/>
          </a:xfrm>
          <a:prstGeom prst="rect">
            <a:avLst/>
          </a:prstGeom>
          <a:solidFill>
            <a:srgbClr val="2D5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2B554AA-1099-7A90-BB20-3A3B0662ACCE}"/>
              </a:ext>
            </a:extLst>
          </p:cNvPr>
          <p:cNvSpPr/>
          <p:nvPr/>
        </p:nvSpPr>
        <p:spPr>
          <a:xfrm>
            <a:off x="365760" y="1234440"/>
            <a:ext cx="73152" cy="7498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20DD150-8A0C-9951-10ED-30118D91B737}"/>
              </a:ext>
            </a:extLst>
          </p:cNvPr>
          <p:cNvSpPr/>
          <p:nvPr/>
        </p:nvSpPr>
        <p:spPr>
          <a:xfrm>
            <a:off x="548640" y="1289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2C39A"/>
                </a:solidFill>
              </a:rPr>
              <a:t>Regulatory &amp; Quality Risk</a:t>
            </a:r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2BB5C6B-479B-10A3-E0E3-DC12AA2017AB}"/>
              </a:ext>
            </a:extLst>
          </p:cNvPr>
          <p:cNvSpPr/>
          <p:nvPr/>
        </p:nvSpPr>
        <p:spPr>
          <a:xfrm>
            <a:off x="548640" y="15453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>
                <a:solidFill>
                  <a:srgbClr val="E2EEF0"/>
                </a:solidFill>
              </a:rPr>
              <a:t>Scaling to 10M users increases regulatory exposure, manufacturing complexity, and risk of device quality failures.</a:t>
            </a:r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A1F4BA5-D595-2E1C-20ED-3C76B10660AA}"/>
              </a:ext>
            </a:extLst>
          </p:cNvPr>
          <p:cNvSpPr/>
          <p:nvPr/>
        </p:nvSpPr>
        <p:spPr>
          <a:xfrm>
            <a:off x="4389120" y="1325880"/>
            <a:ext cx="36576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6066355-0406-357E-5966-9A292AF47B3B}"/>
              </a:ext>
            </a:extLst>
          </p:cNvPr>
          <p:cNvSpPr/>
          <p:nvPr/>
        </p:nvSpPr>
        <p:spPr>
          <a:xfrm>
            <a:off x="4526280" y="132588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0B4C6"/>
                </a:solidFill>
              </a:rPr>
              <a:t>MITIGATION: </a:t>
            </a:r>
            <a:r>
              <a:rPr lang="en-US" sz="1000" dirty="0">
                <a:solidFill>
                  <a:srgbClr val="F2FAFB"/>
                </a:solidFill>
              </a:rPr>
              <a:t>Invest early in quality  systems (FDA aligned), remove redundant manufacturing capacity, phased geographic rollout, dedicated regulatory team for LMIC markets.</a:t>
            </a:r>
            <a:endParaRPr lang="en-US" dirty="0">
              <a:solidFill>
                <a:srgbClr val="F2FAFB"/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681CA59-7837-F150-D90C-1F23FCE95A53}"/>
              </a:ext>
            </a:extLst>
          </p:cNvPr>
          <p:cNvSpPr/>
          <p:nvPr/>
        </p:nvSpPr>
        <p:spPr>
          <a:xfrm>
            <a:off x="365760" y="2103120"/>
            <a:ext cx="8412480" cy="749808"/>
          </a:xfrm>
          <a:prstGeom prst="rect">
            <a:avLst/>
          </a:prstGeom>
          <a:solidFill>
            <a:srgbClr val="2D5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32F823A-34B0-5FF8-0F53-B2770DCB0724}"/>
              </a:ext>
            </a:extLst>
          </p:cNvPr>
          <p:cNvSpPr/>
          <p:nvPr/>
        </p:nvSpPr>
        <p:spPr>
          <a:xfrm>
            <a:off x="365760" y="2103120"/>
            <a:ext cx="73152" cy="7498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D7E60B9-D829-6BA1-F76B-FC91472DEDAA}"/>
              </a:ext>
            </a:extLst>
          </p:cNvPr>
          <p:cNvSpPr/>
          <p:nvPr/>
        </p:nvSpPr>
        <p:spPr>
          <a:xfrm>
            <a:off x="548640" y="21579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2C39A"/>
                </a:solidFill>
              </a:rPr>
              <a:t>Affordability &amp; Access Risk</a:t>
            </a:r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D2B782C-63DF-AF03-9A9B-089E430726EA}"/>
              </a:ext>
            </a:extLst>
          </p:cNvPr>
          <p:cNvSpPr/>
          <p:nvPr/>
        </p:nvSpPr>
        <p:spPr>
          <a:xfrm>
            <a:off x="548640" y="24140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>
                <a:solidFill>
                  <a:srgbClr val="E2EEF0"/>
                </a:solidFill>
              </a:rPr>
              <a:t>Targeting uninsured and LMIC populations may fail due to pricing barriers. </a:t>
            </a:r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6A67C4-F072-DA69-AE4B-0058725ADD6F}"/>
              </a:ext>
            </a:extLst>
          </p:cNvPr>
          <p:cNvSpPr/>
          <p:nvPr/>
        </p:nvSpPr>
        <p:spPr>
          <a:xfrm>
            <a:off x="4389120" y="2194560"/>
            <a:ext cx="36576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482F60C-1CD7-EB8B-C938-A35AF5F78453}"/>
              </a:ext>
            </a:extLst>
          </p:cNvPr>
          <p:cNvSpPr/>
          <p:nvPr/>
        </p:nvSpPr>
        <p:spPr>
          <a:xfrm>
            <a:off x="4526280" y="21945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0B4C6"/>
                </a:solidFill>
              </a:rPr>
              <a:t>MITIGATION: </a:t>
            </a:r>
            <a:r>
              <a:rPr lang="en-US" sz="1000" dirty="0">
                <a:solidFill>
                  <a:srgbClr val="F2FAFB"/>
                </a:solidFill>
              </a:rPr>
              <a:t>Tiered pricing model, employer &amp; NGO partnerships, outcome-based reimbursement models, subscription  financing options. </a:t>
            </a:r>
            <a:endParaRPr lang="en-US" dirty="0">
              <a:solidFill>
                <a:srgbClr val="F2FAFB"/>
              </a:solidFill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D5A028B-80AE-194C-6931-2FB6199F7647}"/>
              </a:ext>
            </a:extLst>
          </p:cNvPr>
          <p:cNvSpPr/>
          <p:nvPr/>
        </p:nvSpPr>
        <p:spPr>
          <a:xfrm>
            <a:off x="365760" y="2971800"/>
            <a:ext cx="8412480" cy="749808"/>
          </a:xfrm>
          <a:prstGeom prst="rect">
            <a:avLst/>
          </a:prstGeom>
          <a:solidFill>
            <a:srgbClr val="2D5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3C3DF04-4DBB-63C7-8A52-A9DFD3C55B48}"/>
              </a:ext>
            </a:extLst>
          </p:cNvPr>
          <p:cNvSpPr/>
          <p:nvPr/>
        </p:nvSpPr>
        <p:spPr>
          <a:xfrm>
            <a:off x="365760" y="2971800"/>
            <a:ext cx="73152" cy="7498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9C9A3E3-F7A9-0BFF-EC12-3AD62888A7CC}"/>
              </a:ext>
            </a:extLst>
          </p:cNvPr>
          <p:cNvSpPr/>
          <p:nvPr/>
        </p:nvSpPr>
        <p:spPr>
          <a:xfrm>
            <a:off x="548640" y="3026664"/>
            <a:ext cx="334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2C39A"/>
                </a:solidFill>
              </a:rPr>
              <a:t>Operational Strain &amp; Service Profit Chain Risk</a:t>
            </a:r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84FB163E-EEC7-8E2D-55D8-524FD0B69B35}"/>
              </a:ext>
            </a:extLst>
          </p:cNvPr>
          <p:cNvSpPr/>
          <p:nvPr/>
        </p:nvSpPr>
        <p:spPr>
          <a:xfrm>
            <a:off x="548640" y="3282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E2EEF0"/>
                </a:solidFill>
              </a:rPr>
              <a:t>Rapid growth can degrade service quality (customer support, onboarding, logistics), breaking the Service Profit Chain. </a:t>
            </a:r>
            <a:endParaRPr 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0151384B-526E-28ED-9645-CA256EBC452B}"/>
              </a:ext>
            </a:extLst>
          </p:cNvPr>
          <p:cNvSpPr/>
          <p:nvPr/>
        </p:nvSpPr>
        <p:spPr>
          <a:xfrm>
            <a:off x="4389120" y="3063240"/>
            <a:ext cx="36576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70E560D-09EC-78D0-8F4D-E6E670E26CEA}"/>
              </a:ext>
            </a:extLst>
          </p:cNvPr>
          <p:cNvSpPr/>
          <p:nvPr/>
        </p:nvSpPr>
        <p:spPr>
          <a:xfrm>
            <a:off x="4526280" y="30632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0B4C6"/>
                </a:solidFill>
              </a:rPr>
              <a:t>MITIGATION: </a:t>
            </a:r>
            <a:r>
              <a:rPr lang="en-US" sz="1000" dirty="0">
                <a:solidFill>
                  <a:srgbClr val="F2FAFB"/>
                </a:solidFill>
              </a:rPr>
              <a:t>Invest in frontline workforce &amp; Training, real-time service metrics (NPS, resolution time), phased scaling, localized support teams in new markets. </a:t>
            </a:r>
            <a:endParaRPr lang="en-US" dirty="0">
              <a:solidFill>
                <a:srgbClr val="F2FAFB"/>
              </a:solidFill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7CE1BF1-153C-0136-CCE9-BE4EFBCEA420}"/>
              </a:ext>
            </a:extLst>
          </p:cNvPr>
          <p:cNvSpPr/>
          <p:nvPr/>
        </p:nvSpPr>
        <p:spPr>
          <a:xfrm>
            <a:off x="365760" y="3840480"/>
            <a:ext cx="8412480" cy="749808"/>
          </a:xfrm>
          <a:prstGeom prst="rect">
            <a:avLst/>
          </a:prstGeom>
          <a:solidFill>
            <a:srgbClr val="2D50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E9D51AA-B6E8-D41E-686B-D58504DB073B}"/>
              </a:ext>
            </a:extLst>
          </p:cNvPr>
          <p:cNvSpPr/>
          <p:nvPr/>
        </p:nvSpPr>
        <p:spPr>
          <a:xfrm>
            <a:off x="365760" y="3840480"/>
            <a:ext cx="73152" cy="74980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8308500-9BA1-235A-8113-08A54E8E79AC}"/>
              </a:ext>
            </a:extLst>
          </p:cNvPr>
          <p:cNvSpPr/>
          <p:nvPr/>
        </p:nvSpPr>
        <p:spPr>
          <a:xfrm>
            <a:off x="548640" y="38953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02C39A"/>
                </a:solidFill>
              </a:rPr>
              <a:t>Data Privacy &amp;  Trust Risk</a:t>
            </a:r>
            <a:endParaRPr lang="en-US" sz="1200" b="1">
              <a:solidFill>
                <a:srgbClr val="02C39A"/>
              </a:solidFill>
              <a:ea typeface="Calibri"/>
              <a:cs typeface="Calibri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E041349-B349-A131-70CA-A9E603F9C18D}"/>
              </a:ext>
            </a:extLst>
          </p:cNvPr>
          <p:cNvSpPr/>
          <p:nvPr/>
        </p:nvSpPr>
        <p:spPr>
          <a:xfrm>
            <a:off x="548640" y="4151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>
                <a:solidFill>
                  <a:srgbClr val="E2EEF0"/>
                </a:solidFill>
              </a:rPr>
              <a:t>Expanded data usage increases cybersecurity and ethical scrutiny. </a:t>
            </a:r>
            <a:endParaRPr lang="en-US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64AAA291-411C-A928-7C35-64AFEA0C9599}"/>
              </a:ext>
            </a:extLst>
          </p:cNvPr>
          <p:cNvSpPr/>
          <p:nvPr/>
        </p:nvSpPr>
        <p:spPr>
          <a:xfrm>
            <a:off x="4389120" y="3931920"/>
            <a:ext cx="36576" cy="56692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855BE71-CA16-DED4-7B2E-4F9EE07C283B}"/>
              </a:ext>
            </a:extLst>
          </p:cNvPr>
          <p:cNvSpPr/>
          <p:nvPr/>
        </p:nvSpPr>
        <p:spPr>
          <a:xfrm>
            <a:off x="4526280" y="393192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0B4C6"/>
                </a:solidFill>
              </a:rPr>
              <a:t>MITIGATION: </a:t>
            </a:r>
            <a:r>
              <a:rPr lang="en-US" sz="1000" dirty="0">
                <a:solidFill>
                  <a:srgbClr val="F2FAFB"/>
                </a:solidFill>
              </a:rPr>
              <a:t>Privacy-by-design architecture, explicit consent frameworks, federated analytics instead of raw data sharing, transparent governance reporting. </a:t>
            </a:r>
            <a:endParaRPr lang="en-US" dirty="0">
              <a:solidFill>
                <a:srgbClr val="F2FA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2585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DE268-4C36-099A-AE4C-3E007ED4D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F56B3B5F-36F7-B473-E831-48DE73C0603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345363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ED1DB00-178E-127F-ECF7-E6CE2128902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B"/>
          </a:solidFill>
          <a:ln>
            <a:solidFill>
              <a:srgbClr val="F2FA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DC4E4C-BAC6-2AB8-9396-7E962608A8E3}"/>
              </a:ext>
            </a:extLst>
          </p:cNvPr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2C01E1-7056-34C5-DD05-5A9209AB9753}"/>
              </a:ext>
            </a:extLst>
          </p:cNvPr>
          <p:cNvSpPr/>
          <p:nvPr/>
        </p:nvSpPr>
        <p:spPr>
          <a:xfrm>
            <a:off x="0" y="4480560"/>
            <a:ext cx="9144000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E134EEA-11EE-DFCC-AA18-E12842456102}"/>
              </a:ext>
            </a:extLst>
          </p:cNvPr>
          <p:cNvSpPr/>
          <p:nvPr/>
        </p:nvSpPr>
        <p:spPr>
          <a:xfrm>
            <a:off x="50292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28090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36AC4E6-F01A-2453-CC60-2471528AC29B}"/>
              </a:ext>
            </a:extLst>
          </p:cNvPr>
          <p:cNvSpPr/>
          <p:nvPr/>
        </p:nvSpPr>
        <p:spPr>
          <a:xfrm>
            <a:off x="502920" y="100584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Dexcom's Opportunity to Lead</a:t>
            </a:r>
            <a:endParaRPr lang="en-US" sz="3000" dirty="0">
              <a:solidFill>
                <a:srgbClr val="1E2E31"/>
              </a:solidFill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1E2E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Management for Social Impact</a:t>
            </a:r>
            <a:endParaRPr lang="en-US" sz="3000" dirty="0">
              <a:solidFill>
                <a:srgbClr val="1E2E31"/>
              </a:solidFill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86E436-7092-C590-7200-73610400E8E8}"/>
              </a:ext>
            </a:extLst>
          </p:cNvPr>
          <p:cNvSpPr/>
          <p:nvPr/>
        </p:nvSpPr>
        <p:spPr>
          <a:xfrm>
            <a:off x="502920" y="2423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C6"/>
                </a:solidFill>
              </a:rPr>
              <a:t>Dexcom sits at a pivotal intersection: a profitable, high-growth technology company whose core service simultaneously saves lives and reduces suffering for hundreds of millions of people. The frameworks from this course — service quality, customer journeys, the service profit chain, and innovation strategy — all converge on one insight:</a:t>
            </a: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FA4F81D-0829-0EA9-B05F-D6BD3FFF6B6F}"/>
              </a:ext>
            </a:extLst>
          </p:cNvPr>
          <p:cNvSpPr/>
          <p:nvPr/>
        </p:nvSpPr>
        <p:spPr>
          <a:xfrm>
            <a:off x="502920" y="3383280"/>
            <a:ext cx="7772400" cy="6858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FC9E529-5DD6-65BC-8F0D-D63BF7FA2DC8}"/>
              </a:ext>
            </a:extLst>
          </p:cNvPr>
          <p:cNvSpPr/>
          <p:nvPr/>
        </p:nvSpPr>
        <p:spPr>
          <a:xfrm>
            <a:off x="594360" y="34290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>
                <a:solidFill>
                  <a:srgbClr val="FFFFFF"/>
                </a:solidFill>
              </a:rPr>
              <a:t>The greatest untapped lever for Dexcom is not product innovation — it's service access. Fixing reliability, scaling equity, and deepening the patient journey will unlock both the next billion in revenue and the next million lives improved.</a:t>
            </a:r>
            <a:endParaRPr lang="en-US"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02702BD-9B0C-8648-7E73-B2CD43478C7B}"/>
              </a:ext>
            </a:extLst>
          </p:cNvPr>
          <p:cNvSpPr/>
          <p:nvPr/>
        </p:nvSpPr>
        <p:spPr>
          <a:xfrm>
            <a:off x="50292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02C39A"/>
                </a:solidFill>
              </a:rPr>
              <a:t>Thank you</a:t>
            </a:r>
            <a:endParaRPr lang="en-US" sz="1300"/>
          </a:p>
        </p:txBody>
      </p:sp>
    </p:spTree>
    <p:extLst>
      <p:ext uri="{BB962C8B-B14F-4D97-AF65-F5344CB8AC3E}">
        <p14:creationId xmlns:p14="http://schemas.microsoft.com/office/powerpoint/2010/main" val="2914011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0A12DB1-7FE6-3B83-94CD-47F8850879E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60945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4D876A9-F1F6-8D46-ED89-22DC768FB74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B"/>
          </a:solidFill>
          <a:ln>
            <a:solidFill>
              <a:srgbClr val="F2FA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9CEDB261-723B-2346-C697-57467EF960EE}"/>
              </a:ext>
            </a:extLst>
          </p:cNvPr>
          <p:cNvSpPr/>
          <p:nvPr/>
        </p:nvSpPr>
        <p:spPr>
          <a:xfrm>
            <a:off x="1463040" y="234315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>
                <a:solidFill>
                  <a:srgbClr val="00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415460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>
                <a:solidFill>
                  <a:srgbClr val="FFFFFF"/>
                </a:solidFill>
              </a:rPr>
              <a:t>01  COMPANY OVERVIEW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A2E32"/>
                </a:solidFill>
              </a:rPr>
              <a:t>Who is Dexcom?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D5057"/>
                </a:solidFill>
              </a:rPr>
              <a:t>Founded in 1999</a:t>
            </a:r>
            <a:r>
              <a:rPr lang="en-US" sz="1200">
                <a:solidFill>
                  <a:srgbClr val="2D5057"/>
                </a:solidFill>
              </a:rPr>
              <a:t> in San Diego, CA, Dexcom pioneered the continuous glucose monitoring (CGM) industry. The company's mission is to empower people with real-time glucose data, reducing the burden and danger of finger-prick testing.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28090"/>
                </a:solidFill>
              </a:rPr>
              <a:t>Product Portfolio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4206240" cy="457200"/>
          </a:xfrm>
          <a:prstGeom prst="rect">
            <a:avLst/>
          </a:prstGeom>
          <a:solidFill>
            <a:srgbClr val="E2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6400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7797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Dexcom G7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02920" y="298094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Flagship CGM for insulin users — 10.5 days, prescription required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4206240" cy="457200"/>
          </a:xfrm>
          <a:prstGeom prst="rect">
            <a:avLst/>
          </a:prstGeom>
          <a:solidFill>
            <a:srgbClr val="E2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291840"/>
            <a:ext cx="6400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3284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Dexcom G7 15 Day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02920" y="35295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Latest launch (Dec 2025) — 15.5-day wear, 8.0% MARD accuracy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65760" y="3840480"/>
            <a:ext cx="4206240" cy="457200"/>
          </a:xfrm>
          <a:prstGeom prst="rect">
            <a:avLst/>
          </a:prstGeom>
          <a:solidFill>
            <a:srgbClr val="E2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6400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38770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Stelo by Dexcom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02920" y="407822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OTC CGM launched 2024 — no prescription, ~$99/month, Type 2 non-insulin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365760" y="4389120"/>
            <a:ext cx="4206240" cy="457200"/>
          </a:xfrm>
          <a:prstGeom prst="rect">
            <a:avLst/>
          </a:prstGeom>
          <a:solidFill>
            <a:srgbClr val="E2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4389120"/>
            <a:ext cx="64008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44256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Dexcom ONE+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02920" y="46268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Affordable international version for broader global access</a:t>
            </a:r>
            <a:endParaRPr lang="en-US" sz="950"/>
          </a:p>
        </p:txBody>
      </p:sp>
      <p:sp>
        <p:nvSpPr>
          <p:cNvPr id="23" name="Text 21"/>
          <p:cNvSpPr/>
          <p:nvPr/>
        </p:nvSpPr>
        <p:spPr>
          <a:xfrm>
            <a:off x="502920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E32"/>
                </a:solidFill>
              </a:rPr>
              <a:t>Revenue Growth ($B)</a:t>
            </a:r>
            <a:endParaRPr lang="en-US" sz="1400"/>
          </a:p>
        </p:txBody>
      </p:sp>
      <p:graphicFrame>
        <p:nvGraphicFramePr>
          <p:cNvPr id="24" name="Chart 0"/>
          <p:cNvGraphicFramePr/>
          <p:nvPr/>
        </p:nvGraphicFramePr>
        <p:xfrm>
          <a:off x="4846320" y="1280160"/>
          <a:ext cx="4023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4846320" y="3840480"/>
            <a:ext cx="1234440" cy="100584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846320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2.8M+</a:t>
            </a:r>
            <a:endParaRPr lang="en-US" sz="1800"/>
          </a:p>
        </p:txBody>
      </p:sp>
      <p:sp>
        <p:nvSpPr>
          <p:cNvPr id="27" name="Text 24"/>
          <p:cNvSpPr/>
          <p:nvPr/>
        </p:nvSpPr>
        <p:spPr>
          <a:xfrm>
            <a:off x="4846320" y="4343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E2EEF0"/>
                </a:solidFill>
              </a:rPr>
              <a:t>Users (2024)</a:t>
            </a:r>
            <a:endParaRPr lang="en-US" sz="900"/>
          </a:p>
        </p:txBody>
      </p:sp>
      <p:sp>
        <p:nvSpPr>
          <p:cNvPr id="28" name="Shape 25"/>
          <p:cNvSpPr/>
          <p:nvPr/>
        </p:nvSpPr>
        <p:spPr>
          <a:xfrm>
            <a:off x="6217920" y="3840480"/>
            <a:ext cx="1234440" cy="100584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217920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50+</a:t>
            </a:r>
            <a:endParaRPr lang="en-US" sz="1800"/>
          </a:p>
        </p:txBody>
      </p:sp>
      <p:sp>
        <p:nvSpPr>
          <p:cNvPr id="30" name="Text 27"/>
          <p:cNvSpPr/>
          <p:nvPr/>
        </p:nvSpPr>
        <p:spPr>
          <a:xfrm>
            <a:off x="6217920" y="4343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E2EEF0"/>
                </a:solidFill>
              </a:rPr>
              <a:t>Countries</a:t>
            </a:r>
            <a:endParaRPr lang="en-US" sz="900"/>
          </a:p>
        </p:txBody>
      </p:sp>
      <p:sp>
        <p:nvSpPr>
          <p:cNvPr id="31" name="Shape 28"/>
          <p:cNvSpPr/>
          <p:nvPr/>
        </p:nvSpPr>
        <p:spPr>
          <a:xfrm>
            <a:off x="7589520" y="3840480"/>
            <a:ext cx="1234440" cy="100584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589520" y="393192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$5.2B</a:t>
            </a:r>
            <a:endParaRPr lang="en-US" sz="1800"/>
          </a:p>
        </p:txBody>
      </p:sp>
      <p:sp>
        <p:nvSpPr>
          <p:cNvPr id="33" name="Text 30"/>
          <p:cNvSpPr/>
          <p:nvPr/>
        </p:nvSpPr>
        <p:spPr>
          <a:xfrm>
            <a:off x="7589520" y="43434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E2EEF0"/>
                </a:solidFill>
              </a:rPr>
              <a:t>2026E Revenue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>
                <a:solidFill>
                  <a:srgbClr val="FFFFFF"/>
                </a:solidFill>
              </a:rPr>
              <a:t>03  MODULE 1 | DEMAND, CAPACITY &amp; SERVICE QUALITY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28090"/>
                </a:solidFill>
              </a:rPr>
              <a:t>Demand Shaping Strategies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64008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89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Segmentation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02920" y="15636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Type 1 (intensive insulin) vs. Type 2 basal vs. Type 2 non-insulin (Stelo) → tailored products per segment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64008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2037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Insurance Coverage Expansion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02920" y="24780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Medicare coverage expanded Jan 2025; 90% of T1D on commercial insurance now covered; OTC Stelo removes prescription barrier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64008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118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Provider Engagement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502920" y="33924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50,000 new prescribers added in 2024; Dexcom Academy platform for HCP education launched 2025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64008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0325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Community Programs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502920" y="43068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</a:rPr>
              <a:t>Community Glucose Monitoring Project: free CGMs to uninsured T2D patients; A1C dropped from 9.4% → 7.1% in 6 months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484632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28090"/>
                </a:solidFill>
              </a:rPr>
              <a:t>Service Quality (SERVQUAL Lens)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484632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Reliability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6309360" y="1289304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37960" y="1289304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66560" y="1289304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95160" y="1289304"/>
            <a:ext cx="182880" cy="201168"/>
          </a:xfrm>
          <a:prstGeom prst="rect">
            <a:avLst/>
          </a:prstGeom>
          <a:solidFill>
            <a:srgbClr val="E2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23760" y="1289304"/>
            <a:ext cx="182880" cy="201168"/>
          </a:xfrm>
          <a:prstGeom prst="rect">
            <a:avLst/>
          </a:prstGeom>
          <a:solidFill>
            <a:srgbClr val="E2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153619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</a:rPr>
              <a:t>G7 inaccuracies Day 1; unauthorized design change found in FDA inspection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4846320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Responsiveness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6309360" y="2002536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537960" y="2002536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766560" y="2002536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995160" y="2002536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223760" y="2002536"/>
            <a:ext cx="182880" cy="201168"/>
          </a:xfrm>
          <a:prstGeom prst="rect">
            <a:avLst/>
          </a:prstGeom>
          <a:solidFill>
            <a:srgbClr val="E2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224942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</a:rPr>
              <a:t>24/7 alerts; Share feature for caregivers; but replacement process rated slow by users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>
          <a:xfrm>
            <a:off x="4846320" y="26609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Assurance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6309360" y="2715768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37960" y="2715768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766560" y="2715768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995160" y="2715768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223760" y="2715768"/>
            <a:ext cx="182880" cy="201168"/>
          </a:xfrm>
          <a:prstGeom prst="rect">
            <a:avLst/>
          </a:prstGeom>
          <a:solidFill>
            <a:srgbClr val="E2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46320" y="296265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</a:rPr>
              <a:t>FDA-cleared, clinically validated; strong clinical trial evidence base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4846320" y="33741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Empathy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6309360" y="3429000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6537960" y="3429000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766560" y="3429000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995160" y="3429000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223760" y="3429000"/>
            <a:ext cx="182880" cy="201168"/>
          </a:xfrm>
          <a:prstGeom prst="rect">
            <a:avLst/>
          </a:prstGeom>
          <a:solidFill>
            <a:srgbClr val="E2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46320" y="367588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</a:rPr>
              <a:t>Warrior program; personalized app insights; Dexcom Follow for caregivers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4846320" y="40873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A2E32"/>
                </a:solidFill>
              </a:rPr>
              <a:t>Tangibles</a:t>
            </a:r>
            <a:endParaRPr lang="en-US" sz="1100"/>
          </a:p>
        </p:txBody>
      </p:sp>
      <p:sp>
        <p:nvSpPr>
          <p:cNvPr id="51" name="Shape 49"/>
          <p:cNvSpPr/>
          <p:nvPr/>
        </p:nvSpPr>
        <p:spPr>
          <a:xfrm>
            <a:off x="6309360" y="4142232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537960" y="4142232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766560" y="4142232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995160" y="4142232"/>
            <a:ext cx="182880" cy="20116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223760" y="4142232"/>
            <a:ext cx="182880" cy="201168"/>
          </a:xfrm>
          <a:prstGeom prst="rect">
            <a:avLst/>
          </a:prstGeom>
          <a:solidFill>
            <a:srgbClr val="E2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46320" y="438912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</a:rPr>
              <a:t>Wearable sensor + app; waterproof; Apple Watch integration; AI meal logging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626F1-CC0A-F938-DA52-7F9097D31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" name="think-cell data - do not delete" hidden="1">
            <a:extLst>
              <a:ext uri="{FF2B5EF4-FFF2-40B4-BE49-F238E27FC236}">
                <a16:creationId xmlns:a16="http://schemas.microsoft.com/office/drawing/2014/main" id="{A09BFCD1-EDEA-9543-947A-2F8C7DBE4E8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35827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4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09BFCD1-EDEA-9543-947A-2F8C7DBE4E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D3EB3F3-8519-682D-D6B0-51A27967118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AFB"/>
          </a:solidFill>
          <a:ln>
            <a:solidFill>
              <a:srgbClr val="F2FA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hape 0">
            <a:extLst>
              <a:ext uri="{FF2B5EF4-FFF2-40B4-BE49-F238E27FC236}">
                <a16:creationId xmlns:a16="http://schemas.microsoft.com/office/drawing/2014/main" id="{EE520A1A-F810-2917-3EE9-85BD369CC71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A4BCB0-618C-0076-DBF8-92C14663BB8D}"/>
              </a:ext>
            </a:extLst>
          </p:cNvPr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>
                <a:solidFill>
                  <a:srgbClr val="FFFFFF"/>
                </a:solidFill>
              </a:rPr>
              <a:t>EMPLOYEE ENGAGEMENT</a:t>
            </a:r>
            <a:endParaRPr lang="en-US" sz="18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C3BD12-FC8D-389D-8F5C-699E2E08D7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2573" y="786374"/>
            <a:ext cx="4129863" cy="2006600"/>
          </a:xfrm>
          <a:prstGeom prst="rect">
            <a:avLst/>
          </a:prstGeom>
        </p:spPr>
      </p:pic>
      <p:sp>
        <p:nvSpPr>
          <p:cNvPr id="41" name="Text 7">
            <a:extLst>
              <a:ext uri="{FF2B5EF4-FFF2-40B4-BE49-F238E27FC236}">
                <a16:creationId xmlns:a16="http://schemas.microsoft.com/office/drawing/2014/main" id="{4B9CCB1E-2DA8-3FF8-7093-F57A423D46A5}"/>
              </a:ext>
            </a:extLst>
          </p:cNvPr>
          <p:cNvSpPr/>
          <p:nvPr/>
        </p:nvSpPr>
        <p:spPr>
          <a:xfrm>
            <a:off x="182879" y="4892315"/>
            <a:ext cx="8359599" cy="207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</a:rPr>
              <a:t>Source: Company, Dexcom Sustainability Report (April 2025)  </a:t>
            </a:r>
            <a:endParaRPr lang="en-US" sz="80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F2A4D95-19BD-7E1C-AE56-F24F6FEA97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768" y="1473200"/>
            <a:ext cx="1866900" cy="21971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3262571-6BF7-1897-18C8-6424B38F608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1556" y="2885715"/>
            <a:ext cx="4838700" cy="200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787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8cbebb-2139-4df8-b411-4e3e87abeb5c}" enabled="0" method="" siteId="{dd8cbebb-2139-4df8-b411-4e3e87abeb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1834</Words>
  <Application>Microsoft Macintosh PowerPoint</Application>
  <PresentationFormat>On-screen Show (16:9)</PresentationFormat>
  <Paragraphs>260</Paragraphs>
  <Slides>14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Dexcom: Service Management for Social Impact</dc:title>
  <dc:subject>PptxGenJS Presentation</dc:subject>
  <dc:creator>PptxGenJS</dc:creator>
  <cp:lastModifiedBy>Sawant, Gai</cp:lastModifiedBy>
  <cp:revision>2</cp:revision>
  <dcterms:created xsi:type="dcterms:W3CDTF">2026-02-23T00:44:01Z</dcterms:created>
  <dcterms:modified xsi:type="dcterms:W3CDTF">2026-02-28T18:33:40Z</dcterms:modified>
</cp:coreProperties>
</file>