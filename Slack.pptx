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7" r:id="rId2"/>
    <p:sldId id="258" r:id="rId3"/>
    <p:sldId id="259" r:id="rId4"/>
    <p:sldId id="260" r:id="rId5"/>
    <p:sldId id="261" r:id="rId6"/>
    <p:sldId id="262" r:id="rId7"/>
    <p:sldId id="263" r:id="rId8"/>
    <p:sldId id="264" r:id="rId9"/>
    <p:sldId id="265" r:id="rId10"/>
  </p:sldIdLst>
  <p:sldSz cx="9144000" cy="5143500" type="screen16x9"/>
  <p:notesSz cx="6858000" cy="9144000"/>
  <p:embeddedFontLst>
    <p:embeddedFont>
      <p:font typeface="Helvetica Neue" panose="02000503000000020004" pitchFamily="2" charset="0"/>
      <p:regular r:id="rId12"/>
      <p:bold r:id="rId13"/>
      <p:italic r:id="rId14"/>
      <p:boldItalic r:id="rId15"/>
    </p:embeddedFont>
    <p:embeddedFont>
      <p:font typeface="Noto Sans" panose="020B0502040504020204" pitchFamily="34" charset="0"/>
      <p:regular r:id="rId16"/>
      <p:bold r:id="rId17"/>
      <p:italic r:id="rId18"/>
      <p:boldItalic r:id="rId19"/>
    </p:embeddedFont>
    <p:embeddedFont>
      <p:font typeface="Noto Sans ExtraBold" panose="020B0502040504020204" pitchFamily="34" charset="0"/>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1"/>
  </p:normalViewPr>
  <p:slideViewPr>
    <p:cSldViewPr snapToGrid="0">
      <p:cViewPr varScale="1">
        <p:scale>
          <a:sx n="132" d="100"/>
          <a:sy n="132" d="100"/>
        </p:scale>
        <p:origin x="1040"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56ffed188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56ffed188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dcda7ef7a6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dcda7ef7a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1/5 AC</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3d37d47f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3d37d47f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2/5 AC</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dcda7ef7a6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dcda7ef7a6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⅖ LM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53d37d47ff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53d37d47ff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⅗ LM</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53d37d47ff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53d37d47f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3/5</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56ffed188b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56ffed188b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⅘ - GS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5495cdc914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5495cdc91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Noto Sans"/>
                <a:ea typeface="Noto Sans"/>
                <a:cs typeface="Noto Sans"/>
                <a:sym typeface="Noto Sans"/>
              </a:rPr>
              <a:t>⅘ - GS</a:t>
            </a:r>
            <a:endParaRPr>
              <a:latin typeface="Noto Sans"/>
              <a:ea typeface="Noto Sans"/>
              <a:cs typeface="Noto Sans"/>
              <a:sym typeface="Noto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5495cdc914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5495cdc914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5/5</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p:nvPr/>
        </p:nvSpPr>
        <p:spPr>
          <a:xfrm>
            <a:off x="25400" y="-12700"/>
            <a:ext cx="2502000" cy="5143500"/>
          </a:xfrm>
          <a:prstGeom prst="rect">
            <a:avLst/>
          </a:prstGeom>
          <a:solidFill>
            <a:srgbClr val="4A154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 name="Google Shape;65;p14"/>
          <p:cNvSpPr/>
          <p:nvPr/>
        </p:nvSpPr>
        <p:spPr>
          <a:xfrm>
            <a:off x="2527400" y="975"/>
            <a:ext cx="6616500" cy="5143500"/>
          </a:xfrm>
          <a:prstGeom prst="rect">
            <a:avLst/>
          </a:prstGeom>
          <a:solidFill>
            <a:srgbClr val="FFFAE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FFFF"/>
              </a:solidFill>
              <a:latin typeface="Helvetica Neue"/>
              <a:ea typeface="Helvetica Neue"/>
              <a:cs typeface="Helvetica Neue"/>
              <a:sym typeface="Helvetica Neue"/>
            </a:endParaRPr>
          </a:p>
        </p:txBody>
      </p:sp>
      <p:sp>
        <p:nvSpPr>
          <p:cNvPr id="66" name="Google Shape;66;p14"/>
          <p:cNvSpPr txBox="1"/>
          <p:nvPr/>
        </p:nvSpPr>
        <p:spPr>
          <a:xfrm>
            <a:off x="3446150" y="2482850"/>
            <a:ext cx="4779000" cy="15219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ts val="0"/>
              </a:spcBef>
              <a:spcAft>
                <a:spcPts val="0"/>
              </a:spcAft>
              <a:buClr>
                <a:srgbClr val="000000"/>
              </a:buClr>
              <a:buSzPts val="1100"/>
              <a:buFont typeface="Arial"/>
              <a:buNone/>
            </a:pPr>
            <a:r>
              <a:rPr lang="en" sz="2700" b="1">
                <a:solidFill>
                  <a:schemeClr val="dk1"/>
                </a:solidFill>
                <a:latin typeface="Noto Sans"/>
                <a:ea typeface="Noto Sans"/>
                <a:cs typeface="Noto Sans"/>
                <a:sym typeface="Noto Sans"/>
              </a:rPr>
              <a:t>Slack</a:t>
            </a:r>
            <a:endParaRPr sz="2700" b="1">
              <a:solidFill>
                <a:schemeClr val="dk1"/>
              </a:solidFill>
              <a:latin typeface="Noto Sans"/>
              <a:ea typeface="Noto Sans"/>
              <a:cs typeface="Noto Sans"/>
              <a:sym typeface="Noto Sans"/>
            </a:endParaRPr>
          </a:p>
          <a:p>
            <a:pPr marL="0" marR="0" lvl="0" indent="0" algn="ctr" rtl="0">
              <a:lnSpc>
                <a:spcPct val="115000"/>
              </a:lnSpc>
              <a:spcBef>
                <a:spcPts val="0"/>
              </a:spcBef>
              <a:spcAft>
                <a:spcPts val="0"/>
              </a:spcAft>
              <a:buClr>
                <a:srgbClr val="000000"/>
              </a:buClr>
              <a:buSzPts val="1100"/>
              <a:buFont typeface="Arial"/>
              <a:buNone/>
            </a:pPr>
            <a:r>
              <a:rPr lang="en" sz="2700" b="1">
                <a:solidFill>
                  <a:schemeClr val="dk1"/>
                </a:solidFill>
                <a:latin typeface="Noto Sans"/>
                <a:ea typeface="Noto Sans"/>
                <a:cs typeface="Noto Sans"/>
                <a:sym typeface="Noto Sans"/>
              </a:rPr>
              <a:t>Intelligent Notifications</a:t>
            </a:r>
            <a:endParaRPr sz="2700" b="1">
              <a:solidFill>
                <a:schemeClr val="dk1"/>
              </a:solidFill>
              <a:latin typeface="Noto Sans"/>
              <a:ea typeface="Noto Sans"/>
              <a:cs typeface="Noto Sans"/>
              <a:sym typeface="Noto Sans"/>
            </a:endParaRPr>
          </a:p>
          <a:p>
            <a:pPr marL="0" marR="0" lvl="0" indent="0" algn="ctr" rtl="0">
              <a:lnSpc>
                <a:spcPct val="115000"/>
              </a:lnSpc>
              <a:spcBef>
                <a:spcPts val="0"/>
              </a:spcBef>
              <a:spcAft>
                <a:spcPts val="0"/>
              </a:spcAft>
              <a:buClr>
                <a:srgbClr val="000000"/>
              </a:buClr>
              <a:buSzPts val="1100"/>
              <a:buFont typeface="Arial"/>
              <a:buNone/>
            </a:pPr>
            <a:r>
              <a:rPr lang="en" i="1">
                <a:solidFill>
                  <a:schemeClr val="dk1"/>
                </a:solidFill>
                <a:latin typeface="Noto Sans"/>
                <a:ea typeface="Noto Sans"/>
                <a:cs typeface="Noto Sans"/>
                <a:sym typeface="Noto Sans"/>
              </a:rPr>
              <a:t>Urgent, Relevant, Automatic</a:t>
            </a:r>
            <a:endParaRPr i="1">
              <a:solidFill>
                <a:schemeClr val="dk1"/>
              </a:solidFill>
              <a:latin typeface="Noto Sans"/>
              <a:ea typeface="Noto Sans"/>
              <a:cs typeface="Noto Sans"/>
              <a:sym typeface="Noto Sans"/>
            </a:endParaRPr>
          </a:p>
        </p:txBody>
      </p:sp>
      <p:pic>
        <p:nvPicPr>
          <p:cNvPr id="67" name="Google Shape;67;p14"/>
          <p:cNvPicPr preferRelativeResize="0"/>
          <p:nvPr/>
        </p:nvPicPr>
        <p:blipFill>
          <a:blip r:embed="rId3">
            <a:alphaModFix/>
          </a:blip>
          <a:stretch>
            <a:fillRect/>
          </a:stretch>
        </p:blipFill>
        <p:spPr>
          <a:xfrm>
            <a:off x="5185911" y="931251"/>
            <a:ext cx="1299480" cy="1299524"/>
          </a:xfrm>
          <a:prstGeom prst="rect">
            <a:avLst/>
          </a:prstGeom>
          <a:solidFill>
            <a:srgbClr val="FFFAEF"/>
          </a:solidFill>
          <a:ln>
            <a:noFill/>
          </a:ln>
        </p:spPr>
      </p:pic>
      <p:sp>
        <p:nvSpPr>
          <p:cNvPr id="68" name="Google Shape;68;p14"/>
          <p:cNvSpPr txBox="1"/>
          <p:nvPr/>
        </p:nvSpPr>
        <p:spPr>
          <a:xfrm>
            <a:off x="25300" y="196550"/>
            <a:ext cx="2502000" cy="472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800">
                <a:solidFill>
                  <a:schemeClr val="lt1"/>
                </a:solidFill>
                <a:latin typeface="Noto Sans"/>
                <a:ea typeface="Noto Sans"/>
                <a:cs typeface="Noto Sans"/>
                <a:sym typeface="Noto Sans"/>
              </a:rPr>
              <a:t>   Channels</a:t>
            </a:r>
            <a:endParaRPr sz="1800">
              <a:solidFill>
                <a:schemeClr val="lt1"/>
              </a:solidFill>
              <a:latin typeface="Noto Sans"/>
              <a:ea typeface="Noto Sans"/>
              <a:cs typeface="Noto Sans"/>
              <a:sym typeface="Noto Sans"/>
            </a:endParaRPr>
          </a:p>
          <a:p>
            <a:pPr marL="0" lvl="0" indent="0" algn="l" rtl="0">
              <a:spcBef>
                <a:spcPts val="0"/>
              </a:spcBef>
              <a:spcAft>
                <a:spcPts val="0"/>
              </a:spcAft>
              <a:buNone/>
            </a:pPr>
            <a:r>
              <a:rPr lang="en" sz="1600" b="1">
                <a:solidFill>
                  <a:schemeClr val="lt1"/>
                </a:solidFill>
                <a:latin typeface="Noto Sans"/>
                <a:ea typeface="Noto Sans"/>
                <a:cs typeface="Noto Sans"/>
                <a:sym typeface="Noto Sans"/>
              </a:rPr>
              <a:t># pm-group-1  🚨</a:t>
            </a:r>
            <a:endParaRPr sz="1600" b="1">
              <a:solidFill>
                <a:schemeClr val="lt1"/>
              </a:solidFill>
              <a:latin typeface="Noto Sans"/>
              <a:ea typeface="Noto Sans"/>
              <a:cs typeface="Noto Sans"/>
              <a:sym typeface="Noto Sans"/>
            </a:endParaRPr>
          </a:p>
          <a:p>
            <a:pPr marL="0" lvl="0" indent="0" algn="l" rtl="0">
              <a:spcBef>
                <a:spcPts val="0"/>
              </a:spcBef>
              <a:spcAft>
                <a:spcPts val="0"/>
              </a:spcAft>
              <a:buNone/>
            </a:pPr>
            <a:r>
              <a:rPr lang="en" sz="1600">
                <a:solidFill>
                  <a:schemeClr val="lt1"/>
                </a:solidFill>
                <a:latin typeface="Noto Sans"/>
                <a:ea typeface="Noto Sans"/>
                <a:cs typeface="Noto Sans"/>
                <a:sym typeface="Noto Sans"/>
              </a:rPr>
              <a:t># </a:t>
            </a:r>
            <a:r>
              <a:rPr lang="en" sz="1600" b="1">
                <a:solidFill>
                  <a:schemeClr val="lt1"/>
                </a:solidFill>
                <a:latin typeface="Noto Sans"/>
                <a:ea typeface="Noto Sans"/>
                <a:cs typeface="Noto Sans"/>
                <a:sym typeface="Noto Sans"/>
              </a:rPr>
              <a:t>yellow-learning-t</a:t>
            </a:r>
            <a:r>
              <a:rPr lang="en" sz="1600">
                <a:solidFill>
                  <a:schemeClr val="lt1"/>
                </a:solidFill>
                <a:latin typeface="Noto Sans"/>
                <a:ea typeface="Noto Sans"/>
                <a:cs typeface="Noto Sans"/>
                <a:sym typeface="Noto Sans"/>
              </a:rPr>
              <a:t>…🚨</a:t>
            </a:r>
            <a:endParaRPr sz="1600">
              <a:solidFill>
                <a:schemeClr val="lt1"/>
              </a:solidFill>
              <a:latin typeface="Noto Sans"/>
              <a:ea typeface="Noto Sans"/>
              <a:cs typeface="Noto Sans"/>
              <a:sym typeface="Noto Sans"/>
            </a:endParaRPr>
          </a:p>
          <a:p>
            <a:pPr marL="0" lvl="0" indent="0" algn="l" rtl="0">
              <a:spcBef>
                <a:spcPts val="0"/>
              </a:spcBef>
              <a:spcAft>
                <a:spcPts val="0"/>
              </a:spcAft>
              <a:buNone/>
            </a:pPr>
            <a:r>
              <a:rPr lang="en" sz="1600">
                <a:solidFill>
                  <a:schemeClr val="lt1"/>
                </a:solidFill>
                <a:latin typeface="Noto Sans"/>
                <a:ea typeface="Noto Sans"/>
                <a:cs typeface="Noto Sans"/>
                <a:sym typeface="Noto Sans"/>
              </a:rPr>
              <a:t># </a:t>
            </a:r>
            <a:r>
              <a:rPr lang="en" sz="1600" b="1">
                <a:solidFill>
                  <a:schemeClr val="lt1"/>
                </a:solidFill>
                <a:latin typeface="Noto Sans"/>
                <a:ea typeface="Noto Sans"/>
                <a:cs typeface="Noto Sans"/>
                <a:sym typeface="Noto Sans"/>
              </a:rPr>
              <a:t>innovator-project</a:t>
            </a:r>
            <a:r>
              <a:rPr lang="en" sz="1600">
                <a:solidFill>
                  <a:schemeClr val="lt1"/>
                </a:solidFill>
                <a:latin typeface="Noto Sans"/>
                <a:ea typeface="Noto Sans"/>
                <a:cs typeface="Noto Sans"/>
                <a:sym typeface="Noto Sans"/>
              </a:rPr>
              <a:t>…</a:t>
            </a:r>
            <a:endParaRPr sz="1600">
              <a:solidFill>
                <a:schemeClr val="lt1"/>
              </a:solidFill>
              <a:latin typeface="Noto Sans"/>
              <a:ea typeface="Noto Sans"/>
              <a:cs typeface="Noto Sans"/>
              <a:sym typeface="Noto Sans"/>
            </a:endParaRPr>
          </a:p>
          <a:p>
            <a:pPr marL="0" lvl="0" indent="0" algn="l" rtl="0">
              <a:spcBef>
                <a:spcPts val="0"/>
              </a:spcBef>
              <a:spcAft>
                <a:spcPts val="0"/>
              </a:spcAft>
              <a:buNone/>
            </a:pPr>
            <a:r>
              <a:rPr lang="en" sz="1600">
                <a:solidFill>
                  <a:schemeClr val="lt1"/>
                </a:solidFill>
                <a:latin typeface="Noto Sans"/>
                <a:ea typeface="Noto Sans"/>
                <a:cs typeface="Noto Sans"/>
                <a:sym typeface="Noto Sans"/>
              </a:rPr>
              <a:t># </a:t>
            </a:r>
            <a:r>
              <a:rPr lang="en" sz="1600" b="1">
                <a:solidFill>
                  <a:schemeClr val="lt1"/>
                </a:solidFill>
                <a:latin typeface="Noto Sans"/>
                <a:ea typeface="Noto Sans"/>
                <a:cs typeface="Noto Sans"/>
                <a:sym typeface="Noto Sans"/>
              </a:rPr>
              <a:t>mgt561-product-</a:t>
            </a:r>
            <a:r>
              <a:rPr lang="en" sz="1600">
                <a:solidFill>
                  <a:schemeClr val="lt1"/>
                </a:solidFill>
                <a:latin typeface="Noto Sans"/>
                <a:ea typeface="Noto Sans"/>
                <a:cs typeface="Noto Sans"/>
                <a:sym typeface="Noto Sans"/>
              </a:rPr>
              <a:t>... 🚨</a:t>
            </a:r>
            <a:endParaRPr sz="1600">
              <a:solidFill>
                <a:schemeClr val="lt1"/>
              </a:solidFill>
              <a:latin typeface="Noto Sans"/>
              <a:ea typeface="Noto Sans"/>
              <a:cs typeface="Noto Sans"/>
              <a:sym typeface="Noto Sans"/>
            </a:endParaRPr>
          </a:p>
          <a:p>
            <a:pPr marL="0" lvl="0" indent="0" algn="l" rtl="0">
              <a:spcBef>
                <a:spcPts val="0"/>
              </a:spcBef>
              <a:spcAft>
                <a:spcPts val="0"/>
              </a:spcAft>
              <a:buNone/>
            </a:pPr>
            <a:r>
              <a:rPr lang="en" sz="1600">
                <a:solidFill>
                  <a:schemeClr val="lt1"/>
                </a:solidFill>
                <a:latin typeface="Noto Sans"/>
                <a:ea typeface="Noto Sans"/>
                <a:cs typeface="Noto Sans"/>
                <a:sym typeface="Noto Sans"/>
              </a:rPr>
              <a:t># </a:t>
            </a:r>
            <a:r>
              <a:rPr lang="en" sz="1600" b="1">
                <a:solidFill>
                  <a:schemeClr val="lt1"/>
                </a:solidFill>
                <a:latin typeface="Noto Sans"/>
                <a:ea typeface="Noto Sans"/>
                <a:cs typeface="Noto Sans"/>
                <a:sym typeface="Noto Sans"/>
              </a:rPr>
              <a:t>hot-takes</a:t>
            </a:r>
            <a:endParaRPr sz="1600" b="1">
              <a:solidFill>
                <a:schemeClr val="lt1"/>
              </a:solidFill>
              <a:latin typeface="Noto Sans"/>
              <a:ea typeface="Noto Sans"/>
              <a:cs typeface="Noto Sans"/>
              <a:sym typeface="Noto Sans"/>
            </a:endParaRPr>
          </a:p>
          <a:p>
            <a:pPr marL="0" lvl="0" indent="0" algn="l" rtl="0">
              <a:spcBef>
                <a:spcPts val="0"/>
              </a:spcBef>
              <a:spcAft>
                <a:spcPts val="0"/>
              </a:spcAft>
              <a:buNone/>
            </a:pPr>
            <a:r>
              <a:rPr lang="en" sz="1600">
                <a:solidFill>
                  <a:schemeClr val="lt1"/>
                </a:solidFill>
                <a:latin typeface="Noto Sans"/>
                <a:ea typeface="Noto Sans"/>
                <a:cs typeface="Noto Sans"/>
                <a:sym typeface="Noto Sans"/>
              </a:rPr>
              <a:t># </a:t>
            </a:r>
            <a:r>
              <a:rPr lang="en" sz="1600" b="1">
                <a:solidFill>
                  <a:schemeClr val="lt1"/>
                </a:solidFill>
                <a:latin typeface="Noto Sans"/>
                <a:ea typeface="Noto Sans"/>
                <a:cs typeface="Noto Sans"/>
                <a:sym typeface="Noto Sans"/>
              </a:rPr>
              <a:t>som-events</a:t>
            </a:r>
            <a:endParaRPr sz="1600" b="1">
              <a:solidFill>
                <a:schemeClr val="lt1"/>
              </a:solidFill>
              <a:latin typeface="Noto Sans"/>
              <a:ea typeface="Noto Sans"/>
              <a:cs typeface="Noto Sans"/>
              <a:sym typeface="Noto Sans"/>
            </a:endParaRPr>
          </a:p>
          <a:p>
            <a:pPr marL="0" lvl="0" indent="0" algn="l" rtl="0">
              <a:spcBef>
                <a:spcPts val="0"/>
              </a:spcBef>
              <a:spcAft>
                <a:spcPts val="0"/>
              </a:spcAft>
              <a:buNone/>
            </a:pPr>
            <a:endParaRPr sz="1600" b="1">
              <a:solidFill>
                <a:schemeClr val="lt1"/>
              </a:solidFill>
              <a:latin typeface="Noto Sans"/>
              <a:ea typeface="Noto Sans"/>
              <a:cs typeface="Noto Sans"/>
              <a:sym typeface="Noto Sans"/>
            </a:endParaRPr>
          </a:p>
          <a:p>
            <a:pPr marL="0" lvl="0" indent="0" algn="l" rtl="0">
              <a:spcBef>
                <a:spcPts val="0"/>
              </a:spcBef>
              <a:spcAft>
                <a:spcPts val="0"/>
              </a:spcAft>
              <a:buClr>
                <a:schemeClr val="dk1"/>
              </a:buClr>
              <a:buSzPts val="1100"/>
              <a:buFont typeface="Arial"/>
              <a:buNone/>
            </a:pPr>
            <a:r>
              <a:rPr lang="en" sz="1800">
                <a:solidFill>
                  <a:schemeClr val="lt1"/>
                </a:solidFill>
                <a:latin typeface="Noto Sans"/>
                <a:ea typeface="Noto Sans"/>
                <a:cs typeface="Noto Sans"/>
                <a:sym typeface="Noto Sans"/>
              </a:rPr>
              <a:t>   </a:t>
            </a:r>
            <a:r>
              <a:rPr lang="en" sz="1800" b="1">
                <a:solidFill>
                  <a:schemeClr val="lt1"/>
                </a:solidFill>
                <a:latin typeface="Noto Sans"/>
                <a:ea typeface="Noto Sans"/>
                <a:cs typeface="Noto Sans"/>
                <a:sym typeface="Noto Sans"/>
              </a:rPr>
              <a:t>Skipping Class </a:t>
            </a:r>
            <a:r>
              <a:rPr lang="en" sz="1800" b="1">
                <a:solidFill>
                  <a:srgbClr val="4A154B"/>
                </a:solidFill>
                <a:latin typeface="Noto Sans"/>
                <a:ea typeface="Noto Sans"/>
                <a:cs typeface="Noto Sans"/>
                <a:sym typeface="Noto Sans"/>
              </a:rPr>
              <a:t>⚠️</a:t>
            </a:r>
            <a:endParaRPr sz="1700" b="1">
              <a:solidFill>
                <a:schemeClr val="lt1"/>
              </a:solidFill>
              <a:latin typeface="Noto Sans"/>
              <a:ea typeface="Noto Sans"/>
              <a:cs typeface="Noto Sans"/>
              <a:sym typeface="Noto Sans"/>
            </a:endParaRPr>
          </a:p>
          <a:p>
            <a:pPr marL="0" lvl="0" indent="0" algn="l" rtl="0">
              <a:spcBef>
                <a:spcPts val="0"/>
              </a:spcBef>
              <a:spcAft>
                <a:spcPts val="0"/>
              </a:spcAft>
              <a:buNone/>
            </a:pPr>
            <a:endParaRPr sz="1800">
              <a:solidFill>
                <a:schemeClr val="lt1"/>
              </a:solidFill>
              <a:latin typeface="Noto Sans"/>
              <a:ea typeface="Noto Sans"/>
              <a:cs typeface="Noto Sans"/>
              <a:sym typeface="Noto Sans"/>
            </a:endParaRPr>
          </a:p>
          <a:p>
            <a:pPr marL="0" lvl="0" indent="0" algn="l" rtl="0">
              <a:spcBef>
                <a:spcPts val="0"/>
              </a:spcBef>
              <a:spcAft>
                <a:spcPts val="0"/>
              </a:spcAft>
              <a:buNone/>
            </a:pPr>
            <a:r>
              <a:rPr lang="en" sz="1800">
                <a:solidFill>
                  <a:schemeClr val="lt1"/>
                </a:solidFill>
                <a:latin typeface="Noto Sans"/>
                <a:ea typeface="Noto Sans"/>
                <a:cs typeface="Noto Sans"/>
                <a:sym typeface="Noto Sans"/>
              </a:rPr>
              <a:t>   Direct Messages</a:t>
            </a:r>
            <a:endParaRPr sz="1800">
              <a:solidFill>
                <a:schemeClr val="lt1"/>
              </a:solidFill>
              <a:latin typeface="Noto Sans"/>
              <a:ea typeface="Noto Sans"/>
              <a:cs typeface="Noto Sans"/>
              <a:sym typeface="Noto Sans"/>
            </a:endParaRPr>
          </a:p>
          <a:p>
            <a:pPr marL="0" lvl="0" indent="0" algn="l" rtl="0">
              <a:spcBef>
                <a:spcPts val="0"/>
              </a:spcBef>
              <a:spcAft>
                <a:spcPts val="0"/>
              </a:spcAft>
              <a:buNone/>
            </a:pPr>
            <a:endParaRPr sz="1800">
              <a:solidFill>
                <a:schemeClr val="lt1"/>
              </a:solidFill>
              <a:latin typeface="Noto Sans"/>
              <a:ea typeface="Noto Sans"/>
              <a:cs typeface="Noto Sans"/>
              <a:sym typeface="Noto Sans"/>
            </a:endParaRPr>
          </a:p>
          <a:p>
            <a:pPr marL="0" lvl="0" indent="0" algn="l" rtl="0">
              <a:lnSpc>
                <a:spcPct val="115000"/>
              </a:lnSpc>
              <a:spcBef>
                <a:spcPts val="0"/>
              </a:spcBef>
              <a:spcAft>
                <a:spcPts val="0"/>
              </a:spcAft>
              <a:buNone/>
            </a:pPr>
            <a:r>
              <a:rPr lang="en" sz="1700">
                <a:solidFill>
                  <a:schemeClr val="lt1"/>
                </a:solidFill>
                <a:latin typeface="Noto Sans"/>
                <a:ea typeface="Noto Sans"/>
                <a:cs typeface="Noto Sans"/>
                <a:sym typeface="Noto Sans"/>
              </a:rPr>
              <a:t>     </a:t>
            </a:r>
            <a:r>
              <a:rPr lang="en" sz="1650">
                <a:solidFill>
                  <a:schemeClr val="lt1"/>
                </a:solidFill>
                <a:latin typeface="Noto Sans"/>
                <a:ea typeface="Noto Sans"/>
                <a:cs typeface="Noto Sans"/>
                <a:sym typeface="Noto Sans"/>
              </a:rPr>
              <a:t>Gai Sawant</a:t>
            </a:r>
            <a:endParaRPr sz="1650">
              <a:solidFill>
                <a:schemeClr val="lt1"/>
              </a:solidFill>
              <a:latin typeface="Noto Sans"/>
              <a:ea typeface="Noto Sans"/>
              <a:cs typeface="Noto Sans"/>
              <a:sym typeface="Noto Sans"/>
            </a:endParaRPr>
          </a:p>
          <a:p>
            <a:pPr marL="0" lvl="0" indent="0" algn="l" rtl="0">
              <a:lnSpc>
                <a:spcPct val="115000"/>
              </a:lnSpc>
              <a:spcBef>
                <a:spcPts val="0"/>
              </a:spcBef>
              <a:spcAft>
                <a:spcPts val="0"/>
              </a:spcAft>
              <a:buNone/>
            </a:pPr>
            <a:r>
              <a:rPr lang="en" sz="1650">
                <a:solidFill>
                  <a:schemeClr val="lt1"/>
                </a:solidFill>
                <a:latin typeface="Noto Sans"/>
                <a:ea typeface="Noto Sans"/>
                <a:cs typeface="Noto Sans"/>
                <a:sym typeface="Noto Sans"/>
              </a:rPr>
              <a:t>     Larissa Colores Maia</a:t>
            </a:r>
            <a:endParaRPr sz="1650">
              <a:solidFill>
                <a:schemeClr val="lt1"/>
              </a:solidFill>
              <a:latin typeface="Noto Sans"/>
              <a:ea typeface="Noto Sans"/>
              <a:cs typeface="Noto Sans"/>
              <a:sym typeface="Noto Sans"/>
            </a:endParaRPr>
          </a:p>
          <a:p>
            <a:pPr marL="0" lvl="0" indent="0" algn="l" rtl="0">
              <a:lnSpc>
                <a:spcPct val="115000"/>
              </a:lnSpc>
              <a:spcBef>
                <a:spcPts val="0"/>
              </a:spcBef>
              <a:spcAft>
                <a:spcPts val="0"/>
              </a:spcAft>
              <a:buNone/>
            </a:pPr>
            <a:r>
              <a:rPr lang="en" sz="1650">
                <a:solidFill>
                  <a:schemeClr val="lt1"/>
                </a:solidFill>
                <a:latin typeface="Noto Sans"/>
                <a:ea typeface="Noto Sans"/>
                <a:cs typeface="Noto Sans"/>
                <a:sym typeface="Noto Sans"/>
              </a:rPr>
              <a:t>     Abhishek Dudeja</a:t>
            </a:r>
            <a:endParaRPr sz="1650">
              <a:solidFill>
                <a:schemeClr val="lt1"/>
              </a:solidFill>
              <a:latin typeface="Noto Sans"/>
              <a:ea typeface="Noto Sans"/>
              <a:cs typeface="Noto Sans"/>
              <a:sym typeface="Noto Sans"/>
            </a:endParaRPr>
          </a:p>
          <a:p>
            <a:pPr marL="0" lvl="0" indent="0" algn="l" rtl="0">
              <a:lnSpc>
                <a:spcPct val="115000"/>
              </a:lnSpc>
              <a:spcBef>
                <a:spcPts val="0"/>
              </a:spcBef>
              <a:spcAft>
                <a:spcPts val="0"/>
              </a:spcAft>
              <a:buNone/>
            </a:pPr>
            <a:r>
              <a:rPr lang="en" sz="1650">
                <a:solidFill>
                  <a:schemeClr val="lt1"/>
                </a:solidFill>
                <a:latin typeface="Noto Sans"/>
                <a:ea typeface="Noto Sans"/>
                <a:cs typeface="Noto Sans"/>
                <a:sym typeface="Noto Sans"/>
              </a:rPr>
              <a:t>     Andrew Chang</a:t>
            </a:r>
            <a:endParaRPr sz="1650">
              <a:solidFill>
                <a:schemeClr val="lt1"/>
              </a:solidFill>
              <a:latin typeface="Noto Sans"/>
              <a:ea typeface="Noto Sans"/>
              <a:cs typeface="Noto Sans"/>
              <a:sym typeface="Noto Sans"/>
            </a:endParaRPr>
          </a:p>
          <a:p>
            <a:pPr marL="0" lvl="0" indent="0" algn="l" rtl="0">
              <a:lnSpc>
                <a:spcPct val="115000"/>
              </a:lnSpc>
              <a:spcBef>
                <a:spcPts val="0"/>
              </a:spcBef>
              <a:spcAft>
                <a:spcPts val="0"/>
              </a:spcAft>
              <a:buNone/>
            </a:pPr>
            <a:r>
              <a:rPr lang="en" sz="1650">
                <a:solidFill>
                  <a:schemeClr val="lt1"/>
                </a:solidFill>
                <a:latin typeface="Noto Sans"/>
                <a:ea typeface="Noto Sans"/>
                <a:cs typeface="Noto Sans"/>
                <a:sym typeface="Noto Sans"/>
              </a:rPr>
              <a:t>     Peter Yang</a:t>
            </a:r>
            <a:endParaRPr sz="1650">
              <a:solidFill>
                <a:schemeClr val="lt1"/>
              </a:solidFill>
              <a:latin typeface="Noto Sans"/>
              <a:ea typeface="Noto Sans"/>
              <a:cs typeface="Noto Sans"/>
              <a:sym typeface="Noto Sans"/>
            </a:endParaRPr>
          </a:p>
        </p:txBody>
      </p:sp>
      <p:sp>
        <p:nvSpPr>
          <p:cNvPr id="69" name="Google Shape;69;p14"/>
          <p:cNvSpPr/>
          <p:nvPr/>
        </p:nvSpPr>
        <p:spPr>
          <a:xfrm>
            <a:off x="88900" y="2895600"/>
            <a:ext cx="120701" cy="109728"/>
          </a:xfrm>
          <a:prstGeom prst="flowChartMerg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 name="Google Shape;70;p14"/>
          <p:cNvSpPr/>
          <p:nvPr/>
        </p:nvSpPr>
        <p:spPr>
          <a:xfrm>
            <a:off x="88900" y="368300"/>
            <a:ext cx="120701" cy="109728"/>
          </a:xfrm>
          <a:prstGeom prst="flowChartMerg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1" name="Google Shape;71;p14" title="Screenshot 2025-05-04 at 07.15.51.png"/>
          <p:cNvPicPr preferRelativeResize="0"/>
          <p:nvPr/>
        </p:nvPicPr>
        <p:blipFill>
          <a:blip r:embed="rId4">
            <a:alphaModFix/>
          </a:blip>
          <a:stretch>
            <a:fillRect/>
          </a:stretch>
        </p:blipFill>
        <p:spPr>
          <a:xfrm>
            <a:off x="25400" y="3902238"/>
            <a:ext cx="309100" cy="300746"/>
          </a:xfrm>
          <a:prstGeom prst="rect">
            <a:avLst/>
          </a:prstGeom>
          <a:noFill/>
          <a:ln>
            <a:noFill/>
          </a:ln>
        </p:spPr>
      </p:pic>
      <p:pic>
        <p:nvPicPr>
          <p:cNvPr id="72" name="Google Shape;72;p14" title="Screenshot 2025-05-04 at 07.15.58.png"/>
          <p:cNvPicPr preferRelativeResize="0"/>
          <p:nvPr/>
        </p:nvPicPr>
        <p:blipFill>
          <a:blip r:embed="rId5">
            <a:alphaModFix/>
          </a:blip>
          <a:stretch>
            <a:fillRect/>
          </a:stretch>
        </p:blipFill>
        <p:spPr>
          <a:xfrm>
            <a:off x="25400" y="4228655"/>
            <a:ext cx="309100" cy="285918"/>
          </a:xfrm>
          <a:prstGeom prst="rect">
            <a:avLst/>
          </a:prstGeom>
          <a:noFill/>
          <a:ln>
            <a:noFill/>
          </a:ln>
        </p:spPr>
      </p:pic>
      <p:pic>
        <p:nvPicPr>
          <p:cNvPr id="73" name="Google Shape;73;p14" title="Screenshot 2025-05-04 at 07.16.03.png"/>
          <p:cNvPicPr preferRelativeResize="0"/>
          <p:nvPr/>
        </p:nvPicPr>
        <p:blipFill>
          <a:blip r:embed="rId6">
            <a:alphaModFix/>
          </a:blip>
          <a:stretch>
            <a:fillRect/>
          </a:stretch>
        </p:blipFill>
        <p:spPr>
          <a:xfrm>
            <a:off x="25400" y="3585025"/>
            <a:ext cx="309100" cy="317234"/>
          </a:xfrm>
          <a:prstGeom prst="rect">
            <a:avLst/>
          </a:prstGeom>
          <a:noFill/>
          <a:ln>
            <a:noFill/>
          </a:ln>
        </p:spPr>
      </p:pic>
      <p:pic>
        <p:nvPicPr>
          <p:cNvPr id="74" name="Google Shape;74;p14" title="Screenshot 2025-05-04 at 07.16.10.png"/>
          <p:cNvPicPr preferRelativeResize="0"/>
          <p:nvPr/>
        </p:nvPicPr>
        <p:blipFill>
          <a:blip r:embed="rId7">
            <a:alphaModFix/>
          </a:blip>
          <a:stretch>
            <a:fillRect/>
          </a:stretch>
        </p:blipFill>
        <p:spPr>
          <a:xfrm>
            <a:off x="25400" y="4565900"/>
            <a:ext cx="309100" cy="285918"/>
          </a:xfrm>
          <a:prstGeom prst="rect">
            <a:avLst/>
          </a:prstGeom>
          <a:noFill/>
          <a:ln>
            <a:noFill/>
          </a:ln>
        </p:spPr>
      </p:pic>
      <p:pic>
        <p:nvPicPr>
          <p:cNvPr id="75" name="Google Shape;75;p14" title="Screenshot 2025-05-04 at 07.16.16.png"/>
          <p:cNvPicPr preferRelativeResize="0"/>
          <p:nvPr/>
        </p:nvPicPr>
        <p:blipFill>
          <a:blip r:embed="rId8">
            <a:alphaModFix/>
          </a:blip>
          <a:stretch>
            <a:fillRect/>
          </a:stretch>
        </p:blipFill>
        <p:spPr>
          <a:xfrm>
            <a:off x="25400" y="3321050"/>
            <a:ext cx="309100" cy="285925"/>
          </a:xfrm>
          <a:prstGeom prst="rect">
            <a:avLst/>
          </a:prstGeom>
          <a:noFill/>
          <a:ln>
            <a:noFill/>
          </a:ln>
        </p:spPr>
      </p:pic>
      <p:sp>
        <p:nvSpPr>
          <p:cNvPr id="76" name="Google Shape;76;p14"/>
          <p:cNvSpPr/>
          <p:nvPr/>
        </p:nvSpPr>
        <p:spPr>
          <a:xfrm rot="-5400000">
            <a:off x="88900" y="2362200"/>
            <a:ext cx="120701" cy="109728"/>
          </a:xfrm>
          <a:prstGeom prst="flowChartMerg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5"/>
          <p:cNvSpPr/>
          <p:nvPr/>
        </p:nvSpPr>
        <p:spPr>
          <a:xfrm>
            <a:off x="0" y="1025"/>
            <a:ext cx="9144000" cy="5143500"/>
          </a:xfrm>
          <a:prstGeom prst="rect">
            <a:avLst/>
          </a:prstGeom>
          <a:solidFill>
            <a:srgbClr val="FFFA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 name="Google Shape;82;p15"/>
          <p:cNvSpPr/>
          <p:nvPr/>
        </p:nvSpPr>
        <p:spPr>
          <a:xfrm>
            <a:off x="0" y="1032"/>
            <a:ext cx="9144000" cy="730800"/>
          </a:xfrm>
          <a:prstGeom prst="rect">
            <a:avLst/>
          </a:prstGeom>
          <a:solidFill>
            <a:srgbClr val="DF1E5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1">
                <a:solidFill>
                  <a:srgbClr val="FFFAEF"/>
                </a:solidFill>
                <a:latin typeface="Noto Sans"/>
                <a:ea typeface="Noto Sans"/>
                <a:cs typeface="Noto Sans"/>
                <a:sym typeface="Noto Sans"/>
              </a:rPr>
              <a:t>Return to office mandates drive demand for innovative “Future of Work” solutions, prioritizing productivity and delightful customer experience</a:t>
            </a:r>
            <a:endParaRPr sz="1600" b="1" i="0" u="none" strike="noStrike" cap="none">
              <a:solidFill>
                <a:srgbClr val="FFFAEF"/>
              </a:solidFill>
              <a:latin typeface="Noto Sans"/>
              <a:ea typeface="Noto Sans"/>
              <a:cs typeface="Noto Sans"/>
              <a:sym typeface="Noto Sans"/>
            </a:endParaRPr>
          </a:p>
        </p:txBody>
      </p:sp>
      <p:sp>
        <p:nvSpPr>
          <p:cNvPr id="83" name="Google Shape;83;p15"/>
          <p:cNvSpPr txBox="1"/>
          <p:nvPr/>
        </p:nvSpPr>
        <p:spPr>
          <a:xfrm>
            <a:off x="325800" y="1011125"/>
            <a:ext cx="3879000" cy="333300"/>
          </a:xfrm>
          <a:prstGeom prst="rect">
            <a:avLst/>
          </a:prstGeom>
          <a:noFill/>
          <a:ln w="19050" cap="flat" cmpd="sng">
            <a:solidFill>
              <a:srgbClr val="4A154B"/>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100"/>
              <a:buFont typeface="Arial"/>
              <a:buNone/>
            </a:pPr>
            <a:r>
              <a:rPr lang="en" sz="1300" b="1">
                <a:solidFill>
                  <a:srgbClr val="4A154B"/>
                </a:solidFill>
                <a:latin typeface="Noto Sans"/>
                <a:ea typeface="Noto Sans"/>
                <a:cs typeface="Noto Sans"/>
                <a:sym typeface="Noto Sans"/>
              </a:rPr>
              <a:t>Company</a:t>
            </a:r>
            <a:endParaRPr sz="1300" b="1">
              <a:solidFill>
                <a:srgbClr val="4A154B"/>
              </a:solidFill>
              <a:latin typeface="Noto Sans"/>
              <a:ea typeface="Noto Sans"/>
              <a:cs typeface="Noto Sans"/>
              <a:sym typeface="Noto Sans"/>
            </a:endParaRPr>
          </a:p>
        </p:txBody>
      </p:sp>
      <p:sp>
        <p:nvSpPr>
          <p:cNvPr id="84" name="Google Shape;84;p15"/>
          <p:cNvSpPr txBox="1"/>
          <p:nvPr/>
        </p:nvSpPr>
        <p:spPr>
          <a:xfrm>
            <a:off x="325929" y="2616725"/>
            <a:ext cx="3879000" cy="333300"/>
          </a:xfrm>
          <a:prstGeom prst="rect">
            <a:avLst/>
          </a:prstGeom>
          <a:noFill/>
          <a:ln w="19050" cap="flat" cmpd="sng">
            <a:solidFill>
              <a:srgbClr val="4A154B"/>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100"/>
              <a:buFont typeface="Arial"/>
              <a:buNone/>
            </a:pPr>
            <a:r>
              <a:rPr lang="en" sz="1300" b="1">
                <a:solidFill>
                  <a:srgbClr val="4A154B"/>
                </a:solidFill>
                <a:latin typeface="Noto Sans"/>
                <a:ea typeface="Noto Sans"/>
                <a:cs typeface="Noto Sans"/>
                <a:sym typeface="Noto Sans"/>
              </a:rPr>
              <a:t>Product</a:t>
            </a:r>
            <a:endParaRPr sz="1300" b="1">
              <a:solidFill>
                <a:srgbClr val="4A154B"/>
              </a:solidFill>
              <a:latin typeface="Noto Sans"/>
              <a:ea typeface="Noto Sans"/>
              <a:cs typeface="Noto Sans"/>
              <a:sym typeface="Noto Sans"/>
            </a:endParaRPr>
          </a:p>
        </p:txBody>
      </p:sp>
      <p:pic>
        <p:nvPicPr>
          <p:cNvPr id="85" name="Google Shape;85;p15"/>
          <p:cNvPicPr preferRelativeResize="0"/>
          <p:nvPr/>
        </p:nvPicPr>
        <p:blipFill>
          <a:blip r:embed="rId3">
            <a:alphaModFix/>
          </a:blip>
          <a:stretch>
            <a:fillRect/>
          </a:stretch>
        </p:blipFill>
        <p:spPr>
          <a:xfrm>
            <a:off x="325800" y="1435800"/>
            <a:ext cx="730800" cy="730800"/>
          </a:xfrm>
          <a:prstGeom prst="rect">
            <a:avLst/>
          </a:prstGeom>
          <a:noFill/>
          <a:ln>
            <a:noFill/>
          </a:ln>
        </p:spPr>
      </p:pic>
      <p:pic>
        <p:nvPicPr>
          <p:cNvPr id="86" name="Google Shape;86;p15"/>
          <p:cNvPicPr preferRelativeResize="0"/>
          <p:nvPr/>
        </p:nvPicPr>
        <p:blipFill rotWithShape="1">
          <a:blip r:embed="rId4">
            <a:alphaModFix/>
          </a:blip>
          <a:srcRect r="70134"/>
          <a:stretch/>
        </p:blipFill>
        <p:spPr>
          <a:xfrm>
            <a:off x="547050" y="3076150"/>
            <a:ext cx="567363" cy="484225"/>
          </a:xfrm>
          <a:prstGeom prst="rect">
            <a:avLst/>
          </a:prstGeom>
          <a:noFill/>
          <a:ln>
            <a:noFill/>
          </a:ln>
        </p:spPr>
      </p:pic>
      <p:sp>
        <p:nvSpPr>
          <p:cNvPr id="87" name="Google Shape;87;p15"/>
          <p:cNvSpPr txBox="1"/>
          <p:nvPr/>
        </p:nvSpPr>
        <p:spPr>
          <a:xfrm>
            <a:off x="1217877" y="1435325"/>
            <a:ext cx="30018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666666"/>
                </a:solidFill>
                <a:latin typeface="Noto Sans"/>
                <a:ea typeface="Noto Sans"/>
                <a:cs typeface="Noto Sans"/>
                <a:sym typeface="Noto Sans"/>
              </a:rPr>
              <a:t>Salesforce is a cloud-based software company that provides a suite of tools for customer relationship management and that acquired Slack in 2021</a:t>
            </a:r>
            <a:endParaRPr sz="1200">
              <a:solidFill>
                <a:srgbClr val="666666"/>
              </a:solidFill>
              <a:latin typeface="Noto Sans"/>
              <a:ea typeface="Noto Sans"/>
              <a:cs typeface="Noto Sans"/>
              <a:sym typeface="Noto Sans"/>
            </a:endParaRPr>
          </a:p>
        </p:txBody>
      </p:sp>
      <p:pic>
        <p:nvPicPr>
          <p:cNvPr id="88" name="Google Shape;88;p15"/>
          <p:cNvPicPr preferRelativeResize="0"/>
          <p:nvPr/>
        </p:nvPicPr>
        <p:blipFill rotWithShape="1">
          <a:blip r:embed="rId4">
            <a:alphaModFix/>
          </a:blip>
          <a:srcRect l="29863"/>
          <a:stretch/>
        </p:blipFill>
        <p:spPr>
          <a:xfrm>
            <a:off x="325937" y="3915100"/>
            <a:ext cx="917125" cy="333300"/>
          </a:xfrm>
          <a:prstGeom prst="rect">
            <a:avLst/>
          </a:prstGeom>
          <a:noFill/>
          <a:ln>
            <a:noFill/>
          </a:ln>
        </p:spPr>
      </p:pic>
      <p:sp>
        <p:nvSpPr>
          <p:cNvPr id="89" name="Google Shape;89;p15"/>
          <p:cNvSpPr txBox="1"/>
          <p:nvPr/>
        </p:nvSpPr>
        <p:spPr>
          <a:xfrm>
            <a:off x="1350555" y="3023225"/>
            <a:ext cx="28689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666666"/>
                </a:solidFill>
                <a:latin typeface="Noto Sans"/>
                <a:ea typeface="Noto Sans"/>
                <a:cs typeface="Noto Sans"/>
                <a:sym typeface="Noto Sans"/>
              </a:rPr>
              <a:t>Slack is a communications platform designed for organizations, offering messaging, files sharing, integration with several tools and automation of workflows. Slack helps teams to be connected, and experienced significant growth with the increasing adoption of remorse working</a:t>
            </a:r>
            <a:endParaRPr sz="1200">
              <a:solidFill>
                <a:srgbClr val="666666"/>
              </a:solidFill>
              <a:latin typeface="Noto Sans"/>
              <a:ea typeface="Noto Sans"/>
              <a:cs typeface="Noto Sans"/>
              <a:sym typeface="Noto Sans"/>
            </a:endParaRPr>
          </a:p>
        </p:txBody>
      </p:sp>
      <p:sp>
        <p:nvSpPr>
          <p:cNvPr id="90" name="Google Shape;90;p15"/>
          <p:cNvSpPr txBox="1"/>
          <p:nvPr/>
        </p:nvSpPr>
        <p:spPr>
          <a:xfrm>
            <a:off x="4821600" y="1011125"/>
            <a:ext cx="3879000" cy="333300"/>
          </a:xfrm>
          <a:prstGeom prst="rect">
            <a:avLst/>
          </a:prstGeom>
          <a:noFill/>
          <a:ln w="19050" cap="flat" cmpd="sng">
            <a:solidFill>
              <a:srgbClr val="4A154B"/>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100"/>
              <a:buFont typeface="Arial"/>
              <a:buNone/>
            </a:pPr>
            <a:r>
              <a:rPr lang="en" sz="1300" b="1">
                <a:solidFill>
                  <a:srgbClr val="4A154B"/>
                </a:solidFill>
                <a:latin typeface="Noto Sans"/>
                <a:ea typeface="Noto Sans"/>
                <a:cs typeface="Noto Sans"/>
                <a:sym typeface="Noto Sans"/>
              </a:rPr>
              <a:t>Future of Work</a:t>
            </a:r>
            <a:endParaRPr sz="1300" b="1">
              <a:solidFill>
                <a:srgbClr val="4A154B"/>
              </a:solidFill>
              <a:latin typeface="Noto Sans"/>
              <a:ea typeface="Noto Sans"/>
              <a:cs typeface="Noto Sans"/>
              <a:sym typeface="Noto Sans"/>
            </a:endParaRPr>
          </a:p>
        </p:txBody>
      </p:sp>
      <p:sp>
        <p:nvSpPr>
          <p:cNvPr id="91" name="Google Shape;91;p15"/>
          <p:cNvSpPr txBox="1"/>
          <p:nvPr/>
        </p:nvSpPr>
        <p:spPr>
          <a:xfrm>
            <a:off x="4821598" y="1435800"/>
            <a:ext cx="3879000" cy="314010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Clr>
                <a:srgbClr val="666666"/>
              </a:buClr>
              <a:buSzPts val="1200"/>
              <a:buFont typeface="Noto Sans"/>
              <a:buChar char="●"/>
            </a:pPr>
            <a:r>
              <a:rPr lang="en" sz="1200">
                <a:solidFill>
                  <a:srgbClr val="666666"/>
                </a:solidFill>
                <a:latin typeface="Noto Sans"/>
                <a:ea typeface="Noto Sans"/>
                <a:cs typeface="Noto Sans"/>
                <a:sym typeface="Noto Sans"/>
              </a:rPr>
              <a:t>Many companies embraced remote working during the pandemic</a:t>
            </a:r>
            <a:endParaRPr sz="1200">
              <a:solidFill>
                <a:srgbClr val="666666"/>
              </a:solidFill>
              <a:latin typeface="Noto Sans"/>
              <a:ea typeface="Noto Sans"/>
              <a:cs typeface="Noto Sans"/>
              <a:sym typeface="Noto Sans"/>
            </a:endParaRPr>
          </a:p>
          <a:p>
            <a:pPr marL="457200" lvl="0" indent="-304800" algn="l" rtl="0">
              <a:spcBef>
                <a:spcPts val="0"/>
              </a:spcBef>
              <a:spcAft>
                <a:spcPts val="0"/>
              </a:spcAft>
              <a:buClr>
                <a:srgbClr val="666666"/>
              </a:buClr>
              <a:buSzPts val="1200"/>
              <a:buFont typeface="Noto Sans"/>
              <a:buChar char="●"/>
            </a:pPr>
            <a:r>
              <a:rPr lang="en" sz="1200">
                <a:solidFill>
                  <a:srgbClr val="666666"/>
                </a:solidFill>
                <a:latin typeface="Noto Sans"/>
                <a:ea typeface="Noto Sans"/>
                <a:cs typeface="Noto Sans"/>
                <a:sym typeface="Noto Sans"/>
              </a:rPr>
              <a:t>Slack customer base growth accelerated, playing a key role in enabling remote work</a:t>
            </a:r>
            <a:endParaRPr sz="1200">
              <a:solidFill>
                <a:srgbClr val="666666"/>
              </a:solidFill>
              <a:latin typeface="Noto Sans"/>
              <a:ea typeface="Noto Sans"/>
              <a:cs typeface="Noto Sans"/>
              <a:sym typeface="Noto Sans"/>
            </a:endParaRPr>
          </a:p>
          <a:p>
            <a:pPr marL="457200" lvl="0" indent="-304800" algn="l" rtl="0">
              <a:spcBef>
                <a:spcPts val="0"/>
              </a:spcBef>
              <a:spcAft>
                <a:spcPts val="0"/>
              </a:spcAft>
              <a:buClr>
                <a:srgbClr val="666666"/>
              </a:buClr>
              <a:buSzPts val="1200"/>
              <a:buFont typeface="Noto Sans"/>
              <a:buChar char="●"/>
            </a:pPr>
            <a:r>
              <a:rPr lang="en" sz="1200">
                <a:solidFill>
                  <a:srgbClr val="666666"/>
                </a:solidFill>
                <a:latin typeface="Noto Sans"/>
                <a:ea typeface="Noto Sans"/>
                <a:cs typeface="Noto Sans"/>
                <a:sym typeface="Noto Sans"/>
              </a:rPr>
              <a:t>As many organizations face a return to office mandate or a shift to hybrid working models, Slack must adapt to ensure its success</a:t>
            </a:r>
            <a:endParaRPr sz="1200">
              <a:solidFill>
                <a:srgbClr val="666666"/>
              </a:solidFill>
              <a:latin typeface="Noto Sans"/>
              <a:ea typeface="Noto Sans"/>
              <a:cs typeface="Noto Sans"/>
              <a:sym typeface="Noto Sans"/>
            </a:endParaRPr>
          </a:p>
          <a:p>
            <a:pPr marL="457200" lvl="0" indent="-304800" algn="l" rtl="0">
              <a:spcBef>
                <a:spcPts val="0"/>
              </a:spcBef>
              <a:spcAft>
                <a:spcPts val="0"/>
              </a:spcAft>
              <a:buClr>
                <a:srgbClr val="666666"/>
              </a:buClr>
              <a:buSzPts val="1200"/>
              <a:buFont typeface="Noto Sans"/>
              <a:buChar char="●"/>
            </a:pPr>
            <a:r>
              <a:rPr lang="en" sz="1200">
                <a:solidFill>
                  <a:srgbClr val="666666"/>
                </a:solidFill>
                <a:latin typeface="Noto Sans"/>
                <a:ea typeface="Noto Sans"/>
                <a:cs typeface="Noto Sans"/>
                <a:sym typeface="Noto Sans"/>
              </a:rPr>
              <a:t>Specifically, Slack can help bridge the gap between remote and in-person work environments by streamlining communications</a:t>
            </a:r>
            <a:endParaRPr sz="1200">
              <a:solidFill>
                <a:srgbClr val="666666"/>
              </a:solidFill>
              <a:latin typeface="Noto Sans"/>
              <a:ea typeface="Noto Sans"/>
              <a:cs typeface="Noto Sans"/>
              <a:sym typeface="Noto Sans"/>
            </a:endParaRPr>
          </a:p>
          <a:p>
            <a:pPr marL="457200" lvl="0" indent="0" algn="l" rtl="0">
              <a:spcBef>
                <a:spcPts val="0"/>
              </a:spcBef>
              <a:spcAft>
                <a:spcPts val="0"/>
              </a:spcAft>
              <a:buNone/>
            </a:pPr>
            <a:endParaRPr sz="1200">
              <a:solidFill>
                <a:srgbClr val="666666"/>
              </a:solidFill>
              <a:latin typeface="Noto Sans"/>
              <a:ea typeface="Noto Sans"/>
              <a:cs typeface="Noto Sans"/>
              <a:sym typeface="Noto Sans"/>
            </a:endParaRPr>
          </a:p>
          <a:p>
            <a:pPr marL="0" lvl="0" indent="0" algn="l" rtl="0">
              <a:spcBef>
                <a:spcPts val="0"/>
              </a:spcBef>
              <a:spcAft>
                <a:spcPts val="0"/>
              </a:spcAft>
              <a:buNone/>
            </a:pPr>
            <a:r>
              <a:rPr lang="en" sz="1200">
                <a:solidFill>
                  <a:srgbClr val="666666"/>
                </a:solidFill>
                <a:latin typeface="Noto Sans"/>
                <a:ea typeface="Noto Sans"/>
                <a:cs typeface="Noto Sans"/>
                <a:sym typeface="Noto Sans"/>
              </a:rPr>
              <a:t>As the future of work continues to evolve, tools like Slack will play a crucial role in enabling remote and hybrid work models, supporting collaboration, and enhancing overall productivity</a:t>
            </a:r>
            <a:endParaRPr sz="1200">
              <a:solidFill>
                <a:srgbClr val="666666"/>
              </a:solidFill>
              <a:latin typeface="Noto Sans"/>
              <a:ea typeface="Noto Sans"/>
              <a:cs typeface="Noto Sans"/>
              <a:sym typeface="Noto Sans"/>
            </a:endParaRPr>
          </a:p>
        </p:txBody>
      </p:sp>
      <p:sp>
        <p:nvSpPr>
          <p:cNvPr id="92" name="Google Shape;92;p15"/>
          <p:cNvSpPr/>
          <p:nvPr/>
        </p:nvSpPr>
        <p:spPr>
          <a:xfrm>
            <a:off x="9236175" y="-35675"/>
            <a:ext cx="834900" cy="730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AC</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6"/>
          <p:cNvSpPr/>
          <p:nvPr/>
        </p:nvSpPr>
        <p:spPr>
          <a:xfrm>
            <a:off x="0" y="1025"/>
            <a:ext cx="9144000" cy="5143500"/>
          </a:xfrm>
          <a:prstGeom prst="rect">
            <a:avLst/>
          </a:prstGeom>
          <a:solidFill>
            <a:srgbClr val="FFFA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 name="Google Shape;98;p16"/>
          <p:cNvSpPr txBox="1"/>
          <p:nvPr/>
        </p:nvSpPr>
        <p:spPr>
          <a:xfrm>
            <a:off x="5416475" y="1255150"/>
            <a:ext cx="3601200" cy="3774000"/>
          </a:xfrm>
          <a:prstGeom prst="rect">
            <a:avLst/>
          </a:prstGeom>
          <a:noFill/>
          <a:ln w="19050" cap="flat" cmpd="sng">
            <a:solidFill>
              <a:srgbClr val="FFFAEF"/>
            </a:solidFill>
            <a:prstDash val="solid"/>
            <a:round/>
            <a:headEnd type="none" w="sm" len="sm"/>
            <a:tailEnd type="none" w="sm" len="sm"/>
          </a:ln>
        </p:spPr>
        <p:txBody>
          <a:bodyPr spcFirstLastPara="1" wrap="square" lIns="91425" tIns="91425" rIns="91425" bIns="91425" anchor="ctr" anchorCtr="0">
            <a:noAutofit/>
          </a:bodyPr>
          <a:lstStyle/>
          <a:p>
            <a:pPr marL="457200" marR="0" lvl="0" indent="-304800" algn="l" rtl="0">
              <a:lnSpc>
                <a:spcPct val="100000"/>
              </a:lnSpc>
              <a:spcBef>
                <a:spcPts val="0"/>
              </a:spcBef>
              <a:spcAft>
                <a:spcPts val="0"/>
              </a:spcAft>
              <a:buClr>
                <a:srgbClr val="4A154B"/>
              </a:buClr>
              <a:buSzPts val="1200"/>
              <a:buFont typeface="Noto Sans"/>
              <a:buChar char="●"/>
            </a:pPr>
            <a:r>
              <a:rPr lang="en" sz="1200" b="1">
                <a:solidFill>
                  <a:srgbClr val="4A154B"/>
                </a:solidFill>
                <a:latin typeface="Noto Sans"/>
                <a:ea typeface="Noto Sans"/>
                <a:cs typeface="Noto Sans"/>
                <a:sym typeface="Noto Sans"/>
              </a:rPr>
              <a:t>Persona:</a:t>
            </a:r>
            <a:endParaRPr sz="1200" b="1">
              <a:solidFill>
                <a:srgbClr val="4A154B"/>
              </a:solidFill>
              <a:latin typeface="Noto Sans"/>
              <a:ea typeface="Noto Sans"/>
              <a:cs typeface="Noto Sans"/>
              <a:sym typeface="Noto Sans"/>
            </a:endParaRPr>
          </a:p>
          <a:p>
            <a:pPr marL="914400" lvl="1" indent="-304800" algn="l" rtl="0">
              <a:spcBef>
                <a:spcPts val="0"/>
              </a:spcBef>
              <a:spcAft>
                <a:spcPts val="0"/>
              </a:spcAft>
              <a:buClr>
                <a:srgbClr val="4A154B"/>
              </a:buClr>
              <a:buSzPts val="1200"/>
              <a:buFont typeface="Noto Sans"/>
              <a:buChar char="○"/>
            </a:pPr>
            <a:r>
              <a:rPr lang="en" sz="1200">
                <a:solidFill>
                  <a:srgbClr val="4A154B"/>
                </a:solidFill>
                <a:latin typeface="Noto Sans"/>
                <a:ea typeface="Noto Sans"/>
                <a:cs typeface="Noto Sans"/>
                <a:sym typeface="Noto Sans"/>
              </a:rPr>
              <a:t>Large company with premium plans and high customization needs, such as Cisco or Crowdstrike </a:t>
            </a:r>
            <a:endParaRPr sz="1200">
              <a:solidFill>
                <a:srgbClr val="4A154B"/>
              </a:solidFill>
              <a:latin typeface="Noto Sans"/>
              <a:ea typeface="Noto Sans"/>
              <a:cs typeface="Noto Sans"/>
              <a:sym typeface="Noto Sans"/>
            </a:endParaRPr>
          </a:p>
          <a:p>
            <a:pPr marL="914400" lvl="0" indent="0" algn="l" rtl="0">
              <a:spcBef>
                <a:spcPts val="0"/>
              </a:spcBef>
              <a:spcAft>
                <a:spcPts val="0"/>
              </a:spcAft>
              <a:buNone/>
            </a:pPr>
            <a:endParaRPr sz="1200">
              <a:solidFill>
                <a:srgbClr val="4A154B"/>
              </a:solidFill>
              <a:latin typeface="Noto Sans"/>
              <a:ea typeface="Noto Sans"/>
              <a:cs typeface="Noto Sans"/>
              <a:sym typeface="Noto Sans"/>
            </a:endParaRPr>
          </a:p>
          <a:p>
            <a:pPr marL="457200" lvl="0" indent="-304800" algn="l" rtl="0">
              <a:spcBef>
                <a:spcPts val="0"/>
              </a:spcBef>
              <a:spcAft>
                <a:spcPts val="0"/>
              </a:spcAft>
              <a:buClr>
                <a:srgbClr val="4A154B"/>
              </a:buClr>
              <a:buSzPts val="1200"/>
              <a:buFont typeface="Noto Sans"/>
              <a:buChar char="●"/>
            </a:pPr>
            <a:r>
              <a:rPr lang="en" sz="1200" b="1">
                <a:solidFill>
                  <a:srgbClr val="4A154B"/>
                </a:solidFill>
                <a:latin typeface="Noto Sans"/>
                <a:ea typeface="Noto Sans"/>
                <a:cs typeface="Noto Sans"/>
                <a:sym typeface="Noto Sans"/>
              </a:rPr>
              <a:t>Customer Journey:</a:t>
            </a:r>
            <a:endParaRPr sz="1200" b="1">
              <a:solidFill>
                <a:srgbClr val="4A154B"/>
              </a:solidFill>
              <a:latin typeface="Noto Sans"/>
              <a:ea typeface="Noto Sans"/>
              <a:cs typeface="Noto Sans"/>
              <a:sym typeface="Noto Sans"/>
            </a:endParaRPr>
          </a:p>
          <a:p>
            <a:pPr marL="914400" marR="0" lvl="1" indent="-304800" algn="l" rtl="0">
              <a:lnSpc>
                <a:spcPct val="100000"/>
              </a:lnSpc>
              <a:spcBef>
                <a:spcPts val="0"/>
              </a:spcBef>
              <a:spcAft>
                <a:spcPts val="0"/>
              </a:spcAft>
              <a:buClr>
                <a:srgbClr val="4A154B"/>
              </a:buClr>
              <a:buSzPts val="1200"/>
              <a:buFont typeface="Noto Sans"/>
              <a:buChar char="○"/>
            </a:pPr>
            <a:r>
              <a:rPr lang="en" sz="1200">
                <a:solidFill>
                  <a:srgbClr val="4A154B"/>
                </a:solidFill>
                <a:latin typeface="Noto Sans"/>
                <a:ea typeface="Noto Sans"/>
                <a:cs typeface="Noto Sans"/>
                <a:sym typeface="Noto Sans"/>
              </a:rPr>
              <a:t>The user struggles to stay on top of their Slack backlog due to notification overload. </a:t>
            </a:r>
            <a:endParaRPr sz="1200">
              <a:solidFill>
                <a:srgbClr val="4A154B"/>
              </a:solidFill>
              <a:latin typeface="Noto Sans"/>
              <a:ea typeface="Noto Sans"/>
              <a:cs typeface="Noto Sans"/>
              <a:sym typeface="Noto Sans"/>
            </a:endParaRPr>
          </a:p>
          <a:p>
            <a:pPr marL="914400" marR="0" lvl="1" indent="-304800" algn="l" rtl="0">
              <a:lnSpc>
                <a:spcPct val="100000"/>
              </a:lnSpc>
              <a:spcBef>
                <a:spcPts val="0"/>
              </a:spcBef>
              <a:spcAft>
                <a:spcPts val="0"/>
              </a:spcAft>
              <a:buClr>
                <a:srgbClr val="4A154B"/>
              </a:buClr>
              <a:buSzPts val="1200"/>
              <a:buFont typeface="Noto Sans"/>
              <a:buChar char="○"/>
            </a:pPr>
            <a:r>
              <a:rPr lang="en" sz="1200">
                <a:solidFill>
                  <a:srgbClr val="4A154B"/>
                </a:solidFill>
                <a:latin typeface="Noto Sans"/>
                <a:ea typeface="Noto Sans"/>
                <a:cs typeface="Noto Sans"/>
                <a:sym typeface="Noto Sans"/>
              </a:rPr>
              <a:t>They miss key messages, especially when they are in the office.</a:t>
            </a:r>
            <a:endParaRPr sz="1200">
              <a:solidFill>
                <a:srgbClr val="4A154B"/>
              </a:solidFill>
              <a:latin typeface="Noto Sans"/>
              <a:ea typeface="Noto Sans"/>
              <a:cs typeface="Noto Sans"/>
              <a:sym typeface="Noto Sans"/>
            </a:endParaRPr>
          </a:p>
          <a:p>
            <a:pPr marL="914400" marR="0" lvl="1" indent="-304800" algn="l" rtl="0">
              <a:lnSpc>
                <a:spcPct val="100000"/>
              </a:lnSpc>
              <a:spcBef>
                <a:spcPts val="0"/>
              </a:spcBef>
              <a:spcAft>
                <a:spcPts val="0"/>
              </a:spcAft>
              <a:buClr>
                <a:srgbClr val="4A154B"/>
              </a:buClr>
              <a:buSzPts val="1200"/>
              <a:buFont typeface="Noto Sans"/>
              <a:buChar char="○"/>
            </a:pPr>
            <a:r>
              <a:rPr lang="en" sz="1200">
                <a:solidFill>
                  <a:srgbClr val="4A154B"/>
                </a:solidFill>
                <a:latin typeface="Noto Sans"/>
                <a:ea typeface="Noto Sans"/>
                <a:cs typeface="Noto Sans"/>
                <a:sym typeface="Noto Sans"/>
              </a:rPr>
              <a:t>They waste time searching for specific information within cluttered Slack channels and threads. </a:t>
            </a:r>
            <a:endParaRPr sz="1200">
              <a:solidFill>
                <a:srgbClr val="4A154B"/>
              </a:solidFill>
              <a:latin typeface="Noto Sans"/>
              <a:ea typeface="Noto Sans"/>
              <a:cs typeface="Noto Sans"/>
              <a:sym typeface="Noto Sans"/>
            </a:endParaRPr>
          </a:p>
          <a:p>
            <a:pPr marL="914400" marR="0" lvl="1" indent="-304800" algn="l" rtl="0">
              <a:lnSpc>
                <a:spcPct val="100000"/>
              </a:lnSpc>
              <a:spcBef>
                <a:spcPts val="0"/>
              </a:spcBef>
              <a:spcAft>
                <a:spcPts val="0"/>
              </a:spcAft>
              <a:buClr>
                <a:srgbClr val="4A154B"/>
              </a:buClr>
              <a:buSzPts val="1200"/>
              <a:buFont typeface="Noto Sans"/>
              <a:buChar char="○"/>
            </a:pPr>
            <a:r>
              <a:rPr lang="en" sz="1200">
                <a:solidFill>
                  <a:srgbClr val="4A154B"/>
                </a:solidFill>
                <a:latin typeface="Noto Sans"/>
                <a:ea typeface="Noto Sans"/>
                <a:cs typeface="Noto Sans"/>
                <a:sym typeface="Noto Sans"/>
              </a:rPr>
              <a:t>These inefficiencies leads to decreased productivity and lower satisfaction with Slack.</a:t>
            </a:r>
            <a:endParaRPr sz="1200">
              <a:solidFill>
                <a:srgbClr val="4A154B"/>
              </a:solidFill>
              <a:latin typeface="Noto Sans"/>
              <a:ea typeface="Noto Sans"/>
              <a:cs typeface="Noto Sans"/>
              <a:sym typeface="Noto Sans"/>
            </a:endParaRPr>
          </a:p>
        </p:txBody>
      </p:sp>
      <p:sp>
        <p:nvSpPr>
          <p:cNvPr id="99" name="Google Shape;99;p16"/>
          <p:cNvSpPr txBox="1"/>
          <p:nvPr/>
        </p:nvSpPr>
        <p:spPr>
          <a:xfrm>
            <a:off x="282925" y="761188"/>
            <a:ext cx="4973400" cy="550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i="1">
                <a:solidFill>
                  <a:srgbClr val="4A154B"/>
                </a:solidFill>
                <a:latin typeface="Noto Sans"/>
                <a:ea typeface="Noto Sans"/>
                <a:cs typeface="Noto Sans"/>
                <a:sym typeface="Noto Sans"/>
              </a:rPr>
              <a:t>The Intelligent Notifications feature addresses key pain points that will be exacerbated by return to office shifts</a:t>
            </a:r>
            <a:endParaRPr i="1">
              <a:solidFill>
                <a:srgbClr val="4A154B"/>
              </a:solidFill>
              <a:latin typeface="Noto Sans"/>
              <a:ea typeface="Noto Sans"/>
              <a:cs typeface="Noto Sans"/>
              <a:sym typeface="Noto Sans"/>
            </a:endParaRPr>
          </a:p>
        </p:txBody>
      </p:sp>
      <p:sp>
        <p:nvSpPr>
          <p:cNvPr id="100" name="Google Shape;100;p16"/>
          <p:cNvSpPr/>
          <p:nvPr/>
        </p:nvSpPr>
        <p:spPr>
          <a:xfrm>
            <a:off x="0" y="1032"/>
            <a:ext cx="9144000" cy="730800"/>
          </a:xfrm>
          <a:prstGeom prst="rect">
            <a:avLst/>
          </a:prstGeom>
          <a:solidFill>
            <a:srgbClr val="EBB12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1">
                <a:solidFill>
                  <a:srgbClr val="FFFAEF"/>
                </a:solidFill>
                <a:latin typeface="Noto Sans"/>
                <a:ea typeface="Noto Sans"/>
                <a:cs typeface="Noto Sans"/>
                <a:sym typeface="Noto Sans"/>
              </a:rPr>
              <a:t>Customer surveys &amp; interviews unearthed key pain points – specifically, in searching for messages or clearing overloaded notifications – even for large, premium Slack users</a:t>
            </a:r>
            <a:endParaRPr sz="1700" b="1" i="0" u="none" strike="noStrike" cap="none">
              <a:solidFill>
                <a:srgbClr val="FFFAEF"/>
              </a:solidFill>
              <a:latin typeface="Noto Sans"/>
              <a:ea typeface="Noto Sans"/>
              <a:cs typeface="Noto Sans"/>
              <a:sym typeface="Noto Sans"/>
            </a:endParaRPr>
          </a:p>
        </p:txBody>
      </p:sp>
      <p:sp>
        <p:nvSpPr>
          <p:cNvPr id="101" name="Google Shape;101;p16"/>
          <p:cNvSpPr txBox="1"/>
          <p:nvPr/>
        </p:nvSpPr>
        <p:spPr>
          <a:xfrm>
            <a:off x="282925" y="3029363"/>
            <a:ext cx="4973400" cy="550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i="1">
                <a:solidFill>
                  <a:srgbClr val="4A154B"/>
                </a:solidFill>
                <a:latin typeface="Noto Sans"/>
                <a:ea typeface="Noto Sans"/>
                <a:cs typeface="Noto Sans"/>
                <a:sym typeface="Noto Sans"/>
              </a:rPr>
              <a:t>We identified and validated this problem through extensive customer research</a:t>
            </a:r>
            <a:endParaRPr i="1">
              <a:solidFill>
                <a:srgbClr val="4A154B"/>
              </a:solidFill>
              <a:latin typeface="Noto Sans"/>
              <a:ea typeface="Noto Sans"/>
              <a:cs typeface="Noto Sans"/>
              <a:sym typeface="Noto Sans"/>
            </a:endParaRPr>
          </a:p>
        </p:txBody>
      </p:sp>
      <p:sp>
        <p:nvSpPr>
          <p:cNvPr id="102" name="Google Shape;102;p16"/>
          <p:cNvSpPr txBox="1"/>
          <p:nvPr/>
        </p:nvSpPr>
        <p:spPr>
          <a:xfrm>
            <a:off x="282925" y="1340750"/>
            <a:ext cx="4905900" cy="1671600"/>
          </a:xfrm>
          <a:prstGeom prst="rect">
            <a:avLst/>
          </a:prstGeom>
          <a:noFill/>
          <a:ln w="19050" cap="flat" cmpd="sng">
            <a:solidFill>
              <a:srgbClr val="FFFAEF"/>
            </a:solidFill>
            <a:prstDash val="solid"/>
            <a:round/>
            <a:headEnd type="none" w="sm" len="sm"/>
            <a:tailEnd type="none" w="sm" len="sm"/>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rgbClr val="4A154B"/>
              </a:buClr>
              <a:buSzPts val="1200"/>
              <a:buFont typeface="Noto Sans"/>
              <a:buChar char="●"/>
            </a:pPr>
            <a:r>
              <a:rPr lang="en" sz="1200" b="1">
                <a:solidFill>
                  <a:srgbClr val="4A154B"/>
                </a:solidFill>
                <a:latin typeface="Noto Sans"/>
                <a:ea typeface="Noto Sans"/>
                <a:cs typeface="Noto Sans"/>
                <a:sym typeface="Noto Sans"/>
              </a:rPr>
              <a:t>Search &amp; Organisation Issues</a:t>
            </a:r>
            <a:endParaRPr sz="1200" b="1">
              <a:solidFill>
                <a:srgbClr val="4A154B"/>
              </a:solidFill>
              <a:latin typeface="Noto Sans"/>
              <a:ea typeface="Noto Sans"/>
              <a:cs typeface="Noto Sans"/>
              <a:sym typeface="Noto Sans"/>
            </a:endParaRPr>
          </a:p>
          <a:p>
            <a:pPr marL="914400" lvl="1" indent="-304800" algn="l" rtl="0">
              <a:spcBef>
                <a:spcPts val="0"/>
              </a:spcBef>
              <a:spcAft>
                <a:spcPts val="0"/>
              </a:spcAft>
              <a:buClr>
                <a:srgbClr val="4A154B"/>
              </a:buClr>
              <a:buSzPts val="1200"/>
              <a:buFont typeface="Noto Sans"/>
              <a:buChar char="○"/>
            </a:pPr>
            <a:r>
              <a:rPr lang="en" sz="1200">
                <a:solidFill>
                  <a:srgbClr val="4A154B"/>
                </a:solidFill>
                <a:latin typeface="Noto Sans"/>
                <a:ea typeface="Noto Sans"/>
                <a:cs typeface="Noto Sans"/>
                <a:sym typeface="Noto Sans"/>
              </a:rPr>
              <a:t>Users struggle to find past messages, files, and announcements due to Slack’s limited search and cluttered threads </a:t>
            </a:r>
            <a:endParaRPr sz="1200">
              <a:solidFill>
                <a:srgbClr val="4A154B"/>
              </a:solidFill>
              <a:latin typeface="Noto Sans"/>
              <a:ea typeface="Noto Sans"/>
              <a:cs typeface="Noto Sans"/>
              <a:sym typeface="Noto Sans"/>
            </a:endParaRPr>
          </a:p>
          <a:p>
            <a:pPr marL="457200" lvl="0" indent="-304800" algn="l" rtl="0">
              <a:spcBef>
                <a:spcPts val="0"/>
              </a:spcBef>
              <a:spcAft>
                <a:spcPts val="0"/>
              </a:spcAft>
              <a:buClr>
                <a:srgbClr val="4A154B"/>
              </a:buClr>
              <a:buSzPts val="1200"/>
              <a:buFont typeface="Noto Sans"/>
              <a:buChar char="●"/>
            </a:pPr>
            <a:r>
              <a:rPr lang="en" sz="1200" b="1">
                <a:solidFill>
                  <a:srgbClr val="4A154B"/>
                </a:solidFill>
                <a:latin typeface="Noto Sans"/>
                <a:ea typeface="Noto Sans"/>
                <a:cs typeface="Noto Sans"/>
                <a:sym typeface="Noto Sans"/>
              </a:rPr>
              <a:t>Notification Overload</a:t>
            </a:r>
            <a:endParaRPr sz="1200" b="1">
              <a:solidFill>
                <a:srgbClr val="4A154B"/>
              </a:solidFill>
              <a:latin typeface="Noto Sans"/>
              <a:ea typeface="Noto Sans"/>
              <a:cs typeface="Noto Sans"/>
              <a:sym typeface="Noto Sans"/>
            </a:endParaRPr>
          </a:p>
          <a:p>
            <a:pPr marL="914400" marR="0" lvl="1" indent="-304800" algn="l" rtl="0">
              <a:lnSpc>
                <a:spcPct val="100000"/>
              </a:lnSpc>
              <a:spcBef>
                <a:spcPts val="0"/>
              </a:spcBef>
              <a:spcAft>
                <a:spcPts val="0"/>
              </a:spcAft>
              <a:buClr>
                <a:srgbClr val="4A154B"/>
              </a:buClr>
              <a:buSzPts val="1200"/>
              <a:buFont typeface="Noto Sans"/>
              <a:buChar char="○"/>
            </a:pPr>
            <a:r>
              <a:rPr lang="en" sz="1200">
                <a:solidFill>
                  <a:srgbClr val="4A154B"/>
                </a:solidFill>
                <a:latin typeface="Noto Sans"/>
                <a:ea typeface="Noto Sans"/>
                <a:cs typeface="Noto Sans"/>
                <a:sym typeface="Noto Sans"/>
              </a:rPr>
              <a:t>A key pain point is lack of intelligent notification management, causing users to get overwhelmed and lose track of high priority messages</a:t>
            </a:r>
            <a:endParaRPr sz="1200">
              <a:solidFill>
                <a:srgbClr val="4A154B"/>
              </a:solidFill>
              <a:latin typeface="Noto Sans"/>
              <a:ea typeface="Noto Sans"/>
              <a:cs typeface="Noto Sans"/>
              <a:sym typeface="Noto Sans"/>
            </a:endParaRPr>
          </a:p>
        </p:txBody>
      </p:sp>
      <p:sp>
        <p:nvSpPr>
          <p:cNvPr id="103" name="Google Shape;103;p16"/>
          <p:cNvSpPr txBox="1"/>
          <p:nvPr/>
        </p:nvSpPr>
        <p:spPr>
          <a:xfrm>
            <a:off x="282925" y="3596600"/>
            <a:ext cx="4905900" cy="1432500"/>
          </a:xfrm>
          <a:prstGeom prst="rect">
            <a:avLst/>
          </a:prstGeom>
          <a:noFill/>
          <a:ln w="19050" cap="flat" cmpd="sng">
            <a:solidFill>
              <a:srgbClr val="FFFAEF"/>
            </a:solidFill>
            <a:prstDash val="solid"/>
            <a:round/>
            <a:headEnd type="none" w="sm" len="sm"/>
            <a:tailEnd type="none" w="sm" len="sm"/>
          </a:ln>
        </p:spPr>
        <p:txBody>
          <a:bodyPr spcFirstLastPara="1" wrap="square" lIns="91425" tIns="91425" rIns="91425" bIns="91425" anchor="t" anchorCtr="0">
            <a:noAutofit/>
          </a:bodyPr>
          <a:lstStyle/>
          <a:p>
            <a:pPr marL="457200" lvl="0" indent="-304800" algn="l" rtl="0">
              <a:spcBef>
                <a:spcPts val="0"/>
              </a:spcBef>
              <a:spcAft>
                <a:spcPts val="0"/>
              </a:spcAft>
              <a:buClr>
                <a:srgbClr val="4A154B"/>
              </a:buClr>
              <a:buSzPts val="1200"/>
              <a:buFont typeface="Noto Sans"/>
              <a:buChar char="●"/>
            </a:pPr>
            <a:r>
              <a:rPr lang="en" sz="1200" b="1">
                <a:solidFill>
                  <a:srgbClr val="4A154B"/>
                </a:solidFill>
                <a:latin typeface="Noto Sans"/>
                <a:ea typeface="Noto Sans"/>
                <a:cs typeface="Noto Sans"/>
                <a:sym typeface="Noto Sans"/>
              </a:rPr>
              <a:t>User Interviews and UGC analysis</a:t>
            </a:r>
            <a:endParaRPr sz="1200" b="1">
              <a:solidFill>
                <a:srgbClr val="4A154B"/>
              </a:solidFill>
              <a:latin typeface="Noto Sans"/>
              <a:ea typeface="Noto Sans"/>
              <a:cs typeface="Noto Sans"/>
              <a:sym typeface="Noto Sans"/>
            </a:endParaRPr>
          </a:p>
          <a:p>
            <a:pPr marL="914400" lvl="1" indent="-304800" algn="l" rtl="0">
              <a:spcBef>
                <a:spcPts val="0"/>
              </a:spcBef>
              <a:spcAft>
                <a:spcPts val="0"/>
              </a:spcAft>
              <a:buClr>
                <a:srgbClr val="4A154B"/>
              </a:buClr>
              <a:buSzPts val="1200"/>
              <a:buFont typeface="Noto Sans"/>
              <a:buChar char="○"/>
            </a:pPr>
            <a:r>
              <a:rPr lang="en" sz="1200">
                <a:solidFill>
                  <a:srgbClr val="4A154B"/>
                </a:solidFill>
                <a:latin typeface="Noto Sans"/>
                <a:ea typeface="Noto Sans"/>
                <a:cs typeface="Noto Sans"/>
                <a:sym typeface="Noto Sans"/>
              </a:rPr>
              <a:t>Gathering insights from diverse user groups and UGC helped identify these insights</a:t>
            </a:r>
            <a:endParaRPr sz="1200">
              <a:solidFill>
                <a:srgbClr val="4A154B"/>
              </a:solidFill>
              <a:latin typeface="Noto Sans"/>
              <a:ea typeface="Noto Sans"/>
              <a:cs typeface="Noto Sans"/>
              <a:sym typeface="Noto Sans"/>
            </a:endParaRPr>
          </a:p>
          <a:p>
            <a:pPr marL="457200" lvl="0" indent="-304800" algn="l" rtl="0">
              <a:spcBef>
                <a:spcPts val="0"/>
              </a:spcBef>
              <a:spcAft>
                <a:spcPts val="0"/>
              </a:spcAft>
              <a:buClr>
                <a:srgbClr val="4A154B"/>
              </a:buClr>
              <a:buSzPts val="1200"/>
              <a:buFont typeface="Noto Sans"/>
              <a:buChar char="●"/>
            </a:pPr>
            <a:r>
              <a:rPr lang="en" sz="1200" b="1">
                <a:solidFill>
                  <a:srgbClr val="4A154B"/>
                </a:solidFill>
                <a:latin typeface="Noto Sans"/>
                <a:ea typeface="Noto Sans"/>
                <a:cs typeface="Noto Sans"/>
                <a:sym typeface="Noto Sans"/>
              </a:rPr>
              <a:t>Real-Life Use Cases</a:t>
            </a:r>
            <a:endParaRPr sz="1200" b="1">
              <a:solidFill>
                <a:srgbClr val="4A154B"/>
              </a:solidFill>
              <a:latin typeface="Noto Sans"/>
              <a:ea typeface="Noto Sans"/>
              <a:cs typeface="Noto Sans"/>
              <a:sym typeface="Noto Sans"/>
            </a:endParaRPr>
          </a:p>
          <a:p>
            <a:pPr marL="914400" lvl="1" indent="-304800" algn="l" rtl="0">
              <a:spcBef>
                <a:spcPts val="0"/>
              </a:spcBef>
              <a:spcAft>
                <a:spcPts val="0"/>
              </a:spcAft>
              <a:buClr>
                <a:srgbClr val="4A154B"/>
              </a:buClr>
              <a:buSzPts val="1200"/>
              <a:buFont typeface="Noto Sans"/>
              <a:buChar char="○"/>
            </a:pPr>
            <a:r>
              <a:rPr lang="en" sz="1200">
                <a:solidFill>
                  <a:srgbClr val="4A154B"/>
                </a:solidFill>
                <a:latin typeface="Noto Sans"/>
                <a:ea typeface="Noto Sans"/>
                <a:cs typeface="Noto Sans"/>
                <a:sym typeface="Noto Sans"/>
              </a:rPr>
              <a:t>People shared specific examples of their concerns with Slack right now, especially compared to other platforms</a:t>
            </a:r>
            <a:endParaRPr sz="1200">
              <a:solidFill>
                <a:srgbClr val="4A154B"/>
              </a:solidFill>
              <a:latin typeface="Noto Sans"/>
              <a:ea typeface="Noto Sans"/>
              <a:cs typeface="Noto Sans"/>
              <a:sym typeface="Noto Sans"/>
            </a:endParaRPr>
          </a:p>
          <a:p>
            <a:pPr marL="0" lvl="0" indent="0" algn="l" rtl="0">
              <a:spcBef>
                <a:spcPts val="0"/>
              </a:spcBef>
              <a:spcAft>
                <a:spcPts val="0"/>
              </a:spcAft>
              <a:buNone/>
            </a:pPr>
            <a:endParaRPr sz="1200">
              <a:solidFill>
                <a:srgbClr val="4A154B"/>
              </a:solidFill>
              <a:latin typeface="Noto Sans"/>
              <a:ea typeface="Noto Sans"/>
              <a:cs typeface="Noto Sans"/>
              <a:sym typeface="Noto Sans"/>
            </a:endParaRPr>
          </a:p>
        </p:txBody>
      </p:sp>
      <p:sp>
        <p:nvSpPr>
          <p:cNvPr id="104" name="Google Shape;104;p16"/>
          <p:cNvSpPr txBox="1"/>
          <p:nvPr/>
        </p:nvSpPr>
        <p:spPr>
          <a:xfrm>
            <a:off x="5416475" y="716925"/>
            <a:ext cx="3601200" cy="550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b="1" i="1">
                <a:solidFill>
                  <a:srgbClr val="4A154B"/>
                </a:solidFill>
                <a:latin typeface="Noto Sans"/>
                <a:ea typeface="Noto Sans"/>
                <a:cs typeface="Noto Sans"/>
                <a:sym typeface="Noto Sans"/>
              </a:rPr>
              <a:t>Example Persona &amp; Customer Journey</a:t>
            </a:r>
            <a:endParaRPr b="1" i="1">
              <a:solidFill>
                <a:srgbClr val="4A154B"/>
              </a:solidFill>
              <a:latin typeface="Noto Sans"/>
              <a:ea typeface="Noto Sans"/>
              <a:cs typeface="Noto Sans"/>
              <a:sym typeface="Noto Sans"/>
            </a:endParaRPr>
          </a:p>
        </p:txBody>
      </p:sp>
      <p:sp>
        <p:nvSpPr>
          <p:cNvPr id="105" name="Google Shape;105;p16"/>
          <p:cNvSpPr/>
          <p:nvPr/>
        </p:nvSpPr>
        <p:spPr>
          <a:xfrm>
            <a:off x="9236175" y="-35675"/>
            <a:ext cx="834900" cy="730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p:nvPr/>
        </p:nvSpPr>
        <p:spPr>
          <a:xfrm>
            <a:off x="0" y="1025"/>
            <a:ext cx="9144000" cy="5143500"/>
          </a:xfrm>
          <a:prstGeom prst="rect">
            <a:avLst/>
          </a:prstGeom>
          <a:solidFill>
            <a:srgbClr val="FFFA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 name="Google Shape;111;p17"/>
          <p:cNvSpPr/>
          <p:nvPr/>
        </p:nvSpPr>
        <p:spPr>
          <a:xfrm>
            <a:off x="0" y="1032"/>
            <a:ext cx="9144000" cy="730800"/>
          </a:xfrm>
          <a:prstGeom prst="rect">
            <a:avLst/>
          </a:prstGeom>
          <a:solidFill>
            <a:srgbClr val="2DB67C"/>
          </a:solidFill>
          <a:ln>
            <a:noFill/>
          </a:ln>
        </p:spPr>
        <p:txBody>
          <a:bodyPr spcFirstLastPara="1" wrap="square" lIns="68575" tIns="34275" rIns="68575" bIns="34275"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 sz="1600" b="1">
                <a:solidFill>
                  <a:schemeClr val="lt1"/>
                </a:solidFill>
                <a:latin typeface="Helvetica Neue"/>
                <a:ea typeface="Helvetica Neue"/>
                <a:cs typeface="Helvetica Neue"/>
                <a:sym typeface="Helvetica Neue"/>
              </a:rPr>
              <a:t>Our goal is to serve the Advanced user segment by delivering a feature that boosts their efficiency in responding to Slack messages while working in the office.</a:t>
            </a:r>
            <a:endParaRPr sz="1600" b="1">
              <a:solidFill>
                <a:schemeClr val="lt1"/>
              </a:solidFill>
              <a:latin typeface="Helvetica Neue"/>
              <a:ea typeface="Helvetica Neue"/>
              <a:cs typeface="Helvetica Neue"/>
              <a:sym typeface="Helvetica Neue"/>
            </a:endParaRPr>
          </a:p>
        </p:txBody>
      </p:sp>
      <p:sp>
        <p:nvSpPr>
          <p:cNvPr id="112" name="Google Shape;112;p17"/>
          <p:cNvSpPr txBox="1"/>
          <p:nvPr/>
        </p:nvSpPr>
        <p:spPr>
          <a:xfrm>
            <a:off x="351975" y="1429538"/>
            <a:ext cx="1056900" cy="582900"/>
          </a:xfrm>
          <a:prstGeom prst="rect">
            <a:avLst/>
          </a:prstGeom>
          <a:solidFill>
            <a:srgbClr val="DEF7ED"/>
          </a:solid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100"/>
              <a:buFont typeface="Arial"/>
              <a:buNone/>
            </a:pPr>
            <a:r>
              <a:rPr lang="en" sz="1200" b="1">
                <a:solidFill>
                  <a:srgbClr val="4A154B"/>
                </a:solidFill>
                <a:latin typeface="Helvetica Neue"/>
                <a:ea typeface="Helvetica Neue"/>
                <a:cs typeface="Helvetica Neue"/>
                <a:sym typeface="Helvetica Neue"/>
              </a:rPr>
              <a:t>Opportunity Size</a:t>
            </a:r>
            <a:endParaRPr sz="1200" b="1">
              <a:solidFill>
                <a:srgbClr val="4A154B"/>
              </a:solidFill>
              <a:latin typeface="Helvetica Neue"/>
              <a:ea typeface="Helvetica Neue"/>
              <a:cs typeface="Helvetica Neue"/>
              <a:sym typeface="Helvetica Neue"/>
            </a:endParaRPr>
          </a:p>
        </p:txBody>
      </p:sp>
      <p:sp>
        <p:nvSpPr>
          <p:cNvPr id="113" name="Google Shape;113;p17"/>
          <p:cNvSpPr txBox="1"/>
          <p:nvPr/>
        </p:nvSpPr>
        <p:spPr>
          <a:xfrm>
            <a:off x="1528525" y="1429550"/>
            <a:ext cx="7072500" cy="582900"/>
          </a:xfrm>
          <a:prstGeom prst="rect">
            <a:avLst/>
          </a:prstGeom>
          <a:solidFill>
            <a:srgbClr val="DEF7ED"/>
          </a:solidFill>
          <a:ln>
            <a:noFill/>
          </a:ln>
        </p:spPr>
        <p:txBody>
          <a:bodyPr spcFirstLastPara="1" wrap="square" lIns="91425" tIns="91425" rIns="91425" bIns="91425" anchor="t" anchorCtr="0">
            <a:noAutofit/>
          </a:bodyPr>
          <a:lstStyle/>
          <a:p>
            <a:pPr marL="457200" marR="0" lvl="0" indent="-304800" algn="l" rtl="0">
              <a:lnSpc>
                <a:spcPct val="115000"/>
              </a:lnSpc>
              <a:spcBef>
                <a:spcPts val="0"/>
              </a:spcBef>
              <a:spcAft>
                <a:spcPts val="0"/>
              </a:spcAft>
              <a:buClr>
                <a:schemeClr val="dk1"/>
              </a:buClr>
              <a:buSzPts val="1200"/>
              <a:buFont typeface="Noto Sans"/>
              <a:buChar char="●"/>
            </a:pPr>
            <a:r>
              <a:rPr lang="en" sz="1200">
                <a:solidFill>
                  <a:schemeClr val="dk1"/>
                </a:solidFill>
                <a:latin typeface="Noto Sans"/>
                <a:ea typeface="Noto Sans"/>
                <a:cs typeface="Noto Sans"/>
                <a:sym typeface="Noto Sans"/>
              </a:rPr>
              <a:t>Largest opportunity size ($51M), higher than Intermediate and Basic User segments</a:t>
            </a:r>
            <a:endParaRPr sz="1200">
              <a:solidFill>
                <a:schemeClr val="dk1"/>
              </a:solidFill>
              <a:latin typeface="Noto Sans"/>
              <a:ea typeface="Noto Sans"/>
              <a:cs typeface="Noto Sans"/>
              <a:sym typeface="Noto Sans"/>
            </a:endParaRPr>
          </a:p>
          <a:p>
            <a:pPr marL="457200" lvl="0" indent="-304800" algn="l" rtl="0">
              <a:lnSpc>
                <a:spcPct val="115000"/>
              </a:lnSpc>
              <a:spcBef>
                <a:spcPts val="0"/>
              </a:spcBef>
              <a:spcAft>
                <a:spcPts val="0"/>
              </a:spcAft>
              <a:buClr>
                <a:schemeClr val="dk1"/>
              </a:buClr>
              <a:buSzPts val="1200"/>
              <a:buFont typeface="Noto Sans"/>
              <a:buChar char="●"/>
            </a:pPr>
            <a:r>
              <a:rPr lang="en" sz="1200">
                <a:solidFill>
                  <a:schemeClr val="dk1"/>
                </a:solidFill>
                <a:latin typeface="Noto Sans"/>
                <a:ea typeface="Noto Sans"/>
                <a:cs typeface="Noto Sans"/>
                <a:sym typeface="Noto Sans"/>
              </a:rPr>
              <a:t>Highest willingness to pay, largest revenue potential</a:t>
            </a:r>
            <a:endParaRPr sz="1200">
              <a:solidFill>
                <a:schemeClr val="dk1"/>
              </a:solidFill>
              <a:latin typeface="Noto Sans"/>
              <a:ea typeface="Noto Sans"/>
              <a:cs typeface="Noto Sans"/>
              <a:sym typeface="Noto Sans"/>
            </a:endParaRPr>
          </a:p>
        </p:txBody>
      </p:sp>
      <p:sp>
        <p:nvSpPr>
          <p:cNvPr id="114" name="Google Shape;114;p17"/>
          <p:cNvSpPr txBox="1"/>
          <p:nvPr/>
        </p:nvSpPr>
        <p:spPr>
          <a:xfrm>
            <a:off x="351975" y="2786350"/>
            <a:ext cx="1056900" cy="701100"/>
          </a:xfrm>
          <a:prstGeom prst="rect">
            <a:avLst/>
          </a:prstGeom>
          <a:solidFill>
            <a:srgbClr val="DEF7ED"/>
          </a:solid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100"/>
              <a:buFont typeface="Arial"/>
              <a:buNone/>
            </a:pPr>
            <a:r>
              <a:rPr lang="en" sz="1200" b="1">
                <a:solidFill>
                  <a:srgbClr val="4A154B"/>
                </a:solidFill>
                <a:latin typeface="Helvetica Neue"/>
                <a:ea typeface="Helvetica Neue"/>
                <a:cs typeface="Helvetica Neue"/>
                <a:sym typeface="Helvetica Neue"/>
              </a:rPr>
              <a:t>Demand for Advanced Features</a:t>
            </a:r>
            <a:endParaRPr sz="1200" b="1">
              <a:solidFill>
                <a:srgbClr val="4A154B"/>
              </a:solidFill>
              <a:latin typeface="Helvetica Neue"/>
              <a:ea typeface="Helvetica Neue"/>
              <a:cs typeface="Helvetica Neue"/>
              <a:sym typeface="Helvetica Neue"/>
            </a:endParaRPr>
          </a:p>
        </p:txBody>
      </p:sp>
      <p:sp>
        <p:nvSpPr>
          <p:cNvPr id="115" name="Google Shape;115;p17"/>
          <p:cNvSpPr txBox="1"/>
          <p:nvPr/>
        </p:nvSpPr>
        <p:spPr>
          <a:xfrm>
            <a:off x="1528525" y="2786350"/>
            <a:ext cx="7072500" cy="701100"/>
          </a:xfrm>
          <a:prstGeom prst="rect">
            <a:avLst/>
          </a:prstGeom>
          <a:solidFill>
            <a:srgbClr val="DEF7ED"/>
          </a:solidFill>
          <a:ln>
            <a:noFill/>
          </a:ln>
        </p:spPr>
        <p:txBody>
          <a:bodyPr spcFirstLastPara="1" wrap="square" lIns="91425" tIns="91425" rIns="91425" bIns="91425" anchor="t" anchorCtr="0">
            <a:noAutofit/>
          </a:bodyPr>
          <a:lstStyle/>
          <a:p>
            <a:pPr marL="457200" marR="0" lvl="0" indent="-304800" algn="l" rtl="0">
              <a:lnSpc>
                <a:spcPct val="115000"/>
              </a:lnSpc>
              <a:spcBef>
                <a:spcPts val="0"/>
              </a:spcBef>
              <a:spcAft>
                <a:spcPts val="0"/>
              </a:spcAft>
              <a:buSzPts val="1200"/>
              <a:buFont typeface="Noto Sans"/>
              <a:buChar char="●"/>
            </a:pPr>
            <a:r>
              <a:rPr lang="en" sz="1200">
                <a:latin typeface="Noto Sans"/>
                <a:ea typeface="Noto Sans"/>
                <a:cs typeface="Noto Sans"/>
                <a:sym typeface="Noto Sans"/>
              </a:rPr>
              <a:t>Advanced users have demand for advanced features, in areas including workflow, notification, </a:t>
            </a:r>
            <a:r>
              <a:rPr lang="en" sz="1200">
                <a:solidFill>
                  <a:schemeClr val="dk1"/>
                </a:solidFill>
                <a:latin typeface="Noto Sans"/>
                <a:ea typeface="Noto Sans"/>
                <a:cs typeface="Noto Sans"/>
                <a:sym typeface="Noto Sans"/>
              </a:rPr>
              <a:t>integration, </a:t>
            </a:r>
            <a:r>
              <a:rPr lang="en" sz="1200">
                <a:latin typeface="Noto Sans"/>
                <a:ea typeface="Noto Sans"/>
                <a:cs typeface="Noto Sans"/>
                <a:sym typeface="Noto Sans"/>
              </a:rPr>
              <a:t>and automation.</a:t>
            </a:r>
            <a:endParaRPr sz="1200">
              <a:latin typeface="Noto Sans"/>
              <a:ea typeface="Noto Sans"/>
              <a:cs typeface="Noto Sans"/>
              <a:sym typeface="Noto Sans"/>
            </a:endParaRPr>
          </a:p>
        </p:txBody>
      </p:sp>
      <p:sp>
        <p:nvSpPr>
          <p:cNvPr id="116" name="Google Shape;116;p17"/>
          <p:cNvSpPr txBox="1"/>
          <p:nvPr/>
        </p:nvSpPr>
        <p:spPr>
          <a:xfrm>
            <a:off x="294725" y="2087575"/>
            <a:ext cx="1114200" cy="582900"/>
          </a:xfrm>
          <a:prstGeom prst="rect">
            <a:avLst/>
          </a:prstGeom>
          <a:solidFill>
            <a:srgbClr val="DEF7ED"/>
          </a:solid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100"/>
              <a:buFont typeface="Arial"/>
              <a:buNone/>
            </a:pPr>
            <a:r>
              <a:rPr lang="en" sz="1200" b="1">
                <a:solidFill>
                  <a:srgbClr val="4A154B"/>
                </a:solidFill>
                <a:latin typeface="Helvetica Neue"/>
                <a:ea typeface="Helvetica Neue"/>
                <a:cs typeface="Helvetica Neue"/>
                <a:sym typeface="Helvetica Neue"/>
              </a:rPr>
              <a:t>Competition</a:t>
            </a:r>
            <a:endParaRPr sz="1200" b="1">
              <a:solidFill>
                <a:srgbClr val="4A154B"/>
              </a:solidFill>
              <a:latin typeface="Helvetica Neue"/>
              <a:ea typeface="Helvetica Neue"/>
              <a:cs typeface="Helvetica Neue"/>
              <a:sym typeface="Helvetica Neue"/>
            </a:endParaRPr>
          </a:p>
        </p:txBody>
      </p:sp>
      <p:sp>
        <p:nvSpPr>
          <p:cNvPr id="117" name="Google Shape;117;p17"/>
          <p:cNvSpPr txBox="1"/>
          <p:nvPr/>
        </p:nvSpPr>
        <p:spPr>
          <a:xfrm>
            <a:off x="1528525" y="2087575"/>
            <a:ext cx="7072500" cy="582900"/>
          </a:xfrm>
          <a:prstGeom prst="rect">
            <a:avLst/>
          </a:prstGeom>
          <a:solidFill>
            <a:srgbClr val="DEF7ED"/>
          </a:solid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SzPts val="1200"/>
              <a:buFont typeface="Noto Sans"/>
              <a:buChar char="●"/>
            </a:pPr>
            <a:r>
              <a:rPr lang="en" sz="1200">
                <a:latin typeface="Noto Sans"/>
                <a:ea typeface="Noto Sans"/>
                <a:cs typeface="Noto Sans"/>
                <a:sym typeface="Noto Sans"/>
              </a:rPr>
              <a:t>The competition in Advanced User segment indicates it is an attractive market.</a:t>
            </a:r>
            <a:endParaRPr sz="1200">
              <a:latin typeface="Noto Sans"/>
              <a:ea typeface="Noto Sans"/>
              <a:cs typeface="Noto Sans"/>
              <a:sym typeface="Noto Sans"/>
            </a:endParaRPr>
          </a:p>
          <a:p>
            <a:pPr marL="457200" lvl="0" indent="-304800" algn="l" rtl="0">
              <a:lnSpc>
                <a:spcPct val="115000"/>
              </a:lnSpc>
              <a:spcBef>
                <a:spcPts val="0"/>
              </a:spcBef>
              <a:spcAft>
                <a:spcPts val="0"/>
              </a:spcAft>
              <a:buSzPts val="1200"/>
              <a:buFont typeface="Noto Sans"/>
              <a:buChar char="●"/>
            </a:pPr>
            <a:r>
              <a:rPr lang="en" sz="1200">
                <a:latin typeface="Noto Sans"/>
                <a:ea typeface="Noto Sans"/>
                <a:cs typeface="Noto Sans"/>
                <a:sym typeface="Noto Sans"/>
              </a:rPr>
              <a:t>New features provide opportunities for differentiation and standing out.</a:t>
            </a:r>
            <a:endParaRPr sz="1200">
              <a:latin typeface="Noto Sans"/>
              <a:ea typeface="Noto Sans"/>
              <a:cs typeface="Noto Sans"/>
              <a:sym typeface="Noto Sans"/>
            </a:endParaRPr>
          </a:p>
        </p:txBody>
      </p:sp>
      <p:sp>
        <p:nvSpPr>
          <p:cNvPr id="118" name="Google Shape;118;p17"/>
          <p:cNvSpPr txBox="1"/>
          <p:nvPr/>
        </p:nvSpPr>
        <p:spPr>
          <a:xfrm>
            <a:off x="351975" y="3562350"/>
            <a:ext cx="1056900" cy="1454100"/>
          </a:xfrm>
          <a:prstGeom prst="rect">
            <a:avLst/>
          </a:prstGeom>
          <a:solidFill>
            <a:srgbClr val="DEF7ED"/>
          </a:solid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100"/>
              <a:buFont typeface="Arial"/>
              <a:buNone/>
            </a:pPr>
            <a:r>
              <a:rPr lang="en" sz="1200" b="1">
                <a:solidFill>
                  <a:srgbClr val="4A154B"/>
                </a:solidFill>
                <a:latin typeface="Helvetica Neue"/>
                <a:ea typeface="Helvetica Neue"/>
                <a:cs typeface="Helvetica Neue"/>
                <a:sym typeface="Helvetica Neue"/>
              </a:rPr>
              <a:t>Strategic Alignment</a:t>
            </a:r>
            <a:endParaRPr sz="1200" b="1">
              <a:solidFill>
                <a:srgbClr val="4A154B"/>
              </a:solidFill>
              <a:latin typeface="Helvetica Neue"/>
              <a:ea typeface="Helvetica Neue"/>
              <a:cs typeface="Helvetica Neue"/>
              <a:sym typeface="Helvetica Neue"/>
            </a:endParaRPr>
          </a:p>
        </p:txBody>
      </p:sp>
      <p:sp>
        <p:nvSpPr>
          <p:cNvPr id="119" name="Google Shape;119;p17"/>
          <p:cNvSpPr txBox="1"/>
          <p:nvPr/>
        </p:nvSpPr>
        <p:spPr>
          <a:xfrm>
            <a:off x="1528525" y="3562350"/>
            <a:ext cx="7072500" cy="1454100"/>
          </a:xfrm>
          <a:prstGeom prst="rect">
            <a:avLst/>
          </a:prstGeom>
          <a:solidFill>
            <a:srgbClr val="DEF7ED"/>
          </a:solid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SzPts val="1200"/>
              <a:buFont typeface="Noto Sans"/>
              <a:buChar char="●"/>
            </a:pPr>
            <a:r>
              <a:rPr lang="en" sz="1200">
                <a:latin typeface="Noto Sans"/>
                <a:ea typeface="Noto Sans"/>
                <a:cs typeface="Noto Sans"/>
                <a:sym typeface="Noto Sans"/>
              </a:rPr>
              <a:t>We aim to deliver a positive impact on user retention and monetization within our core segment, especially as business needs and workforce dynamics to evolve with RTO policies:</a:t>
            </a:r>
            <a:endParaRPr sz="1200">
              <a:latin typeface="Noto Sans"/>
              <a:ea typeface="Noto Sans"/>
              <a:cs typeface="Noto Sans"/>
              <a:sym typeface="Noto Sans"/>
            </a:endParaRPr>
          </a:p>
          <a:p>
            <a:pPr marL="571500" lvl="1" indent="-304800" algn="l" rtl="0">
              <a:lnSpc>
                <a:spcPct val="115000"/>
              </a:lnSpc>
              <a:spcBef>
                <a:spcPts val="0"/>
              </a:spcBef>
              <a:spcAft>
                <a:spcPts val="0"/>
              </a:spcAft>
              <a:buSzPts val="1200"/>
              <a:buFont typeface="Noto Sans"/>
              <a:buChar char="○"/>
            </a:pPr>
            <a:r>
              <a:rPr lang="en" sz="1200">
                <a:latin typeface="Noto Sans"/>
                <a:ea typeface="Noto Sans"/>
                <a:cs typeface="Noto Sans"/>
                <a:sym typeface="Noto Sans"/>
              </a:rPr>
              <a:t>The feature helps prevent churn by keeping Slack essential to workplace communication</a:t>
            </a:r>
            <a:endParaRPr sz="1200">
              <a:latin typeface="Noto Sans"/>
              <a:ea typeface="Noto Sans"/>
              <a:cs typeface="Noto Sans"/>
              <a:sym typeface="Noto Sans"/>
            </a:endParaRPr>
          </a:p>
          <a:p>
            <a:pPr marL="571500" lvl="1" indent="-304800" algn="l" rtl="0">
              <a:lnSpc>
                <a:spcPct val="115000"/>
              </a:lnSpc>
              <a:spcBef>
                <a:spcPts val="0"/>
              </a:spcBef>
              <a:spcAft>
                <a:spcPts val="0"/>
              </a:spcAft>
              <a:buSzPts val="1200"/>
              <a:buFont typeface="Noto Sans"/>
              <a:buChar char="○"/>
            </a:pPr>
            <a:r>
              <a:rPr lang="en" sz="1200">
                <a:latin typeface="Noto Sans"/>
                <a:ea typeface="Noto Sans"/>
                <a:cs typeface="Noto Sans"/>
                <a:sym typeface="Noto Sans"/>
              </a:rPr>
              <a:t>It can unlock a new stream of income by being offered as a paid add-on for existing clients who have implemented or are planning to implement RTO policies</a:t>
            </a:r>
            <a:endParaRPr sz="1200">
              <a:latin typeface="Noto Sans"/>
              <a:ea typeface="Noto Sans"/>
              <a:cs typeface="Noto Sans"/>
              <a:sym typeface="Noto Sans"/>
            </a:endParaRPr>
          </a:p>
          <a:p>
            <a:pPr marL="0" lvl="0" indent="0" algn="l" rtl="0">
              <a:lnSpc>
                <a:spcPct val="115000"/>
              </a:lnSpc>
              <a:spcBef>
                <a:spcPts val="0"/>
              </a:spcBef>
              <a:spcAft>
                <a:spcPts val="0"/>
              </a:spcAft>
              <a:buClr>
                <a:schemeClr val="dk1"/>
              </a:buClr>
              <a:buSzPts val="1100"/>
              <a:buFont typeface="Arial"/>
              <a:buNone/>
            </a:pPr>
            <a:endParaRPr sz="1200">
              <a:latin typeface="Noto Sans"/>
              <a:ea typeface="Noto Sans"/>
              <a:cs typeface="Noto Sans"/>
              <a:sym typeface="Noto Sans"/>
            </a:endParaRPr>
          </a:p>
          <a:p>
            <a:pPr marL="0" marR="0" lvl="0" indent="0" algn="l" rtl="0">
              <a:lnSpc>
                <a:spcPct val="115000"/>
              </a:lnSpc>
              <a:spcBef>
                <a:spcPts val="0"/>
              </a:spcBef>
              <a:spcAft>
                <a:spcPts val="0"/>
              </a:spcAft>
              <a:buClr>
                <a:srgbClr val="000000"/>
              </a:buClr>
              <a:buSzPts val="1100"/>
              <a:buFont typeface="Arial"/>
              <a:buNone/>
            </a:pPr>
            <a:endParaRPr sz="1200">
              <a:latin typeface="Noto Sans"/>
              <a:ea typeface="Noto Sans"/>
              <a:cs typeface="Noto Sans"/>
              <a:sym typeface="Noto Sans"/>
            </a:endParaRPr>
          </a:p>
        </p:txBody>
      </p:sp>
      <p:sp>
        <p:nvSpPr>
          <p:cNvPr id="120" name="Google Shape;120;p17"/>
          <p:cNvSpPr txBox="1"/>
          <p:nvPr/>
        </p:nvSpPr>
        <p:spPr>
          <a:xfrm>
            <a:off x="351975" y="828699"/>
            <a:ext cx="1056900" cy="498000"/>
          </a:xfrm>
          <a:prstGeom prst="rect">
            <a:avLst/>
          </a:prstGeom>
          <a:solidFill>
            <a:srgbClr val="DEF7ED"/>
          </a:solid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100"/>
              <a:buFont typeface="Arial"/>
              <a:buNone/>
            </a:pPr>
            <a:r>
              <a:rPr lang="en" sz="1200" b="1">
                <a:solidFill>
                  <a:srgbClr val="4A154B"/>
                </a:solidFill>
                <a:latin typeface="Helvetica Neue"/>
                <a:ea typeface="Helvetica Neue"/>
                <a:cs typeface="Helvetica Neue"/>
                <a:sym typeface="Helvetica Neue"/>
              </a:rPr>
              <a:t>TAM</a:t>
            </a:r>
            <a:endParaRPr sz="1200" b="1">
              <a:solidFill>
                <a:srgbClr val="4A154B"/>
              </a:solidFill>
              <a:latin typeface="Helvetica Neue"/>
              <a:ea typeface="Helvetica Neue"/>
              <a:cs typeface="Helvetica Neue"/>
              <a:sym typeface="Helvetica Neue"/>
            </a:endParaRPr>
          </a:p>
        </p:txBody>
      </p:sp>
      <p:sp>
        <p:nvSpPr>
          <p:cNvPr id="121" name="Google Shape;121;p17"/>
          <p:cNvSpPr txBox="1"/>
          <p:nvPr/>
        </p:nvSpPr>
        <p:spPr>
          <a:xfrm>
            <a:off x="1528525" y="828525"/>
            <a:ext cx="7072500" cy="498000"/>
          </a:xfrm>
          <a:prstGeom prst="rect">
            <a:avLst/>
          </a:prstGeom>
          <a:solidFill>
            <a:srgbClr val="DEF7ED"/>
          </a:solid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Font typeface="Noto Sans"/>
              <a:buChar char="●"/>
            </a:pPr>
            <a:r>
              <a:rPr lang="en" sz="1200">
                <a:solidFill>
                  <a:schemeClr val="dk1"/>
                </a:solidFill>
                <a:latin typeface="Noto Sans"/>
                <a:ea typeface="Noto Sans"/>
                <a:cs typeface="Noto Sans"/>
                <a:sym typeface="Noto Sans"/>
              </a:rPr>
              <a:t>Approximately 20M advanced users in the U.S. are on premium plans and are employed at large orgs</a:t>
            </a:r>
            <a:endParaRPr sz="1200">
              <a:solidFill>
                <a:schemeClr val="dk1"/>
              </a:solidFill>
              <a:latin typeface="Noto Sans"/>
              <a:ea typeface="Noto Sans"/>
              <a:cs typeface="Noto Sans"/>
              <a:sym typeface="Noto Sans"/>
            </a:endParaRPr>
          </a:p>
        </p:txBody>
      </p:sp>
      <p:sp>
        <p:nvSpPr>
          <p:cNvPr id="122" name="Google Shape;122;p17"/>
          <p:cNvSpPr/>
          <p:nvPr/>
        </p:nvSpPr>
        <p:spPr>
          <a:xfrm>
            <a:off x="9236175" y="-35675"/>
            <a:ext cx="834900" cy="730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LM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8"/>
          <p:cNvSpPr/>
          <p:nvPr/>
        </p:nvSpPr>
        <p:spPr>
          <a:xfrm>
            <a:off x="0" y="1025"/>
            <a:ext cx="9144000" cy="5143500"/>
          </a:xfrm>
          <a:prstGeom prst="rect">
            <a:avLst/>
          </a:prstGeom>
          <a:solidFill>
            <a:srgbClr val="FFFA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 name="Google Shape;128;p18"/>
          <p:cNvSpPr/>
          <p:nvPr/>
        </p:nvSpPr>
        <p:spPr>
          <a:xfrm>
            <a:off x="0" y="1032"/>
            <a:ext cx="9144000" cy="730800"/>
          </a:xfrm>
          <a:prstGeom prst="rect">
            <a:avLst/>
          </a:prstGeom>
          <a:solidFill>
            <a:srgbClr val="36C5EF"/>
          </a:solidFill>
          <a:ln>
            <a:noFill/>
          </a:ln>
        </p:spPr>
        <p:txBody>
          <a:bodyPr spcFirstLastPara="1" wrap="square" lIns="68575" tIns="34275" rIns="68575" bIns="34275"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 sz="1600" b="1">
                <a:solidFill>
                  <a:schemeClr val="dk1"/>
                </a:solidFill>
                <a:latin typeface="Noto Sans"/>
                <a:ea typeface="Noto Sans"/>
                <a:cs typeface="Noto Sans"/>
                <a:sym typeface="Noto Sans"/>
              </a:rPr>
              <a:t>We selected requirements that deliver value to target users without introducing substantial development complexity</a:t>
            </a:r>
            <a:endParaRPr sz="1600" b="1">
              <a:solidFill>
                <a:schemeClr val="dk1"/>
              </a:solidFill>
              <a:latin typeface="Noto Sans"/>
              <a:ea typeface="Noto Sans"/>
              <a:cs typeface="Noto Sans"/>
              <a:sym typeface="Noto Sans"/>
            </a:endParaRPr>
          </a:p>
        </p:txBody>
      </p:sp>
      <p:sp>
        <p:nvSpPr>
          <p:cNvPr id="129" name="Google Shape;129;p18"/>
          <p:cNvSpPr txBox="1"/>
          <p:nvPr/>
        </p:nvSpPr>
        <p:spPr>
          <a:xfrm>
            <a:off x="171450" y="1182575"/>
            <a:ext cx="1056900" cy="2183100"/>
          </a:xfrm>
          <a:prstGeom prst="rect">
            <a:avLst/>
          </a:prstGeom>
          <a:solidFill>
            <a:srgbClr val="ECF9FD"/>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200" b="1">
                <a:solidFill>
                  <a:schemeClr val="dk1"/>
                </a:solidFill>
                <a:latin typeface="Noto Sans"/>
                <a:ea typeface="Noto Sans"/>
                <a:cs typeface="Noto Sans"/>
                <a:sym typeface="Noto Sans"/>
              </a:rPr>
              <a:t>Must </a:t>
            </a:r>
            <a:br>
              <a:rPr lang="en" sz="1200" b="1">
                <a:solidFill>
                  <a:schemeClr val="dk1"/>
                </a:solidFill>
                <a:latin typeface="Noto Sans"/>
                <a:ea typeface="Noto Sans"/>
                <a:cs typeface="Noto Sans"/>
                <a:sym typeface="Noto Sans"/>
              </a:rPr>
            </a:br>
            <a:r>
              <a:rPr lang="en" sz="1200" b="1">
                <a:solidFill>
                  <a:schemeClr val="dk1"/>
                </a:solidFill>
                <a:latin typeface="Noto Sans"/>
                <a:ea typeface="Noto Sans"/>
                <a:cs typeface="Noto Sans"/>
                <a:sym typeface="Noto Sans"/>
              </a:rPr>
              <a:t>Have</a:t>
            </a:r>
            <a:endParaRPr sz="1200" b="1">
              <a:latin typeface="Noto Sans"/>
              <a:ea typeface="Noto Sans"/>
              <a:cs typeface="Noto Sans"/>
              <a:sym typeface="Noto Sans"/>
            </a:endParaRPr>
          </a:p>
        </p:txBody>
      </p:sp>
      <p:sp>
        <p:nvSpPr>
          <p:cNvPr id="130" name="Google Shape;130;p18"/>
          <p:cNvSpPr txBox="1"/>
          <p:nvPr/>
        </p:nvSpPr>
        <p:spPr>
          <a:xfrm>
            <a:off x="1304925" y="1182575"/>
            <a:ext cx="3257400" cy="2281200"/>
          </a:xfrm>
          <a:prstGeom prst="rect">
            <a:avLst/>
          </a:prstGeom>
          <a:noFill/>
          <a:ln>
            <a:noFill/>
          </a:ln>
        </p:spPr>
        <p:txBody>
          <a:bodyPr spcFirstLastPara="1" wrap="square" lIns="91425" tIns="91425" rIns="91425" bIns="91425" anchor="t" anchorCtr="0">
            <a:spAutoFit/>
          </a:bodyPr>
          <a:lstStyle/>
          <a:p>
            <a:pPr marL="342900" lvl="0" indent="-304800" algn="l" rtl="0">
              <a:lnSpc>
                <a:spcPct val="115000"/>
              </a:lnSpc>
              <a:spcBef>
                <a:spcPts val="0"/>
              </a:spcBef>
              <a:spcAft>
                <a:spcPts val="0"/>
              </a:spcAft>
              <a:buClr>
                <a:schemeClr val="dk1"/>
              </a:buClr>
              <a:buSzPts val="1200"/>
              <a:buFont typeface="Noto Sans"/>
              <a:buAutoNum type="arabicPeriod"/>
            </a:pPr>
            <a:r>
              <a:rPr lang="en" sz="1200">
                <a:solidFill>
                  <a:schemeClr val="dk1"/>
                </a:solidFill>
                <a:latin typeface="Noto Sans"/>
                <a:ea typeface="Noto Sans"/>
                <a:cs typeface="Noto Sans"/>
                <a:sym typeface="Noto Sans"/>
              </a:rPr>
              <a:t>Turn on an "in-the-office" status, initiating the feature prioritization process </a:t>
            </a:r>
            <a:endParaRPr sz="1200">
              <a:solidFill>
                <a:schemeClr val="dk1"/>
              </a:solidFill>
              <a:latin typeface="Noto Sans"/>
              <a:ea typeface="Noto Sans"/>
              <a:cs typeface="Noto Sans"/>
              <a:sym typeface="Noto Sans"/>
            </a:endParaRPr>
          </a:p>
          <a:p>
            <a:pPr marL="342900" lvl="0" indent="-304800" algn="l" rtl="0">
              <a:lnSpc>
                <a:spcPct val="115000"/>
              </a:lnSpc>
              <a:spcBef>
                <a:spcPts val="0"/>
              </a:spcBef>
              <a:spcAft>
                <a:spcPts val="0"/>
              </a:spcAft>
              <a:buClr>
                <a:schemeClr val="dk1"/>
              </a:buClr>
              <a:buSzPts val="1200"/>
              <a:buFont typeface="Noto Sans"/>
              <a:buAutoNum type="arabicPeriod"/>
            </a:pPr>
            <a:r>
              <a:rPr lang="en" sz="1200">
                <a:solidFill>
                  <a:schemeClr val="dk1"/>
                </a:solidFill>
                <a:latin typeface="Noto Sans"/>
                <a:ea typeface="Noto Sans"/>
                <a:cs typeface="Noto Sans"/>
                <a:sym typeface="Noto Sans"/>
              </a:rPr>
              <a:t>Ability to turn off the feature (through menu or toggle)</a:t>
            </a:r>
            <a:endParaRPr sz="1200">
              <a:solidFill>
                <a:schemeClr val="dk1"/>
              </a:solidFill>
              <a:latin typeface="Noto Sans"/>
              <a:ea typeface="Noto Sans"/>
              <a:cs typeface="Noto Sans"/>
              <a:sym typeface="Noto Sans"/>
            </a:endParaRPr>
          </a:p>
          <a:p>
            <a:pPr marL="342900" lvl="0" indent="-304800" algn="l" rtl="0">
              <a:lnSpc>
                <a:spcPct val="115000"/>
              </a:lnSpc>
              <a:spcBef>
                <a:spcPts val="0"/>
              </a:spcBef>
              <a:spcAft>
                <a:spcPts val="0"/>
              </a:spcAft>
              <a:buClr>
                <a:schemeClr val="dk1"/>
              </a:buClr>
              <a:buSzPts val="1200"/>
              <a:buFont typeface="Noto Sans"/>
              <a:buAutoNum type="arabicPeriod"/>
            </a:pPr>
            <a:r>
              <a:rPr lang="en" sz="1200">
                <a:solidFill>
                  <a:schemeClr val="dk1"/>
                </a:solidFill>
                <a:latin typeface="Noto Sans"/>
                <a:ea typeface="Noto Sans"/>
                <a:cs typeface="Noto Sans"/>
                <a:sym typeface="Noto Sans"/>
              </a:rPr>
              <a:t>Mechanism (algorithmic or manual) to define the "high priority" messages </a:t>
            </a:r>
            <a:endParaRPr sz="1200">
              <a:solidFill>
                <a:schemeClr val="dk1"/>
              </a:solidFill>
              <a:latin typeface="Noto Sans"/>
              <a:ea typeface="Noto Sans"/>
              <a:cs typeface="Noto Sans"/>
              <a:sym typeface="Noto Sans"/>
            </a:endParaRPr>
          </a:p>
          <a:p>
            <a:pPr marL="342900" lvl="0" indent="-304800" algn="l" rtl="0">
              <a:lnSpc>
                <a:spcPct val="115000"/>
              </a:lnSpc>
              <a:spcBef>
                <a:spcPts val="0"/>
              </a:spcBef>
              <a:spcAft>
                <a:spcPts val="0"/>
              </a:spcAft>
              <a:buClr>
                <a:schemeClr val="dk1"/>
              </a:buClr>
              <a:buSzPts val="1200"/>
              <a:buFont typeface="Noto Sans"/>
              <a:buAutoNum type="arabicPeriod"/>
            </a:pPr>
            <a:r>
              <a:rPr lang="en" sz="1200">
                <a:solidFill>
                  <a:schemeClr val="dk1"/>
                </a:solidFill>
                <a:latin typeface="Noto Sans"/>
                <a:ea typeface="Noto Sans"/>
                <a:cs typeface="Noto Sans"/>
                <a:sym typeface="Noto Sans"/>
              </a:rPr>
              <a:t>Different UX for high priority messages: segregation via a different section on sidebar or color coding </a:t>
            </a:r>
            <a:endParaRPr sz="1200">
              <a:solidFill>
                <a:schemeClr val="dk1"/>
              </a:solidFill>
              <a:latin typeface="Noto Sans"/>
              <a:ea typeface="Noto Sans"/>
              <a:cs typeface="Noto Sans"/>
              <a:sym typeface="Noto Sans"/>
            </a:endParaRPr>
          </a:p>
        </p:txBody>
      </p:sp>
      <p:sp>
        <p:nvSpPr>
          <p:cNvPr id="131" name="Google Shape;131;p18"/>
          <p:cNvSpPr txBox="1"/>
          <p:nvPr/>
        </p:nvSpPr>
        <p:spPr>
          <a:xfrm>
            <a:off x="171450" y="3517475"/>
            <a:ext cx="1056900" cy="1431600"/>
          </a:xfrm>
          <a:prstGeom prst="rect">
            <a:avLst/>
          </a:prstGeom>
          <a:solidFill>
            <a:srgbClr val="ECF9FD"/>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200" b="1">
                <a:solidFill>
                  <a:schemeClr val="dk1"/>
                </a:solidFill>
                <a:latin typeface="Noto Sans"/>
                <a:ea typeface="Noto Sans"/>
                <a:cs typeface="Noto Sans"/>
                <a:sym typeface="Noto Sans"/>
              </a:rPr>
              <a:t>Nice to Have</a:t>
            </a:r>
            <a:br>
              <a:rPr lang="en" sz="1200" b="1">
                <a:solidFill>
                  <a:schemeClr val="dk1"/>
                </a:solidFill>
                <a:latin typeface="Noto Sans"/>
                <a:ea typeface="Noto Sans"/>
                <a:cs typeface="Noto Sans"/>
                <a:sym typeface="Noto Sans"/>
              </a:rPr>
            </a:br>
            <a:r>
              <a:rPr lang="en" sz="1200" b="1">
                <a:solidFill>
                  <a:schemeClr val="dk1"/>
                </a:solidFill>
                <a:latin typeface="Noto Sans"/>
                <a:ea typeface="Noto Sans"/>
                <a:cs typeface="Noto Sans"/>
                <a:sym typeface="Noto Sans"/>
              </a:rPr>
              <a:t>(not in the MVP scope)</a:t>
            </a:r>
            <a:endParaRPr sz="1200" b="1">
              <a:latin typeface="Noto Sans"/>
              <a:ea typeface="Noto Sans"/>
              <a:cs typeface="Noto Sans"/>
              <a:sym typeface="Noto Sans"/>
            </a:endParaRPr>
          </a:p>
        </p:txBody>
      </p:sp>
      <p:sp>
        <p:nvSpPr>
          <p:cNvPr id="132" name="Google Shape;132;p18"/>
          <p:cNvSpPr txBox="1"/>
          <p:nvPr/>
        </p:nvSpPr>
        <p:spPr>
          <a:xfrm>
            <a:off x="1304925" y="3517475"/>
            <a:ext cx="3257400" cy="1431600"/>
          </a:xfrm>
          <a:prstGeom prst="rect">
            <a:avLst/>
          </a:prstGeom>
          <a:noFill/>
          <a:ln>
            <a:noFill/>
          </a:ln>
        </p:spPr>
        <p:txBody>
          <a:bodyPr spcFirstLastPara="1" wrap="square" lIns="91425" tIns="91425" rIns="91425" bIns="91425" anchor="t" anchorCtr="0">
            <a:spAutoFit/>
          </a:bodyPr>
          <a:lstStyle/>
          <a:p>
            <a:pPr marL="342900" lvl="0" indent="-304800" algn="l" rtl="0">
              <a:lnSpc>
                <a:spcPct val="115000"/>
              </a:lnSpc>
              <a:spcBef>
                <a:spcPts val="0"/>
              </a:spcBef>
              <a:spcAft>
                <a:spcPts val="0"/>
              </a:spcAft>
              <a:buClr>
                <a:schemeClr val="dk1"/>
              </a:buClr>
              <a:buSzPts val="1200"/>
              <a:buFont typeface="Noto Sans"/>
              <a:buAutoNum type="arabicPeriod"/>
            </a:pPr>
            <a:r>
              <a:rPr lang="en" sz="1200">
                <a:solidFill>
                  <a:schemeClr val="dk1"/>
                </a:solidFill>
                <a:latin typeface="Noto Sans"/>
                <a:ea typeface="Noto Sans"/>
                <a:cs typeface="Noto Sans"/>
                <a:sym typeface="Noto Sans"/>
              </a:rPr>
              <a:t>Set up automatic message to answer not prioritized messages</a:t>
            </a:r>
            <a:endParaRPr sz="1200">
              <a:solidFill>
                <a:schemeClr val="dk1"/>
              </a:solidFill>
              <a:latin typeface="Noto Sans"/>
              <a:ea typeface="Noto Sans"/>
              <a:cs typeface="Noto Sans"/>
              <a:sym typeface="Noto Sans"/>
            </a:endParaRPr>
          </a:p>
          <a:p>
            <a:pPr marL="342900" lvl="0" indent="-304800" algn="l" rtl="0">
              <a:lnSpc>
                <a:spcPct val="115000"/>
              </a:lnSpc>
              <a:spcBef>
                <a:spcPts val="0"/>
              </a:spcBef>
              <a:spcAft>
                <a:spcPts val="0"/>
              </a:spcAft>
              <a:buClr>
                <a:schemeClr val="dk1"/>
              </a:buClr>
              <a:buSzPts val="1200"/>
              <a:buFont typeface="Noto Sans"/>
              <a:buAutoNum type="arabicPeriod"/>
            </a:pPr>
            <a:r>
              <a:rPr lang="en" sz="1200">
                <a:solidFill>
                  <a:schemeClr val="dk1"/>
                </a:solidFill>
                <a:latin typeface="Noto Sans"/>
                <a:ea typeface="Noto Sans"/>
                <a:cs typeface="Noto Sans"/>
                <a:sym typeface="Noto Sans"/>
              </a:rPr>
              <a:t>Custom rules to redirect high priority messages to reporting manager or team lead in the absence of the individual</a:t>
            </a:r>
            <a:endParaRPr sz="1200">
              <a:solidFill>
                <a:schemeClr val="dk1"/>
              </a:solidFill>
              <a:latin typeface="Noto Sans"/>
              <a:ea typeface="Noto Sans"/>
              <a:cs typeface="Noto Sans"/>
              <a:sym typeface="Noto Sans"/>
            </a:endParaRPr>
          </a:p>
        </p:txBody>
      </p:sp>
      <p:cxnSp>
        <p:nvCxnSpPr>
          <p:cNvPr id="133" name="Google Shape;133;p18"/>
          <p:cNvCxnSpPr/>
          <p:nvPr/>
        </p:nvCxnSpPr>
        <p:spPr>
          <a:xfrm>
            <a:off x="171450" y="3441525"/>
            <a:ext cx="4572000" cy="0"/>
          </a:xfrm>
          <a:prstGeom prst="straightConnector1">
            <a:avLst/>
          </a:prstGeom>
          <a:noFill/>
          <a:ln w="9525" cap="flat" cmpd="sng">
            <a:solidFill>
              <a:srgbClr val="B7B7B7"/>
            </a:solidFill>
            <a:prstDash val="solid"/>
            <a:round/>
            <a:headEnd type="none" w="med" len="med"/>
            <a:tailEnd type="none" w="med" len="med"/>
          </a:ln>
        </p:spPr>
      </p:cxnSp>
      <p:pic>
        <p:nvPicPr>
          <p:cNvPr id="134" name="Google Shape;134;p18" descr="Imagem"/>
          <p:cNvPicPr preferRelativeResize="0"/>
          <p:nvPr/>
        </p:nvPicPr>
        <p:blipFill>
          <a:blip r:embed="rId3">
            <a:alphaModFix/>
          </a:blip>
          <a:stretch>
            <a:fillRect/>
          </a:stretch>
        </p:blipFill>
        <p:spPr>
          <a:xfrm>
            <a:off x="4933950" y="1163400"/>
            <a:ext cx="4152900" cy="2765850"/>
          </a:xfrm>
          <a:prstGeom prst="rect">
            <a:avLst/>
          </a:prstGeom>
          <a:noFill/>
          <a:ln>
            <a:noFill/>
          </a:ln>
        </p:spPr>
      </p:pic>
      <p:sp>
        <p:nvSpPr>
          <p:cNvPr id="135" name="Google Shape;135;p18"/>
          <p:cNvSpPr/>
          <p:nvPr/>
        </p:nvSpPr>
        <p:spPr>
          <a:xfrm rot="5400000">
            <a:off x="3586650" y="2203175"/>
            <a:ext cx="2151600" cy="180900"/>
          </a:xfrm>
          <a:prstGeom prst="triangle">
            <a:avLst>
              <a:gd name="adj" fmla="val 50748"/>
            </a:avLst>
          </a:prstGeom>
          <a:solidFill>
            <a:srgbClr val="ECF9F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 name="Google Shape;136;p18"/>
          <p:cNvSpPr txBox="1"/>
          <p:nvPr/>
        </p:nvSpPr>
        <p:spPr>
          <a:xfrm>
            <a:off x="4857750" y="701025"/>
            <a:ext cx="1352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chemeClr val="dk1"/>
                </a:solidFill>
                <a:latin typeface="Noto Sans"/>
                <a:ea typeface="Noto Sans"/>
                <a:cs typeface="Noto Sans"/>
                <a:sym typeface="Noto Sans"/>
              </a:rPr>
              <a:t>MVP Mockup:</a:t>
            </a:r>
            <a:endParaRPr sz="1300" b="1">
              <a:solidFill>
                <a:schemeClr val="dk1"/>
              </a:solidFill>
              <a:latin typeface="Noto Sans"/>
              <a:ea typeface="Noto Sans"/>
              <a:cs typeface="Noto Sans"/>
              <a:sym typeface="Noto Sans"/>
            </a:endParaRPr>
          </a:p>
        </p:txBody>
      </p:sp>
      <p:cxnSp>
        <p:nvCxnSpPr>
          <p:cNvPr id="137" name="Google Shape;137;p18"/>
          <p:cNvCxnSpPr/>
          <p:nvPr/>
        </p:nvCxnSpPr>
        <p:spPr>
          <a:xfrm>
            <a:off x="4948200" y="1076325"/>
            <a:ext cx="4124400" cy="9600"/>
          </a:xfrm>
          <a:prstGeom prst="straightConnector1">
            <a:avLst/>
          </a:prstGeom>
          <a:noFill/>
          <a:ln w="19050" cap="flat" cmpd="sng">
            <a:solidFill>
              <a:srgbClr val="B7B7B7"/>
            </a:solidFill>
            <a:prstDash val="solid"/>
            <a:round/>
            <a:headEnd type="none" w="med" len="med"/>
            <a:tailEnd type="none" w="med" len="med"/>
          </a:ln>
        </p:spPr>
      </p:cxnSp>
      <p:sp>
        <p:nvSpPr>
          <p:cNvPr id="138" name="Google Shape;138;p18"/>
          <p:cNvSpPr txBox="1"/>
          <p:nvPr/>
        </p:nvSpPr>
        <p:spPr>
          <a:xfrm>
            <a:off x="4948200" y="4006725"/>
            <a:ext cx="4124400" cy="923400"/>
          </a:xfrm>
          <a:prstGeom prst="rect">
            <a:avLst/>
          </a:prstGeom>
          <a:solidFill>
            <a:srgbClr val="ECF9FD"/>
          </a:solidFill>
          <a:ln w="28575" cap="flat" cmpd="sng">
            <a:solidFill>
              <a:srgbClr val="000000"/>
            </a:solidFill>
            <a:prstDash val="dot"/>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chemeClr val="dk1"/>
                </a:solidFill>
                <a:latin typeface="Noto Sans"/>
                <a:ea typeface="Noto Sans"/>
                <a:cs typeface="Noto Sans"/>
                <a:sym typeface="Noto Sans"/>
              </a:rPr>
              <a:t>The must-have requirements tackle the challenge of notification prioritization during in-office work without significantly increasing the complexity of MVP development</a:t>
            </a:r>
            <a:endParaRPr sz="1200">
              <a:solidFill>
                <a:schemeClr val="dk1"/>
              </a:solidFill>
              <a:latin typeface="Noto Sans"/>
              <a:ea typeface="Noto Sans"/>
              <a:cs typeface="Noto Sans"/>
              <a:sym typeface="Noto Sans"/>
            </a:endParaRPr>
          </a:p>
        </p:txBody>
      </p:sp>
      <p:sp>
        <p:nvSpPr>
          <p:cNvPr id="139" name="Google Shape;139;p18"/>
          <p:cNvSpPr/>
          <p:nvPr/>
        </p:nvSpPr>
        <p:spPr>
          <a:xfrm>
            <a:off x="9236175" y="-35675"/>
            <a:ext cx="834900" cy="730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LM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9"/>
          <p:cNvSpPr/>
          <p:nvPr/>
        </p:nvSpPr>
        <p:spPr>
          <a:xfrm>
            <a:off x="0" y="1025"/>
            <a:ext cx="9144000" cy="5143500"/>
          </a:xfrm>
          <a:prstGeom prst="rect">
            <a:avLst/>
          </a:prstGeom>
          <a:solidFill>
            <a:srgbClr val="FFFA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 name="Google Shape;145;p19"/>
          <p:cNvSpPr/>
          <p:nvPr/>
        </p:nvSpPr>
        <p:spPr>
          <a:xfrm>
            <a:off x="0" y="1032"/>
            <a:ext cx="9144000" cy="730800"/>
          </a:xfrm>
          <a:prstGeom prst="rect">
            <a:avLst/>
          </a:prstGeom>
          <a:solidFill>
            <a:srgbClr val="DF1E5A"/>
          </a:solidFill>
          <a:ln>
            <a:noFill/>
          </a:ln>
        </p:spPr>
        <p:txBody>
          <a:bodyPr spcFirstLastPara="1" wrap="square" lIns="68575" tIns="34275" rIns="68575" bIns="34275"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 sz="1600" b="1">
                <a:solidFill>
                  <a:srgbClr val="FFFAEF"/>
                </a:solidFill>
                <a:latin typeface="Noto Sans"/>
                <a:ea typeface="Noto Sans"/>
                <a:cs typeface="Noto Sans"/>
                <a:sym typeface="Noto Sans"/>
              </a:rPr>
              <a:t>Solving Notification Overload for High-Value, Advanced Slack Users</a:t>
            </a:r>
            <a:endParaRPr sz="1600" b="1">
              <a:solidFill>
                <a:srgbClr val="FFFAEF"/>
              </a:solidFill>
              <a:latin typeface="Noto Sans"/>
              <a:ea typeface="Noto Sans"/>
              <a:cs typeface="Noto Sans"/>
              <a:sym typeface="Noto Sans"/>
            </a:endParaRPr>
          </a:p>
        </p:txBody>
      </p:sp>
      <p:sp>
        <p:nvSpPr>
          <p:cNvPr id="146" name="Google Shape;146;p19"/>
          <p:cNvSpPr/>
          <p:nvPr/>
        </p:nvSpPr>
        <p:spPr>
          <a:xfrm>
            <a:off x="1949600" y="4013200"/>
            <a:ext cx="3295500" cy="1002600"/>
          </a:xfrm>
          <a:prstGeom prst="roundRect">
            <a:avLst>
              <a:gd name="adj" fmla="val 16667"/>
            </a:avLst>
          </a:prstGeom>
          <a:solidFill>
            <a:srgbClr val="FADBE5"/>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i="1">
                <a:solidFill>
                  <a:srgbClr val="4A154B"/>
                </a:solidFill>
                <a:latin typeface="Noto Sans"/>
                <a:ea typeface="Noto Sans"/>
                <a:cs typeface="Noto Sans"/>
                <a:sym typeface="Noto Sans"/>
              </a:rPr>
              <a:t>“I need urgent messages escalated when a team member is OOO, without chasing them down.”</a:t>
            </a:r>
            <a:endParaRPr i="1">
              <a:solidFill>
                <a:srgbClr val="4A154B"/>
              </a:solidFill>
              <a:latin typeface="Noto Sans"/>
              <a:ea typeface="Noto Sans"/>
              <a:cs typeface="Noto Sans"/>
              <a:sym typeface="Noto Sans"/>
            </a:endParaRPr>
          </a:p>
        </p:txBody>
      </p:sp>
      <p:sp>
        <p:nvSpPr>
          <p:cNvPr id="147" name="Google Shape;147;p19"/>
          <p:cNvSpPr/>
          <p:nvPr/>
        </p:nvSpPr>
        <p:spPr>
          <a:xfrm>
            <a:off x="5404000" y="4013200"/>
            <a:ext cx="3632100" cy="1002600"/>
          </a:xfrm>
          <a:prstGeom prst="roundRect">
            <a:avLst>
              <a:gd name="adj" fmla="val 16667"/>
            </a:avLst>
          </a:prstGeom>
          <a:solidFill>
            <a:srgbClr val="FADBE5"/>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a:solidFill>
                  <a:srgbClr val="4A154B"/>
                </a:solidFill>
                <a:latin typeface="Noto Sans"/>
                <a:ea typeface="Noto Sans"/>
                <a:cs typeface="Noto Sans"/>
                <a:sym typeface="Noto Sans"/>
              </a:rPr>
              <a:t>Auto-redirect rules and escalation options for high-priority messages when the recipient is unavailable</a:t>
            </a:r>
            <a:endParaRPr>
              <a:solidFill>
                <a:srgbClr val="4A154B"/>
              </a:solidFill>
              <a:latin typeface="Noto Sans"/>
              <a:ea typeface="Noto Sans"/>
              <a:cs typeface="Noto Sans"/>
              <a:sym typeface="Noto Sans"/>
            </a:endParaRPr>
          </a:p>
        </p:txBody>
      </p:sp>
      <p:sp>
        <p:nvSpPr>
          <p:cNvPr id="148" name="Google Shape;148;p19"/>
          <p:cNvSpPr/>
          <p:nvPr/>
        </p:nvSpPr>
        <p:spPr>
          <a:xfrm>
            <a:off x="107900" y="4013200"/>
            <a:ext cx="1682700" cy="1002600"/>
          </a:xfrm>
          <a:prstGeom prst="roundRect">
            <a:avLst>
              <a:gd name="adj" fmla="val 16667"/>
            </a:avLst>
          </a:prstGeom>
          <a:solidFill>
            <a:srgbClr val="FADB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154B"/>
                </a:solidFill>
                <a:latin typeface="Noto Sans"/>
                <a:ea typeface="Noto Sans"/>
                <a:cs typeface="Noto Sans"/>
                <a:sym typeface="Noto Sans"/>
              </a:rPr>
              <a:t>Manager / Team Lead</a:t>
            </a:r>
            <a:endParaRPr b="1">
              <a:solidFill>
                <a:srgbClr val="4A154B"/>
              </a:solidFill>
              <a:latin typeface="Noto Sans"/>
              <a:ea typeface="Noto Sans"/>
              <a:cs typeface="Noto Sans"/>
              <a:sym typeface="Noto Sans"/>
            </a:endParaRPr>
          </a:p>
        </p:txBody>
      </p:sp>
      <p:sp>
        <p:nvSpPr>
          <p:cNvPr id="149" name="Google Shape;149;p19"/>
          <p:cNvSpPr/>
          <p:nvPr/>
        </p:nvSpPr>
        <p:spPr>
          <a:xfrm>
            <a:off x="1949600" y="2838400"/>
            <a:ext cx="3295500" cy="1002600"/>
          </a:xfrm>
          <a:prstGeom prst="roundRect">
            <a:avLst>
              <a:gd name="adj" fmla="val 16667"/>
            </a:avLst>
          </a:prstGeom>
          <a:solidFill>
            <a:srgbClr val="FADBE5"/>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i="1">
                <a:solidFill>
                  <a:srgbClr val="4A154B"/>
                </a:solidFill>
                <a:latin typeface="Noto Sans"/>
                <a:ea typeface="Noto Sans"/>
                <a:cs typeface="Noto Sans"/>
                <a:sym typeface="Noto Sans"/>
              </a:rPr>
              <a:t>“I'm spread across many teams and channels. I often miss important updates because of volume, not intent.”</a:t>
            </a:r>
            <a:endParaRPr i="1">
              <a:solidFill>
                <a:srgbClr val="4A154B"/>
              </a:solidFill>
              <a:latin typeface="Noto Sans"/>
              <a:ea typeface="Noto Sans"/>
              <a:cs typeface="Noto Sans"/>
              <a:sym typeface="Noto Sans"/>
            </a:endParaRPr>
          </a:p>
        </p:txBody>
      </p:sp>
      <p:sp>
        <p:nvSpPr>
          <p:cNvPr id="150" name="Google Shape;150;p19"/>
          <p:cNvSpPr/>
          <p:nvPr/>
        </p:nvSpPr>
        <p:spPr>
          <a:xfrm>
            <a:off x="5404000" y="2838400"/>
            <a:ext cx="3632100" cy="1002600"/>
          </a:xfrm>
          <a:prstGeom prst="roundRect">
            <a:avLst>
              <a:gd name="adj" fmla="val 16667"/>
            </a:avLst>
          </a:prstGeom>
          <a:solidFill>
            <a:srgbClr val="FADBE5"/>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a:solidFill>
                  <a:srgbClr val="4A154B"/>
                </a:solidFill>
                <a:latin typeface="Noto Sans"/>
                <a:ea typeface="Noto Sans"/>
                <a:cs typeface="Noto Sans"/>
                <a:sym typeface="Noto Sans"/>
              </a:rPr>
              <a:t>Flags high-priority messages using sender importance, channel history, and keywords; shows them in a dedicated sidebar.</a:t>
            </a:r>
            <a:endParaRPr>
              <a:solidFill>
                <a:srgbClr val="4A154B"/>
              </a:solidFill>
              <a:latin typeface="Noto Sans"/>
              <a:ea typeface="Noto Sans"/>
              <a:cs typeface="Noto Sans"/>
              <a:sym typeface="Noto Sans"/>
            </a:endParaRPr>
          </a:p>
        </p:txBody>
      </p:sp>
      <p:sp>
        <p:nvSpPr>
          <p:cNvPr id="151" name="Google Shape;151;p19"/>
          <p:cNvSpPr/>
          <p:nvPr/>
        </p:nvSpPr>
        <p:spPr>
          <a:xfrm>
            <a:off x="107900" y="2838400"/>
            <a:ext cx="1682700" cy="1002600"/>
          </a:xfrm>
          <a:prstGeom prst="roundRect">
            <a:avLst>
              <a:gd name="adj" fmla="val 16667"/>
            </a:avLst>
          </a:prstGeom>
          <a:solidFill>
            <a:srgbClr val="FADB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154B"/>
                </a:solidFill>
                <a:latin typeface="Noto Sans"/>
                <a:ea typeface="Noto Sans"/>
                <a:cs typeface="Noto Sans"/>
                <a:sym typeface="Noto Sans"/>
              </a:rPr>
              <a:t>Cross - Functional Collaborator</a:t>
            </a:r>
            <a:endParaRPr b="1">
              <a:solidFill>
                <a:srgbClr val="4A154B"/>
              </a:solidFill>
              <a:latin typeface="Noto Sans"/>
              <a:ea typeface="Noto Sans"/>
              <a:cs typeface="Noto Sans"/>
              <a:sym typeface="Noto Sans"/>
            </a:endParaRPr>
          </a:p>
        </p:txBody>
      </p:sp>
      <p:sp>
        <p:nvSpPr>
          <p:cNvPr id="152" name="Google Shape;152;p19"/>
          <p:cNvSpPr/>
          <p:nvPr/>
        </p:nvSpPr>
        <p:spPr>
          <a:xfrm>
            <a:off x="1949600" y="1651750"/>
            <a:ext cx="3295500" cy="1002600"/>
          </a:xfrm>
          <a:prstGeom prst="roundRect">
            <a:avLst>
              <a:gd name="adj" fmla="val 16667"/>
            </a:avLst>
          </a:prstGeom>
          <a:solidFill>
            <a:srgbClr val="FADBE5"/>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i="1">
                <a:solidFill>
                  <a:srgbClr val="4A154B"/>
                </a:solidFill>
                <a:latin typeface="Noto Sans"/>
                <a:ea typeface="Noto Sans"/>
                <a:cs typeface="Noto Sans"/>
                <a:sym typeface="Noto Sans"/>
              </a:rPr>
              <a:t>“When I’m WFH, it’s harder to tell what’s urgent or being discussed in person. It’s also hard to track down my teammates.”</a:t>
            </a:r>
            <a:endParaRPr i="1">
              <a:solidFill>
                <a:srgbClr val="4A154B"/>
              </a:solidFill>
              <a:latin typeface="Noto Sans"/>
              <a:ea typeface="Noto Sans"/>
              <a:cs typeface="Noto Sans"/>
              <a:sym typeface="Noto Sans"/>
            </a:endParaRPr>
          </a:p>
        </p:txBody>
      </p:sp>
      <p:sp>
        <p:nvSpPr>
          <p:cNvPr id="153" name="Google Shape;153;p19"/>
          <p:cNvSpPr/>
          <p:nvPr/>
        </p:nvSpPr>
        <p:spPr>
          <a:xfrm>
            <a:off x="5404000" y="1651750"/>
            <a:ext cx="3632100" cy="1002600"/>
          </a:xfrm>
          <a:prstGeom prst="roundRect">
            <a:avLst>
              <a:gd name="adj" fmla="val 16667"/>
            </a:avLst>
          </a:prstGeom>
          <a:solidFill>
            <a:srgbClr val="FADBE5"/>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a:solidFill>
                  <a:srgbClr val="4A154B"/>
                </a:solidFill>
                <a:latin typeface="Noto Sans"/>
                <a:ea typeface="Noto Sans"/>
                <a:cs typeface="Noto Sans"/>
                <a:sym typeface="Noto Sans"/>
              </a:rPr>
              <a:t>Context-aware prioritization surfaces important messages more clearly when WFH &amp; highlights your messages in-turn.</a:t>
            </a:r>
            <a:endParaRPr>
              <a:solidFill>
                <a:srgbClr val="4A154B"/>
              </a:solidFill>
              <a:latin typeface="Noto Sans"/>
              <a:ea typeface="Noto Sans"/>
              <a:cs typeface="Noto Sans"/>
              <a:sym typeface="Noto Sans"/>
            </a:endParaRPr>
          </a:p>
        </p:txBody>
      </p:sp>
      <p:sp>
        <p:nvSpPr>
          <p:cNvPr id="154" name="Google Shape;154;p19"/>
          <p:cNvSpPr/>
          <p:nvPr/>
        </p:nvSpPr>
        <p:spPr>
          <a:xfrm>
            <a:off x="107900" y="1651750"/>
            <a:ext cx="1682700" cy="1002600"/>
          </a:xfrm>
          <a:prstGeom prst="roundRect">
            <a:avLst>
              <a:gd name="adj" fmla="val 16667"/>
            </a:avLst>
          </a:prstGeom>
          <a:solidFill>
            <a:srgbClr val="FADB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154B"/>
                </a:solidFill>
                <a:latin typeface="Noto Sans"/>
                <a:ea typeface="Noto Sans"/>
                <a:cs typeface="Noto Sans"/>
                <a:sym typeface="Noto Sans"/>
              </a:rPr>
              <a:t>Hybrid Worker</a:t>
            </a:r>
            <a:endParaRPr b="1">
              <a:solidFill>
                <a:srgbClr val="4A154B"/>
              </a:solidFill>
              <a:latin typeface="Noto Sans"/>
              <a:ea typeface="Noto Sans"/>
              <a:cs typeface="Noto Sans"/>
              <a:sym typeface="Noto Sans"/>
            </a:endParaRPr>
          </a:p>
        </p:txBody>
      </p:sp>
      <p:sp>
        <p:nvSpPr>
          <p:cNvPr id="155" name="Google Shape;155;p19"/>
          <p:cNvSpPr/>
          <p:nvPr/>
        </p:nvSpPr>
        <p:spPr>
          <a:xfrm>
            <a:off x="1949600" y="908788"/>
            <a:ext cx="3295500" cy="558900"/>
          </a:xfrm>
          <a:prstGeom prst="roundRect">
            <a:avLst>
              <a:gd name="adj" fmla="val 16667"/>
            </a:avLst>
          </a:prstGeom>
          <a:solidFill>
            <a:srgbClr val="FADBE5"/>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i="1">
                <a:solidFill>
                  <a:srgbClr val="4A154B"/>
                </a:solidFill>
                <a:latin typeface="Noto Sans"/>
                <a:ea typeface="Noto Sans"/>
                <a:cs typeface="Noto Sans"/>
                <a:sym typeface="Noto Sans"/>
              </a:rPr>
              <a:t>“There are too many Slack features.”</a:t>
            </a:r>
            <a:endParaRPr i="1">
              <a:solidFill>
                <a:srgbClr val="4A154B"/>
              </a:solidFill>
              <a:latin typeface="Noto Sans"/>
              <a:ea typeface="Noto Sans"/>
              <a:cs typeface="Noto Sans"/>
              <a:sym typeface="Noto Sans"/>
            </a:endParaRPr>
          </a:p>
        </p:txBody>
      </p:sp>
      <p:sp>
        <p:nvSpPr>
          <p:cNvPr id="156" name="Google Shape;156;p19"/>
          <p:cNvSpPr/>
          <p:nvPr/>
        </p:nvSpPr>
        <p:spPr>
          <a:xfrm>
            <a:off x="5404000" y="908788"/>
            <a:ext cx="3632100" cy="558900"/>
          </a:xfrm>
          <a:prstGeom prst="roundRect">
            <a:avLst>
              <a:gd name="adj" fmla="val 16667"/>
            </a:avLst>
          </a:prstGeom>
          <a:solidFill>
            <a:srgbClr val="FADBE5"/>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a:solidFill>
                  <a:srgbClr val="4A154B"/>
                </a:solidFill>
                <a:latin typeface="Noto Sans"/>
                <a:ea typeface="Noto Sans"/>
                <a:cs typeface="Noto Sans"/>
                <a:sym typeface="Noto Sans"/>
              </a:rPr>
              <a:t>Easy to turn feature on-off as per need.</a:t>
            </a:r>
            <a:endParaRPr>
              <a:solidFill>
                <a:srgbClr val="4A154B"/>
              </a:solidFill>
              <a:latin typeface="Noto Sans"/>
              <a:ea typeface="Noto Sans"/>
              <a:cs typeface="Noto Sans"/>
              <a:sym typeface="Noto Sans"/>
            </a:endParaRPr>
          </a:p>
        </p:txBody>
      </p:sp>
      <p:sp>
        <p:nvSpPr>
          <p:cNvPr id="157" name="Google Shape;157;p19"/>
          <p:cNvSpPr/>
          <p:nvPr/>
        </p:nvSpPr>
        <p:spPr>
          <a:xfrm>
            <a:off x="107900" y="908788"/>
            <a:ext cx="1682700" cy="558900"/>
          </a:xfrm>
          <a:prstGeom prst="roundRect">
            <a:avLst>
              <a:gd name="adj" fmla="val 16667"/>
            </a:avLst>
          </a:prstGeom>
          <a:solidFill>
            <a:srgbClr val="FADB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154B"/>
                </a:solidFill>
                <a:latin typeface="Noto Sans"/>
                <a:ea typeface="Noto Sans"/>
                <a:cs typeface="Noto Sans"/>
                <a:sym typeface="Noto Sans"/>
              </a:rPr>
              <a:t>General User</a:t>
            </a:r>
            <a:endParaRPr b="1">
              <a:solidFill>
                <a:srgbClr val="4A154B"/>
              </a:solidFill>
              <a:latin typeface="Noto Sans"/>
              <a:ea typeface="Noto Sans"/>
              <a:cs typeface="Noto Sans"/>
              <a:sym typeface="No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grpSp>
        <p:nvGrpSpPr>
          <p:cNvPr id="162" name="Google Shape;162;p20"/>
          <p:cNvGrpSpPr/>
          <p:nvPr/>
        </p:nvGrpSpPr>
        <p:grpSpPr>
          <a:xfrm>
            <a:off x="0" y="0"/>
            <a:ext cx="9144000" cy="5143500"/>
            <a:chOff x="0" y="1025"/>
            <a:chExt cx="9144000" cy="5143500"/>
          </a:xfrm>
        </p:grpSpPr>
        <p:sp>
          <p:nvSpPr>
            <p:cNvPr id="163" name="Google Shape;163;p20"/>
            <p:cNvSpPr/>
            <p:nvPr/>
          </p:nvSpPr>
          <p:spPr>
            <a:xfrm>
              <a:off x="0" y="1025"/>
              <a:ext cx="9144000" cy="5143500"/>
            </a:xfrm>
            <a:prstGeom prst="rect">
              <a:avLst/>
            </a:prstGeom>
            <a:solidFill>
              <a:srgbClr val="FFFA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 name="Google Shape;164;p20"/>
            <p:cNvSpPr/>
            <p:nvPr/>
          </p:nvSpPr>
          <p:spPr>
            <a:xfrm>
              <a:off x="0" y="1032"/>
              <a:ext cx="9144000" cy="730800"/>
            </a:xfrm>
            <a:prstGeom prst="rect">
              <a:avLst/>
            </a:prstGeom>
            <a:solidFill>
              <a:srgbClr val="EBB12D"/>
            </a:solidFill>
            <a:ln>
              <a:noFill/>
            </a:ln>
          </p:spPr>
          <p:txBody>
            <a:bodyPr spcFirstLastPara="1" wrap="square" lIns="68575" tIns="34275" rIns="68575" bIns="34275"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 sz="1600" b="1">
                  <a:solidFill>
                    <a:srgbClr val="FFFAEF"/>
                  </a:solidFill>
                  <a:latin typeface="Noto Sans"/>
                  <a:ea typeface="Noto Sans"/>
                  <a:cs typeface="Noto Sans"/>
                  <a:sym typeface="Noto Sans"/>
                </a:rPr>
                <a:t>How We’ll Measure Impact: Metrics, Signals, and their Importance</a:t>
              </a:r>
              <a:endParaRPr sz="1600" b="1">
                <a:solidFill>
                  <a:srgbClr val="FFFAEF"/>
                </a:solidFill>
                <a:latin typeface="Noto Sans"/>
                <a:ea typeface="Noto Sans"/>
                <a:cs typeface="Noto Sans"/>
                <a:sym typeface="Noto Sans"/>
              </a:endParaRPr>
            </a:p>
          </p:txBody>
        </p:sp>
      </p:grpSp>
      <p:sp>
        <p:nvSpPr>
          <p:cNvPr id="165" name="Google Shape;165;p20"/>
          <p:cNvSpPr/>
          <p:nvPr/>
        </p:nvSpPr>
        <p:spPr>
          <a:xfrm>
            <a:off x="88700" y="2082800"/>
            <a:ext cx="11430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154B"/>
                </a:solidFill>
                <a:latin typeface="Noto Sans"/>
                <a:ea typeface="Noto Sans"/>
                <a:cs typeface="Noto Sans"/>
                <a:sym typeface="Noto Sans"/>
              </a:rPr>
              <a:t>Secondary</a:t>
            </a:r>
            <a:endParaRPr b="1">
              <a:solidFill>
                <a:srgbClr val="4A154B"/>
              </a:solidFill>
              <a:latin typeface="Noto Sans"/>
              <a:ea typeface="Noto Sans"/>
              <a:cs typeface="Noto Sans"/>
              <a:sym typeface="Noto Sans"/>
            </a:endParaRPr>
          </a:p>
        </p:txBody>
      </p:sp>
      <p:sp>
        <p:nvSpPr>
          <p:cNvPr id="166" name="Google Shape;166;p20"/>
          <p:cNvSpPr/>
          <p:nvPr/>
        </p:nvSpPr>
        <p:spPr>
          <a:xfrm>
            <a:off x="1358900" y="1193800"/>
            <a:ext cx="33018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sz="1800" b="1">
                <a:solidFill>
                  <a:srgbClr val="4A154B"/>
                </a:solidFill>
                <a:latin typeface="Noto Sans"/>
                <a:ea typeface="Noto Sans"/>
                <a:cs typeface="Noto Sans"/>
                <a:sym typeface="Noto Sans"/>
              </a:rPr>
              <a:t>⏱️</a:t>
            </a:r>
            <a:r>
              <a:rPr lang="en" b="1">
                <a:solidFill>
                  <a:srgbClr val="4A154B"/>
                </a:solidFill>
                <a:latin typeface="Noto Sans"/>
                <a:ea typeface="Noto Sans"/>
                <a:cs typeface="Noto Sans"/>
                <a:sym typeface="Noto Sans"/>
              </a:rPr>
              <a:t> Median Message Read Latency</a:t>
            </a:r>
            <a:endParaRPr b="1">
              <a:solidFill>
                <a:srgbClr val="4A154B"/>
              </a:solidFill>
              <a:latin typeface="Noto Sans"/>
              <a:ea typeface="Noto Sans"/>
              <a:cs typeface="Noto Sans"/>
              <a:sym typeface="Noto Sans"/>
            </a:endParaRPr>
          </a:p>
        </p:txBody>
      </p:sp>
      <p:sp>
        <p:nvSpPr>
          <p:cNvPr id="167" name="Google Shape;167;p20"/>
          <p:cNvSpPr/>
          <p:nvPr/>
        </p:nvSpPr>
        <p:spPr>
          <a:xfrm>
            <a:off x="4787900" y="1193800"/>
            <a:ext cx="39876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b="1">
                <a:solidFill>
                  <a:srgbClr val="4A154B"/>
                </a:solidFill>
                <a:latin typeface="Noto Sans"/>
                <a:ea typeface="Noto Sans"/>
                <a:cs typeface="Noto Sans"/>
                <a:sym typeface="Noto Sans"/>
              </a:rPr>
              <a:t>&lt; 28.8 mins median latency</a:t>
            </a:r>
            <a:endParaRPr b="1">
              <a:solidFill>
                <a:srgbClr val="4A154B"/>
              </a:solidFill>
              <a:latin typeface="Noto Sans"/>
              <a:ea typeface="Noto Sans"/>
              <a:cs typeface="Noto Sans"/>
              <a:sym typeface="Noto Sans"/>
            </a:endParaRPr>
          </a:p>
        </p:txBody>
      </p:sp>
      <p:sp>
        <p:nvSpPr>
          <p:cNvPr id="168" name="Google Shape;168;p20"/>
          <p:cNvSpPr/>
          <p:nvPr/>
        </p:nvSpPr>
        <p:spPr>
          <a:xfrm>
            <a:off x="1358900" y="4152900"/>
            <a:ext cx="7416600" cy="8127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457200" lvl="0" indent="-304800" algn="just" rtl="0">
              <a:spcBef>
                <a:spcPts val="0"/>
              </a:spcBef>
              <a:spcAft>
                <a:spcPts val="0"/>
              </a:spcAft>
              <a:buClr>
                <a:srgbClr val="4A154B"/>
              </a:buClr>
              <a:buSzPts val="1200"/>
              <a:buFont typeface="Noto Sans"/>
              <a:buChar char="●"/>
            </a:pPr>
            <a:r>
              <a:rPr lang="en" sz="1200">
                <a:solidFill>
                  <a:srgbClr val="4A154B"/>
                </a:solidFill>
                <a:latin typeface="Noto Sans"/>
                <a:ea typeface="Noto Sans"/>
                <a:cs typeface="Noto Sans"/>
                <a:sym typeface="Noto Sans"/>
              </a:rPr>
              <a:t>Aligned with Activation and Retention stages of Slack’s AAARR funnel </a:t>
            </a:r>
            <a:endParaRPr sz="1200">
              <a:solidFill>
                <a:srgbClr val="4A154B"/>
              </a:solidFill>
              <a:latin typeface="Noto Sans"/>
              <a:ea typeface="Noto Sans"/>
              <a:cs typeface="Noto Sans"/>
              <a:sym typeface="Noto Sans"/>
            </a:endParaRPr>
          </a:p>
          <a:p>
            <a:pPr marL="457200" lvl="0" indent="-304800" algn="just" rtl="0">
              <a:spcBef>
                <a:spcPts val="0"/>
              </a:spcBef>
              <a:spcAft>
                <a:spcPts val="0"/>
              </a:spcAft>
              <a:buClr>
                <a:srgbClr val="4A154B"/>
              </a:buClr>
              <a:buSzPts val="1200"/>
              <a:buFont typeface="Noto Sans"/>
              <a:buChar char="●"/>
            </a:pPr>
            <a:r>
              <a:rPr lang="en" sz="1200">
                <a:solidFill>
                  <a:srgbClr val="4A154B"/>
                </a:solidFill>
                <a:latin typeface="Noto Sans"/>
                <a:ea typeface="Noto Sans"/>
                <a:cs typeface="Noto Sans"/>
                <a:sym typeface="Noto Sans"/>
              </a:rPr>
              <a:t>Focused on responsiveness, satisfaction, and engagement </a:t>
            </a:r>
            <a:endParaRPr sz="1200">
              <a:solidFill>
                <a:srgbClr val="4A154B"/>
              </a:solidFill>
              <a:latin typeface="Noto Sans"/>
              <a:ea typeface="Noto Sans"/>
              <a:cs typeface="Noto Sans"/>
              <a:sym typeface="Noto Sans"/>
            </a:endParaRPr>
          </a:p>
          <a:p>
            <a:pPr marL="457200" lvl="0" indent="-304800" algn="just" rtl="0">
              <a:spcBef>
                <a:spcPts val="0"/>
              </a:spcBef>
              <a:spcAft>
                <a:spcPts val="0"/>
              </a:spcAft>
              <a:buClr>
                <a:srgbClr val="4A154B"/>
              </a:buClr>
              <a:buSzPts val="1200"/>
              <a:buFont typeface="Noto Sans"/>
              <a:buChar char="●"/>
            </a:pPr>
            <a:r>
              <a:rPr lang="en" sz="1200">
                <a:solidFill>
                  <a:srgbClr val="4A154B"/>
                </a:solidFill>
                <a:latin typeface="Noto Sans"/>
                <a:ea typeface="Noto Sans"/>
                <a:cs typeface="Noto Sans"/>
                <a:sym typeface="Noto Sans"/>
              </a:rPr>
              <a:t>Designed for hybrid &amp; RTO users, critical to Slack’s future growth </a:t>
            </a:r>
            <a:endParaRPr sz="1200">
              <a:solidFill>
                <a:srgbClr val="4A154B"/>
              </a:solidFill>
              <a:latin typeface="Noto Sans"/>
              <a:ea typeface="Noto Sans"/>
              <a:cs typeface="Noto Sans"/>
              <a:sym typeface="Noto Sans"/>
            </a:endParaRPr>
          </a:p>
          <a:p>
            <a:pPr marL="457200" lvl="0" indent="-304800" algn="just" rtl="0">
              <a:spcBef>
                <a:spcPts val="0"/>
              </a:spcBef>
              <a:spcAft>
                <a:spcPts val="0"/>
              </a:spcAft>
              <a:buClr>
                <a:srgbClr val="4A154B"/>
              </a:buClr>
              <a:buSzPts val="1200"/>
              <a:buFont typeface="Noto Sans"/>
              <a:buChar char="●"/>
            </a:pPr>
            <a:r>
              <a:rPr lang="en" sz="1200">
                <a:solidFill>
                  <a:srgbClr val="4A154B"/>
                </a:solidFill>
                <a:latin typeface="Noto Sans"/>
                <a:ea typeface="Noto Sans"/>
                <a:cs typeface="Noto Sans"/>
                <a:sym typeface="Noto Sans"/>
              </a:rPr>
              <a:t>Support Slack’s OKRs: Improved productivity &amp; user satisfaction </a:t>
            </a:r>
            <a:endParaRPr sz="1200">
              <a:solidFill>
                <a:srgbClr val="4A154B"/>
              </a:solidFill>
              <a:latin typeface="Noto Sans"/>
              <a:ea typeface="Noto Sans"/>
              <a:cs typeface="Noto Sans"/>
              <a:sym typeface="Noto Sans"/>
            </a:endParaRPr>
          </a:p>
        </p:txBody>
      </p:sp>
      <p:sp>
        <p:nvSpPr>
          <p:cNvPr id="169" name="Google Shape;169;p20"/>
          <p:cNvSpPr/>
          <p:nvPr/>
        </p:nvSpPr>
        <p:spPr>
          <a:xfrm>
            <a:off x="1358900" y="1562200"/>
            <a:ext cx="33018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sz="1800" b="1">
                <a:solidFill>
                  <a:srgbClr val="4A154B"/>
                </a:solidFill>
                <a:latin typeface="Noto Sans"/>
                <a:ea typeface="Noto Sans"/>
                <a:cs typeface="Noto Sans"/>
                <a:sym typeface="Noto Sans"/>
              </a:rPr>
              <a:t>📩</a:t>
            </a:r>
            <a:r>
              <a:rPr lang="en" b="1">
                <a:solidFill>
                  <a:srgbClr val="4A154B"/>
                </a:solidFill>
                <a:latin typeface="Noto Sans"/>
                <a:ea typeface="Noto Sans"/>
                <a:cs typeface="Noto Sans"/>
                <a:sym typeface="Noto Sans"/>
              </a:rPr>
              <a:t> Average Unread Notifications</a:t>
            </a:r>
            <a:endParaRPr b="1">
              <a:solidFill>
                <a:srgbClr val="4A154B"/>
              </a:solidFill>
              <a:latin typeface="Noto Sans"/>
              <a:ea typeface="Noto Sans"/>
              <a:cs typeface="Noto Sans"/>
              <a:sym typeface="Noto Sans"/>
            </a:endParaRPr>
          </a:p>
        </p:txBody>
      </p:sp>
      <p:sp>
        <p:nvSpPr>
          <p:cNvPr id="170" name="Google Shape;170;p20"/>
          <p:cNvSpPr/>
          <p:nvPr/>
        </p:nvSpPr>
        <p:spPr>
          <a:xfrm>
            <a:off x="4787900" y="1562200"/>
            <a:ext cx="39876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b="1">
                <a:solidFill>
                  <a:srgbClr val="4A154B"/>
                </a:solidFill>
                <a:latin typeface="Noto Sans"/>
                <a:ea typeface="Noto Sans"/>
                <a:cs typeface="Noto Sans"/>
                <a:sym typeface="Noto Sans"/>
              </a:rPr>
              <a:t>&lt; 11.9 unread messages at EOD</a:t>
            </a:r>
            <a:endParaRPr b="1">
              <a:solidFill>
                <a:srgbClr val="4A154B"/>
              </a:solidFill>
              <a:latin typeface="Noto Sans"/>
              <a:ea typeface="Noto Sans"/>
              <a:cs typeface="Noto Sans"/>
              <a:sym typeface="Noto Sans"/>
            </a:endParaRPr>
          </a:p>
        </p:txBody>
      </p:sp>
      <p:sp>
        <p:nvSpPr>
          <p:cNvPr id="171" name="Google Shape;171;p20"/>
          <p:cNvSpPr/>
          <p:nvPr/>
        </p:nvSpPr>
        <p:spPr>
          <a:xfrm>
            <a:off x="1358900" y="2082800"/>
            <a:ext cx="33018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sz="1800" b="1">
                <a:solidFill>
                  <a:srgbClr val="4A154B"/>
                </a:solidFill>
                <a:latin typeface="Noto Sans"/>
                <a:ea typeface="Noto Sans"/>
                <a:cs typeface="Noto Sans"/>
                <a:sym typeface="Noto Sans"/>
              </a:rPr>
              <a:t>👍</a:t>
            </a:r>
            <a:r>
              <a:rPr lang="en" b="1">
                <a:solidFill>
                  <a:srgbClr val="4A154B"/>
                </a:solidFill>
                <a:latin typeface="Noto Sans"/>
                <a:ea typeface="Noto Sans"/>
                <a:cs typeface="Noto Sans"/>
                <a:sym typeface="Noto Sans"/>
              </a:rPr>
              <a:t> CSAT / Prioritization Feedback</a:t>
            </a:r>
            <a:endParaRPr b="1">
              <a:solidFill>
                <a:srgbClr val="4A154B"/>
              </a:solidFill>
              <a:latin typeface="Noto Sans"/>
              <a:ea typeface="Noto Sans"/>
              <a:cs typeface="Noto Sans"/>
              <a:sym typeface="Noto Sans"/>
            </a:endParaRPr>
          </a:p>
        </p:txBody>
      </p:sp>
      <p:sp>
        <p:nvSpPr>
          <p:cNvPr id="172" name="Google Shape;172;p20"/>
          <p:cNvSpPr/>
          <p:nvPr/>
        </p:nvSpPr>
        <p:spPr>
          <a:xfrm>
            <a:off x="4787900" y="2082800"/>
            <a:ext cx="39876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b="1">
                <a:solidFill>
                  <a:srgbClr val="4A154B"/>
                </a:solidFill>
                <a:latin typeface="Noto Sans"/>
                <a:ea typeface="Noto Sans"/>
                <a:cs typeface="Noto Sans"/>
                <a:sym typeface="Noto Sans"/>
              </a:rPr>
              <a:t>≥60% positive feedback </a:t>
            </a:r>
            <a:endParaRPr b="1">
              <a:solidFill>
                <a:srgbClr val="4A154B"/>
              </a:solidFill>
              <a:latin typeface="Noto Sans"/>
              <a:ea typeface="Noto Sans"/>
              <a:cs typeface="Noto Sans"/>
              <a:sym typeface="Noto Sans"/>
            </a:endParaRPr>
          </a:p>
        </p:txBody>
      </p:sp>
      <p:sp>
        <p:nvSpPr>
          <p:cNvPr id="173" name="Google Shape;173;p20"/>
          <p:cNvSpPr/>
          <p:nvPr/>
        </p:nvSpPr>
        <p:spPr>
          <a:xfrm>
            <a:off x="1358900" y="2451200"/>
            <a:ext cx="33018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sz="1800" b="1">
                <a:solidFill>
                  <a:srgbClr val="4A154B"/>
                </a:solidFill>
                <a:latin typeface="Noto Sans"/>
                <a:ea typeface="Noto Sans"/>
                <a:cs typeface="Noto Sans"/>
                <a:sym typeface="Noto Sans"/>
              </a:rPr>
              <a:t>⚠️</a:t>
            </a:r>
            <a:r>
              <a:rPr lang="en" b="1">
                <a:solidFill>
                  <a:srgbClr val="4A154B"/>
                </a:solidFill>
                <a:latin typeface="Noto Sans"/>
                <a:ea typeface="Noto Sans"/>
                <a:cs typeface="Noto Sans"/>
                <a:sym typeface="Noto Sans"/>
              </a:rPr>
              <a:t> Complaint Rate</a:t>
            </a:r>
            <a:endParaRPr b="1">
              <a:solidFill>
                <a:srgbClr val="4A154B"/>
              </a:solidFill>
              <a:latin typeface="Noto Sans"/>
              <a:ea typeface="Noto Sans"/>
              <a:cs typeface="Noto Sans"/>
              <a:sym typeface="Noto Sans"/>
            </a:endParaRPr>
          </a:p>
        </p:txBody>
      </p:sp>
      <p:sp>
        <p:nvSpPr>
          <p:cNvPr id="174" name="Google Shape;174;p20"/>
          <p:cNvSpPr/>
          <p:nvPr/>
        </p:nvSpPr>
        <p:spPr>
          <a:xfrm>
            <a:off x="4787900" y="2451200"/>
            <a:ext cx="39876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b="1">
                <a:solidFill>
                  <a:srgbClr val="4A154B"/>
                </a:solidFill>
                <a:latin typeface="Noto Sans"/>
                <a:ea typeface="Noto Sans"/>
                <a:cs typeface="Noto Sans"/>
                <a:sym typeface="Noto Sans"/>
              </a:rPr>
              <a:t>&lt;25% increase in tickets from baseline</a:t>
            </a:r>
            <a:endParaRPr b="1">
              <a:solidFill>
                <a:srgbClr val="4A154B"/>
              </a:solidFill>
              <a:latin typeface="Noto Sans"/>
              <a:ea typeface="Noto Sans"/>
              <a:cs typeface="Noto Sans"/>
              <a:sym typeface="Noto Sans"/>
            </a:endParaRPr>
          </a:p>
        </p:txBody>
      </p:sp>
      <p:sp>
        <p:nvSpPr>
          <p:cNvPr id="175" name="Google Shape;175;p20"/>
          <p:cNvSpPr/>
          <p:nvPr/>
        </p:nvSpPr>
        <p:spPr>
          <a:xfrm>
            <a:off x="1358900" y="2971800"/>
            <a:ext cx="33018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sz="1800" b="1">
                <a:solidFill>
                  <a:srgbClr val="4A154B"/>
                </a:solidFill>
                <a:latin typeface="Noto Sans"/>
                <a:ea typeface="Noto Sans"/>
                <a:cs typeface="Noto Sans"/>
                <a:sym typeface="Noto Sans"/>
              </a:rPr>
              <a:t>🔄</a:t>
            </a:r>
            <a:r>
              <a:rPr lang="en" b="1">
                <a:solidFill>
                  <a:srgbClr val="4A154B"/>
                </a:solidFill>
                <a:latin typeface="Noto Sans"/>
                <a:ea typeface="Noto Sans"/>
                <a:cs typeface="Noto Sans"/>
                <a:sym typeface="Noto Sans"/>
              </a:rPr>
              <a:t> WFH Toggle Usage</a:t>
            </a:r>
            <a:endParaRPr b="1">
              <a:solidFill>
                <a:srgbClr val="4A154B"/>
              </a:solidFill>
              <a:latin typeface="Noto Sans"/>
              <a:ea typeface="Noto Sans"/>
              <a:cs typeface="Noto Sans"/>
              <a:sym typeface="Noto Sans"/>
            </a:endParaRPr>
          </a:p>
        </p:txBody>
      </p:sp>
      <p:sp>
        <p:nvSpPr>
          <p:cNvPr id="176" name="Google Shape;176;p20"/>
          <p:cNvSpPr/>
          <p:nvPr/>
        </p:nvSpPr>
        <p:spPr>
          <a:xfrm>
            <a:off x="4787900" y="2971800"/>
            <a:ext cx="39876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b="1">
                <a:solidFill>
                  <a:srgbClr val="4A154B"/>
                </a:solidFill>
                <a:latin typeface="Noto Sans"/>
                <a:ea typeface="Noto Sans"/>
                <a:cs typeface="Noto Sans"/>
                <a:sym typeface="Noto Sans"/>
              </a:rPr>
              <a:t>&lt;20% toggle use (min 1 day/week)</a:t>
            </a:r>
            <a:endParaRPr b="1">
              <a:solidFill>
                <a:srgbClr val="4A154B"/>
              </a:solidFill>
              <a:latin typeface="Noto Sans"/>
              <a:ea typeface="Noto Sans"/>
              <a:cs typeface="Noto Sans"/>
              <a:sym typeface="Noto Sans"/>
            </a:endParaRPr>
          </a:p>
        </p:txBody>
      </p:sp>
      <p:sp>
        <p:nvSpPr>
          <p:cNvPr id="177" name="Google Shape;177;p20"/>
          <p:cNvSpPr/>
          <p:nvPr/>
        </p:nvSpPr>
        <p:spPr>
          <a:xfrm>
            <a:off x="1358900" y="3340200"/>
            <a:ext cx="33018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sz="1800" b="1">
                <a:solidFill>
                  <a:srgbClr val="4A154B"/>
                </a:solidFill>
                <a:latin typeface="Noto Sans"/>
                <a:ea typeface="Noto Sans"/>
                <a:cs typeface="Noto Sans"/>
                <a:sym typeface="Noto Sans"/>
              </a:rPr>
              <a:t>🚫</a:t>
            </a:r>
            <a:r>
              <a:rPr lang="en" b="1">
                <a:solidFill>
                  <a:srgbClr val="4A154B"/>
                </a:solidFill>
                <a:latin typeface="Noto Sans"/>
                <a:ea typeface="Noto Sans"/>
                <a:cs typeface="Noto Sans"/>
                <a:sym typeface="Noto Sans"/>
              </a:rPr>
              <a:t> Opt-Out Rate</a:t>
            </a:r>
            <a:endParaRPr b="1">
              <a:solidFill>
                <a:srgbClr val="4A154B"/>
              </a:solidFill>
              <a:latin typeface="Noto Sans"/>
              <a:ea typeface="Noto Sans"/>
              <a:cs typeface="Noto Sans"/>
              <a:sym typeface="Noto Sans"/>
            </a:endParaRPr>
          </a:p>
        </p:txBody>
      </p:sp>
      <p:sp>
        <p:nvSpPr>
          <p:cNvPr id="178" name="Google Shape;178;p20"/>
          <p:cNvSpPr/>
          <p:nvPr/>
        </p:nvSpPr>
        <p:spPr>
          <a:xfrm>
            <a:off x="4787900" y="3340200"/>
            <a:ext cx="39876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b="1">
                <a:solidFill>
                  <a:srgbClr val="4A154B"/>
                </a:solidFill>
                <a:latin typeface="Noto Sans"/>
                <a:ea typeface="Noto Sans"/>
                <a:cs typeface="Noto Sans"/>
                <a:sym typeface="Noto Sans"/>
              </a:rPr>
              <a:t>&gt;30% opt-out</a:t>
            </a:r>
            <a:endParaRPr b="1">
              <a:solidFill>
                <a:srgbClr val="4A154B"/>
              </a:solidFill>
              <a:latin typeface="Noto Sans"/>
              <a:ea typeface="Noto Sans"/>
              <a:cs typeface="Noto Sans"/>
              <a:sym typeface="Noto Sans"/>
            </a:endParaRPr>
          </a:p>
        </p:txBody>
      </p:sp>
      <p:sp>
        <p:nvSpPr>
          <p:cNvPr id="179" name="Google Shape;179;p20"/>
          <p:cNvSpPr/>
          <p:nvPr/>
        </p:nvSpPr>
        <p:spPr>
          <a:xfrm>
            <a:off x="1358900" y="3708600"/>
            <a:ext cx="33018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sz="1800" b="1">
                <a:solidFill>
                  <a:srgbClr val="4A154B"/>
                </a:solidFill>
                <a:latin typeface="Noto Sans"/>
                <a:ea typeface="Noto Sans"/>
                <a:cs typeface="Noto Sans"/>
                <a:sym typeface="Noto Sans"/>
              </a:rPr>
              <a:t>📉</a:t>
            </a:r>
            <a:r>
              <a:rPr lang="en" b="1">
                <a:solidFill>
                  <a:srgbClr val="4A154B"/>
                </a:solidFill>
                <a:latin typeface="Noto Sans"/>
                <a:ea typeface="Noto Sans"/>
                <a:cs typeface="Noto Sans"/>
                <a:sym typeface="Noto Sans"/>
              </a:rPr>
              <a:t> Message Volume Drop</a:t>
            </a:r>
            <a:endParaRPr b="1">
              <a:solidFill>
                <a:srgbClr val="4A154B"/>
              </a:solidFill>
              <a:latin typeface="Noto Sans"/>
              <a:ea typeface="Noto Sans"/>
              <a:cs typeface="Noto Sans"/>
              <a:sym typeface="Noto Sans"/>
            </a:endParaRPr>
          </a:p>
        </p:txBody>
      </p:sp>
      <p:sp>
        <p:nvSpPr>
          <p:cNvPr id="180" name="Google Shape;180;p20"/>
          <p:cNvSpPr/>
          <p:nvPr/>
        </p:nvSpPr>
        <p:spPr>
          <a:xfrm>
            <a:off x="4787900" y="3708600"/>
            <a:ext cx="39876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en" b="1">
                <a:solidFill>
                  <a:srgbClr val="4A154B"/>
                </a:solidFill>
                <a:latin typeface="Noto Sans"/>
                <a:ea typeface="Noto Sans"/>
                <a:cs typeface="Noto Sans"/>
                <a:sym typeface="Noto Sans"/>
              </a:rPr>
              <a:t>&gt;10% volume drop per User</a:t>
            </a:r>
            <a:endParaRPr b="1">
              <a:solidFill>
                <a:srgbClr val="4A154B"/>
              </a:solidFill>
              <a:latin typeface="Noto Sans"/>
              <a:ea typeface="Noto Sans"/>
              <a:cs typeface="Noto Sans"/>
              <a:sym typeface="Noto Sans"/>
            </a:endParaRPr>
          </a:p>
        </p:txBody>
      </p:sp>
      <p:sp>
        <p:nvSpPr>
          <p:cNvPr id="181" name="Google Shape;181;p20"/>
          <p:cNvSpPr/>
          <p:nvPr/>
        </p:nvSpPr>
        <p:spPr>
          <a:xfrm>
            <a:off x="88700" y="1193800"/>
            <a:ext cx="11430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154B"/>
                </a:solidFill>
                <a:latin typeface="Noto Sans"/>
                <a:ea typeface="Noto Sans"/>
                <a:cs typeface="Noto Sans"/>
                <a:sym typeface="Noto Sans"/>
              </a:rPr>
              <a:t>Primary</a:t>
            </a:r>
            <a:endParaRPr b="1">
              <a:solidFill>
                <a:srgbClr val="4A154B"/>
              </a:solidFill>
              <a:latin typeface="Noto Sans"/>
              <a:ea typeface="Noto Sans"/>
              <a:cs typeface="Noto Sans"/>
              <a:sym typeface="Noto Sans"/>
            </a:endParaRPr>
          </a:p>
        </p:txBody>
      </p:sp>
      <p:sp>
        <p:nvSpPr>
          <p:cNvPr id="182" name="Google Shape;182;p20"/>
          <p:cNvSpPr/>
          <p:nvPr/>
        </p:nvSpPr>
        <p:spPr>
          <a:xfrm>
            <a:off x="88700" y="2971800"/>
            <a:ext cx="1143000" cy="368400"/>
          </a:xfrm>
          <a:prstGeom prst="roundRect">
            <a:avLst>
              <a:gd name="adj" fmla="val 16667"/>
            </a:avLst>
          </a:prstGeom>
          <a:solidFill>
            <a:srgbClr val="FCF1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154B"/>
                </a:solidFill>
                <a:latin typeface="Noto Sans"/>
                <a:ea typeface="Noto Sans"/>
                <a:cs typeface="Noto Sans"/>
                <a:sym typeface="Noto Sans"/>
              </a:rPr>
              <a:t>Guardrail</a:t>
            </a:r>
            <a:endParaRPr b="1">
              <a:solidFill>
                <a:srgbClr val="4A154B"/>
              </a:solidFill>
              <a:latin typeface="Noto Sans"/>
              <a:ea typeface="Noto Sans"/>
              <a:cs typeface="Noto Sans"/>
              <a:sym typeface="Noto Sans"/>
            </a:endParaRPr>
          </a:p>
        </p:txBody>
      </p:sp>
      <p:sp>
        <p:nvSpPr>
          <p:cNvPr id="183" name="Google Shape;183;p20"/>
          <p:cNvSpPr txBox="1"/>
          <p:nvPr/>
        </p:nvSpPr>
        <p:spPr>
          <a:xfrm>
            <a:off x="-250" y="732100"/>
            <a:ext cx="135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a:solidFill>
                  <a:srgbClr val="EBB12D"/>
                </a:solidFill>
                <a:latin typeface="Noto Sans ExtraBold"/>
                <a:ea typeface="Noto Sans ExtraBold"/>
                <a:cs typeface="Noto Sans ExtraBold"/>
                <a:sym typeface="Noto Sans ExtraBold"/>
              </a:rPr>
              <a:t>Category</a:t>
            </a:r>
            <a:endParaRPr sz="1700">
              <a:solidFill>
                <a:srgbClr val="EBB12D"/>
              </a:solidFill>
              <a:latin typeface="Noto Sans ExtraBold"/>
              <a:ea typeface="Noto Sans ExtraBold"/>
              <a:cs typeface="Noto Sans ExtraBold"/>
              <a:sym typeface="Noto Sans ExtraBold"/>
            </a:endParaRPr>
          </a:p>
        </p:txBody>
      </p:sp>
      <p:sp>
        <p:nvSpPr>
          <p:cNvPr id="184" name="Google Shape;184;p20"/>
          <p:cNvSpPr txBox="1"/>
          <p:nvPr/>
        </p:nvSpPr>
        <p:spPr>
          <a:xfrm>
            <a:off x="2330300" y="747400"/>
            <a:ext cx="13590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a:solidFill>
                  <a:srgbClr val="EBB12D"/>
                </a:solidFill>
                <a:latin typeface="Noto Sans ExtraBold"/>
                <a:ea typeface="Noto Sans ExtraBold"/>
                <a:cs typeface="Noto Sans ExtraBold"/>
                <a:sym typeface="Noto Sans ExtraBold"/>
              </a:rPr>
              <a:t>Metric</a:t>
            </a:r>
            <a:endParaRPr sz="1700">
              <a:solidFill>
                <a:srgbClr val="EBB12D"/>
              </a:solidFill>
              <a:latin typeface="Noto Sans ExtraBold"/>
              <a:ea typeface="Noto Sans ExtraBold"/>
              <a:cs typeface="Noto Sans ExtraBold"/>
              <a:sym typeface="Noto Sans ExtraBold"/>
            </a:endParaRPr>
          </a:p>
        </p:txBody>
      </p:sp>
      <p:sp>
        <p:nvSpPr>
          <p:cNvPr id="185" name="Google Shape;185;p20"/>
          <p:cNvSpPr txBox="1"/>
          <p:nvPr/>
        </p:nvSpPr>
        <p:spPr>
          <a:xfrm>
            <a:off x="5492600" y="747400"/>
            <a:ext cx="25782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a:solidFill>
                  <a:srgbClr val="EBB12D"/>
                </a:solidFill>
                <a:latin typeface="Noto Sans ExtraBold"/>
                <a:ea typeface="Noto Sans ExtraBold"/>
                <a:cs typeface="Noto Sans ExtraBold"/>
                <a:sym typeface="Noto Sans ExtraBold"/>
              </a:rPr>
              <a:t>Target/Threshold</a:t>
            </a:r>
            <a:endParaRPr sz="1700">
              <a:solidFill>
                <a:srgbClr val="EBB12D"/>
              </a:solidFill>
              <a:latin typeface="Noto Sans ExtraBold"/>
              <a:ea typeface="Noto Sans ExtraBold"/>
              <a:cs typeface="Noto Sans ExtraBold"/>
              <a:sym typeface="Noto Sans Extra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1"/>
          <p:cNvSpPr/>
          <p:nvPr/>
        </p:nvSpPr>
        <p:spPr>
          <a:xfrm>
            <a:off x="0" y="1025"/>
            <a:ext cx="9144000" cy="5143500"/>
          </a:xfrm>
          <a:prstGeom prst="rect">
            <a:avLst/>
          </a:prstGeom>
          <a:solidFill>
            <a:srgbClr val="FFFA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 name="Google Shape;191;p21"/>
          <p:cNvSpPr/>
          <p:nvPr/>
        </p:nvSpPr>
        <p:spPr>
          <a:xfrm>
            <a:off x="0" y="1032"/>
            <a:ext cx="9144000" cy="730800"/>
          </a:xfrm>
          <a:prstGeom prst="rect">
            <a:avLst/>
          </a:prstGeom>
          <a:solidFill>
            <a:srgbClr val="2DB67C"/>
          </a:solidFill>
          <a:ln>
            <a:noFill/>
          </a:ln>
        </p:spPr>
        <p:txBody>
          <a:bodyPr spcFirstLastPara="1" wrap="square" lIns="68575" tIns="34275" rIns="68575" bIns="34275"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 sz="1600" b="1">
                <a:solidFill>
                  <a:schemeClr val="lt1"/>
                </a:solidFill>
                <a:latin typeface="Noto Sans"/>
                <a:ea typeface="Noto Sans"/>
                <a:cs typeface="Noto Sans"/>
                <a:sym typeface="Noto Sans"/>
              </a:rPr>
              <a:t>Evaluation Framework: Hypotheses for Feature Adoption, Impact, and User Response</a:t>
            </a:r>
            <a:endParaRPr sz="1600" b="1">
              <a:solidFill>
                <a:schemeClr val="lt1"/>
              </a:solidFill>
              <a:latin typeface="Noto Sans"/>
              <a:ea typeface="Noto Sans"/>
              <a:cs typeface="Noto Sans"/>
              <a:sym typeface="Noto Sans"/>
            </a:endParaRPr>
          </a:p>
        </p:txBody>
      </p:sp>
      <p:sp>
        <p:nvSpPr>
          <p:cNvPr id="192" name="Google Shape;192;p21"/>
          <p:cNvSpPr/>
          <p:nvPr/>
        </p:nvSpPr>
        <p:spPr>
          <a:xfrm>
            <a:off x="939800" y="1226075"/>
            <a:ext cx="2540100" cy="730800"/>
          </a:xfrm>
          <a:prstGeom prst="roundRect">
            <a:avLst>
              <a:gd name="adj" fmla="val 16667"/>
            </a:avLst>
          </a:prstGeom>
          <a:solidFill>
            <a:srgbClr val="DEF7ED"/>
          </a:solidFill>
          <a:ln w="9525" cap="flat" cmpd="sng">
            <a:solidFill>
              <a:srgbClr val="FFFA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154B"/>
                </a:solidFill>
                <a:latin typeface="Noto Sans"/>
                <a:ea typeface="Noto Sans"/>
                <a:cs typeface="Noto Sans"/>
                <a:sym typeface="Noto Sans"/>
              </a:rPr>
              <a:t>Message Responsiveness</a:t>
            </a:r>
            <a:endParaRPr b="1">
              <a:solidFill>
                <a:srgbClr val="4A154B"/>
              </a:solidFill>
              <a:latin typeface="Noto Sans"/>
              <a:ea typeface="Noto Sans"/>
              <a:cs typeface="Noto Sans"/>
              <a:sym typeface="Noto Sans"/>
            </a:endParaRPr>
          </a:p>
        </p:txBody>
      </p:sp>
      <p:sp>
        <p:nvSpPr>
          <p:cNvPr id="193" name="Google Shape;193;p21"/>
          <p:cNvSpPr/>
          <p:nvPr/>
        </p:nvSpPr>
        <p:spPr>
          <a:xfrm>
            <a:off x="939800" y="2222509"/>
            <a:ext cx="2540100" cy="730800"/>
          </a:xfrm>
          <a:prstGeom prst="roundRect">
            <a:avLst>
              <a:gd name="adj" fmla="val 16667"/>
            </a:avLst>
          </a:prstGeom>
          <a:solidFill>
            <a:srgbClr val="DEF7ED"/>
          </a:solidFill>
          <a:ln w="9525" cap="flat" cmpd="sng">
            <a:solidFill>
              <a:srgbClr val="FFFA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154B"/>
                </a:solidFill>
                <a:latin typeface="Noto Sans"/>
                <a:ea typeface="Noto Sans"/>
                <a:cs typeface="Noto Sans"/>
                <a:sym typeface="Noto Sans"/>
              </a:rPr>
              <a:t>Notification Overload</a:t>
            </a:r>
            <a:endParaRPr b="1">
              <a:solidFill>
                <a:srgbClr val="4A154B"/>
              </a:solidFill>
              <a:latin typeface="Noto Sans"/>
              <a:ea typeface="Noto Sans"/>
              <a:cs typeface="Noto Sans"/>
              <a:sym typeface="Noto Sans"/>
            </a:endParaRPr>
          </a:p>
        </p:txBody>
      </p:sp>
      <p:sp>
        <p:nvSpPr>
          <p:cNvPr id="194" name="Google Shape;194;p21"/>
          <p:cNvSpPr/>
          <p:nvPr/>
        </p:nvSpPr>
        <p:spPr>
          <a:xfrm>
            <a:off x="939800" y="3218929"/>
            <a:ext cx="2540100" cy="730800"/>
          </a:xfrm>
          <a:prstGeom prst="roundRect">
            <a:avLst>
              <a:gd name="adj" fmla="val 16667"/>
            </a:avLst>
          </a:prstGeom>
          <a:solidFill>
            <a:srgbClr val="DEF7ED"/>
          </a:solidFill>
          <a:ln w="9525" cap="flat" cmpd="sng">
            <a:solidFill>
              <a:srgbClr val="FFFA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154B"/>
                </a:solidFill>
                <a:latin typeface="Noto Sans"/>
                <a:ea typeface="Noto Sans"/>
                <a:cs typeface="Noto Sans"/>
                <a:sym typeface="Noto Sans"/>
              </a:rPr>
              <a:t>User Sentiment</a:t>
            </a:r>
            <a:endParaRPr b="1">
              <a:solidFill>
                <a:srgbClr val="4A154B"/>
              </a:solidFill>
              <a:latin typeface="Noto Sans"/>
              <a:ea typeface="Noto Sans"/>
              <a:cs typeface="Noto Sans"/>
              <a:sym typeface="Noto Sans"/>
            </a:endParaRPr>
          </a:p>
        </p:txBody>
      </p:sp>
      <p:sp>
        <p:nvSpPr>
          <p:cNvPr id="195" name="Google Shape;195;p21"/>
          <p:cNvSpPr/>
          <p:nvPr/>
        </p:nvSpPr>
        <p:spPr>
          <a:xfrm>
            <a:off x="939800" y="4215350"/>
            <a:ext cx="2540100" cy="730800"/>
          </a:xfrm>
          <a:prstGeom prst="roundRect">
            <a:avLst>
              <a:gd name="adj" fmla="val 16667"/>
            </a:avLst>
          </a:prstGeom>
          <a:solidFill>
            <a:srgbClr val="DEF7ED"/>
          </a:solidFill>
          <a:ln w="9525" cap="flat" cmpd="sng">
            <a:solidFill>
              <a:srgbClr val="FFFA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154B"/>
                </a:solidFill>
                <a:latin typeface="Noto Sans"/>
                <a:ea typeface="Noto Sans"/>
                <a:cs typeface="Noto Sans"/>
                <a:sym typeface="Noto Sans"/>
              </a:rPr>
              <a:t>Feature Adoption</a:t>
            </a:r>
            <a:endParaRPr b="1">
              <a:solidFill>
                <a:srgbClr val="4A154B"/>
              </a:solidFill>
              <a:latin typeface="Noto Sans"/>
              <a:ea typeface="Noto Sans"/>
              <a:cs typeface="Noto Sans"/>
              <a:sym typeface="Noto Sans"/>
            </a:endParaRPr>
          </a:p>
        </p:txBody>
      </p:sp>
      <p:sp>
        <p:nvSpPr>
          <p:cNvPr id="196" name="Google Shape;196;p21"/>
          <p:cNvSpPr/>
          <p:nvPr/>
        </p:nvSpPr>
        <p:spPr>
          <a:xfrm>
            <a:off x="3708400" y="1226075"/>
            <a:ext cx="5105400" cy="730800"/>
          </a:xfrm>
          <a:prstGeom prst="roundRect">
            <a:avLst>
              <a:gd name="adj" fmla="val 16667"/>
            </a:avLst>
          </a:prstGeom>
          <a:solidFill>
            <a:srgbClr val="DEF7ED"/>
          </a:solidFill>
          <a:ln w="9525" cap="flat" cmpd="sng">
            <a:solidFill>
              <a:srgbClr val="FFFAEF"/>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spcBef>
                <a:spcPts val="0"/>
              </a:spcBef>
              <a:spcAft>
                <a:spcPts val="0"/>
              </a:spcAft>
              <a:buClr>
                <a:schemeClr val="dk1"/>
              </a:buClr>
              <a:buSzPts val="1100"/>
              <a:buFont typeface="Arial"/>
              <a:buNone/>
            </a:pPr>
            <a:r>
              <a:rPr lang="en" b="1">
                <a:solidFill>
                  <a:srgbClr val="4A154B"/>
                </a:solidFill>
                <a:latin typeface="Noto Sans"/>
                <a:ea typeface="Noto Sans"/>
                <a:cs typeface="Noto Sans"/>
                <a:sym typeface="Noto Sans"/>
              </a:rPr>
              <a:t>H1</a:t>
            </a:r>
            <a:r>
              <a:rPr lang="en">
                <a:solidFill>
                  <a:srgbClr val="4A154B"/>
                </a:solidFill>
                <a:latin typeface="Noto Sans"/>
                <a:ea typeface="Noto Sans"/>
                <a:cs typeface="Noto Sans"/>
                <a:sym typeface="Noto Sans"/>
              </a:rPr>
              <a:t>: &gt;10% faster median message-read latency vs control</a:t>
            </a:r>
            <a:endParaRPr>
              <a:solidFill>
                <a:srgbClr val="4A154B"/>
              </a:solidFill>
              <a:latin typeface="Noto Sans"/>
              <a:ea typeface="Noto Sans"/>
              <a:cs typeface="Noto Sans"/>
              <a:sym typeface="Noto Sans"/>
            </a:endParaRPr>
          </a:p>
          <a:p>
            <a:pPr marL="0" lvl="0" indent="0" algn="just" rtl="0">
              <a:spcBef>
                <a:spcPts val="0"/>
              </a:spcBef>
              <a:spcAft>
                <a:spcPts val="0"/>
              </a:spcAft>
              <a:buNone/>
            </a:pPr>
            <a:r>
              <a:rPr lang="en" b="1">
                <a:solidFill>
                  <a:srgbClr val="999999"/>
                </a:solidFill>
                <a:latin typeface="Noto Sans"/>
                <a:ea typeface="Noto Sans"/>
                <a:cs typeface="Noto Sans"/>
                <a:sym typeface="Noto Sans"/>
              </a:rPr>
              <a:t>H0</a:t>
            </a:r>
            <a:r>
              <a:rPr lang="en">
                <a:solidFill>
                  <a:srgbClr val="999999"/>
                </a:solidFill>
                <a:latin typeface="Noto Sans"/>
                <a:ea typeface="Noto Sans"/>
                <a:cs typeface="Noto Sans"/>
                <a:sym typeface="Noto Sans"/>
              </a:rPr>
              <a:t>: ≤10% improvement</a:t>
            </a:r>
            <a:endParaRPr>
              <a:solidFill>
                <a:srgbClr val="999999"/>
              </a:solidFill>
              <a:latin typeface="Noto Sans"/>
              <a:ea typeface="Noto Sans"/>
              <a:cs typeface="Noto Sans"/>
              <a:sym typeface="Noto Sans"/>
            </a:endParaRPr>
          </a:p>
        </p:txBody>
      </p:sp>
      <p:sp>
        <p:nvSpPr>
          <p:cNvPr id="197" name="Google Shape;197;p21"/>
          <p:cNvSpPr/>
          <p:nvPr/>
        </p:nvSpPr>
        <p:spPr>
          <a:xfrm>
            <a:off x="3708400" y="2222509"/>
            <a:ext cx="5105400" cy="730800"/>
          </a:xfrm>
          <a:prstGeom prst="roundRect">
            <a:avLst>
              <a:gd name="adj" fmla="val 16667"/>
            </a:avLst>
          </a:prstGeom>
          <a:solidFill>
            <a:srgbClr val="DEF7ED"/>
          </a:solidFill>
          <a:ln w="9525" cap="flat" cmpd="sng">
            <a:solidFill>
              <a:srgbClr val="FFFAEF"/>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spcBef>
                <a:spcPts val="0"/>
              </a:spcBef>
              <a:spcAft>
                <a:spcPts val="0"/>
              </a:spcAft>
              <a:buClr>
                <a:schemeClr val="dk1"/>
              </a:buClr>
              <a:buSzPts val="1100"/>
              <a:buFont typeface="Arial"/>
              <a:buNone/>
            </a:pPr>
            <a:r>
              <a:rPr lang="en" b="1">
                <a:solidFill>
                  <a:srgbClr val="4A154B"/>
                </a:solidFill>
              </a:rPr>
              <a:t>H1</a:t>
            </a:r>
            <a:r>
              <a:rPr lang="en">
                <a:solidFill>
                  <a:srgbClr val="4A154B"/>
                </a:solidFill>
              </a:rPr>
              <a:t>: &gt;15% reduction in unread messages after 24 hrs</a:t>
            </a:r>
            <a:endParaRPr>
              <a:solidFill>
                <a:srgbClr val="4A154B"/>
              </a:solidFill>
            </a:endParaRPr>
          </a:p>
          <a:p>
            <a:pPr marL="0" lvl="0" indent="0" algn="just" rtl="0">
              <a:spcBef>
                <a:spcPts val="0"/>
              </a:spcBef>
              <a:spcAft>
                <a:spcPts val="0"/>
              </a:spcAft>
              <a:buNone/>
            </a:pPr>
            <a:r>
              <a:rPr lang="en" b="1">
                <a:solidFill>
                  <a:srgbClr val="999999"/>
                </a:solidFill>
              </a:rPr>
              <a:t>H0</a:t>
            </a:r>
            <a:r>
              <a:rPr lang="en">
                <a:solidFill>
                  <a:srgbClr val="999999"/>
                </a:solidFill>
              </a:rPr>
              <a:t>: ≤15% decrease or no significant change</a:t>
            </a:r>
            <a:endParaRPr>
              <a:solidFill>
                <a:srgbClr val="999999"/>
              </a:solidFill>
              <a:latin typeface="Noto Sans"/>
              <a:ea typeface="Noto Sans"/>
              <a:cs typeface="Noto Sans"/>
              <a:sym typeface="Noto Sans"/>
            </a:endParaRPr>
          </a:p>
        </p:txBody>
      </p:sp>
      <p:sp>
        <p:nvSpPr>
          <p:cNvPr id="198" name="Google Shape;198;p21"/>
          <p:cNvSpPr/>
          <p:nvPr/>
        </p:nvSpPr>
        <p:spPr>
          <a:xfrm>
            <a:off x="3708400" y="3218929"/>
            <a:ext cx="5105400" cy="730800"/>
          </a:xfrm>
          <a:prstGeom prst="roundRect">
            <a:avLst>
              <a:gd name="adj" fmla="val 16667"/>
            </a:avLst>
          </a:prstGeom>
          <a:solidFill>
            <a:srgbClr val="DEF7ED"/>
          </a:solidFill>
          <a:ln w="9525" cap="flat" cmpd="sng">
            <a:solidFill>
              <a:srgbClr val="FFFAEF"/>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spcBef>
                <a:spcPts val="0"/>
              </a:spcBef>
              <a:spcAft>
                <a:spcPts val="0"/>
              </a:spcAft>
              <a:buClr>
                <a:schemeClr val="dk1"/>
              </a:buClr>
              <a:buSzPts val="1100"/>
              <a:buFont typeface="Arial"/>
              <a:buNone/>
            </a:pPr>
            <a:r>
              <a:rPr lang="en" b="1">
                <a:solidFill>
                  <a:srgbClr val="4A154B"/>
                </a:solidFill>
              </a:rPr>
              <a:t>H1</a:t>
            </a:r>
            <a:r>
              <a:rPr lang="en">
                <a:solidFill>
                  <a:srgbClr val="4A154B"/>
                </a:solidFill>
              </a:rPr>
              <a:t>: No increase or net decrease in complaints/support tickets</a:t>
            </a:r>
            <a:endParaRPr>
              <a:solidFill>
                <a:srgbClr val="4A154B"/>
              </a:solidFill>
            </a:endParaRPr>
          </a:p>
          <a:p>
            <a:pPr marL="0" lvl="0" indent="0" algn="just" rtl="0">
              <a:spcBef>
                <a:spcPts val="0"/>
              </a:spcBef>
              <a:spcAft>
                <a:spcPts val="0"/>
              </a:spcAft>
              <a:buNone/>
            </a:pPr>
            <a:r>
              <a:rPr lang="en" b="1">
                <a:solidFill>
                  <a:srgbClr val="999999"/>
                </a:solidFill>
              </a:rPr>
              <a:t>H0</a:t>
            </a:r>
            <a:r>
              <a:rPr lang="en">
                <a:solidFill>
                  <a:srgbClr val="999999"/>
                </a:solidFill>
              </a:rPr>
              <a:t>: ≥10% increase</a:t>
            </a:r>
            <a:endParaRPr>
              <a:solidFill>
                <a:srgbClr val="999999"/>
              </a:solidFill>
              <a:latin typeface="Noto Sans"/>
              <a:ea typeface="Noto Sans"/>
              <a:cs typeface="Noto Sans"/>
              <a:sym typeface="Noto Sans"/>
            </a:endParaRPr>
          </a:p>
        </p:txBody>
      </p:sp>
      <p:sp>
        <p:nvSpPr>
          <p:cNvPr id="199" name="Google Shape;199;p21"/>
          <p:cNvSpPr/>
          <p:nvPr/>
        </p:nvSpPr>
        <p:spPr>
          <a:xfrm>
            <a:off x="3708400" y="4215350"/>
            <a:ext cx="5105400" cy="730800"/>
          </a:xfrm>
          <a:prstGeom prst="roundRect">
            <a:avLst>
              <a:gd name="adj" fmla="val 16667"/>
            </a:avLst>
          </a:prstGeom>
          <a:solidFill>
            <a:srgbClr val="DEF7ED"/>
          </a:solidFill>
          <a:ln w="9525" cap="flat" cmpd="sng">
            <a:solidFill>
              <a:srgbClr val="FFFAEF"/>
            </a:solidFill>
            <a:prstDash val="solid"/>
            <a:round/>
            <a:headEnd type="none" w="sm" len="sm"/>
            <a:tailEnd type="none" w="sm" len="sm"/>
          </a:ln>
        </p:spPr>
        <p:txBody>
          <a:bodyPr spcFirstLastPara="1" wrap="square" lIns="91425" tIns="91425" rIns="91425" bIns="91425" anchor="ctr" anchorCtr="0">
            <a:noAutofit/>
          </a:bodyPr>
          <a:lstStyle/>
          <a:p>
            <a:pPr marL="0" lvl="0" indent="0" algn="just" rtl="0">
              <a:spcBef>
                <a:spcPts val="0"/>
              </a:spcBef>
              <a:spcAft>
                <a:spcPts val="0"/>
              </a:spcAft>
              <a:buClr>
                <a:schemeClr val="dk1"/>
              </a:buClr>
              <a:buSzPts val="1100"/>
              <a:buFont typeface="Arial"/>
              <a:buNone/>
            </a:pPr>
            <a:r>
              <a:rPr lang="en" b="1">
                <a:solidFill>
                  <a:srgbClr val="4A154B"/>
                </a:solidFill>
              </a:rPr>
              <a:t>H1</a:t>
            </a:r>
            <a:r>
              <a:rPr lang="en">
                <a:solidFill>
                  <a:srgbClr val="4A154B"/>
                </a:solidFill>
              </a:rPr>
              <a:t>: ≥30% of test users opt in &amp; engage weekly</a:t>
            </a:r>
            <a:endParaRPr>
              <a:solidFill>
                <a:srgbClr val="4A154B"/>
              </a:solidFill>
            </a:endParaRPr>
          </a:p>
          <a:p>
            <a:pPr marL="0" lvl="0" indent="0" algn="just" rtl="0">
              <a:spcBef>
                <a:spcPts val="0"/>
              </a:spcBef>
              <a:spcAft>
                <a:spcPts val="0"/>
              </a:spcAft>
              <a:buNone/>
            </a:pPr>
            <a:r>
              <a:rPr lang="en" b="1">
                <a:solidFill>
                  <a:srgbClr val="999999"/>
                </a:solidFill>
              </a:rPr>
              <a:t>H0</a:t>
            </a:r>
            <a:r>
              <a:rPr lang="en">
                <a:solidFill>
                  <a:srgbClr val="999999"/>
                </a:solidFill>
              </a:rPr>
              <a:t>: &lt;30% opt-in or irregular use</a:t>
            </a:r>
            <a:endParaRPr>
              <a:solidFill>
                <a:srgbClr val="999999"/>
              </a:solidFill>
              <a:latin typeface="Noto Sans"/>
              <a:ea typeface="Noto Sans"/>
              <a:cs typeface="Noto Sans"/>
              <a:sym typeface="Noto Sans"/>
            </a:endParaRPr>
          </a:p>
        </p:txBody>
      </p:sp>
      <p:sp>
        <p:nvSpPr>
          <p:cNvPr id="200" name="Google Shape;200;p21"/>
          <p:cNvSpPr txBox="1"/>
          <p:nvPr/>
        </p:nvSpPr>
        <p:spPr>
          <a:xfrm>
            <a:off x="939800" y="731825"/>
            <a:ext cx="25401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a:solidFill>
                  <a:srgbClr val="4A154B"/>
                </a:solidFill>
                <a:latin typeface="Noto Sans ExtraBold"/>
                <a:ea typeface="Noto Sans ExtraBold"/>
                <a:cs typeface="Noto Sans ExtraBold"/>
                <a:sym typeface="Noto Sans ExtraBold"/>
              </a:rPr>
              <a:t>Outcome</a:t>
            </a:r>
            <a:endParaRPr sz="1700">
              <a:solidFill>
                <a:srgbClr val="4A154B"/>
              </a:solidFill>
              <a:latin typeface="Noto Sans ExtraBold"/>
              <a:ea typeface="Noto Sans ExtraBold"/>
              <a:cs typeface="Noto Sans ExtraBold"/>
              <a:sym typeface="Noto Sans ExtraBold"/>
            </a:endParaRPr>
          </a:p>
        </p:txBody>
      </p:sp>
      <p:sp>
        <p:nvSpPr>
          <p:cNvPr id="201" name="Google Shape;201;p21"/>
          <p:cNvSpPr txBox="1"/>
          <p:nvPr/>
        </p:nvSpPr>
        <p:spPr>
          <a:xfrm>
            <a:off x="4902200" y="731825"/>
            <a:ext cx="25401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a:solidFill>
                  <a:srgbClr val="4A154B"/>
                </a:solidFill>
                <a:latin typeface="Noto Sans ExtraBold"/>
                <a:ea typeface="Noto Sans ExtraBold"/>
                <a:cs typeface="Noto Sans ExtraBold"/>
                <a:sym typeface="Noto Sans ExtraBold"/>
              </a:rPr>
              <a:t>Success Criteria</a:t>
            </a:r>
            <a:endParaRPr sz="1700">
              <a:solidFill>
                <a:srgbClr val="4A154B"/>
              </a:solidFill>
              <a:latin typeface="Noto Sans ExtraBold"/>
              <a:ea typeface="Noto Sans ExtraBold"/>
              <a:cs typeface="Noto Sans ExtraBold"/>
              <a:sym typeface="Noto Sans ExtraBold"/>
            </a:endParaRPr>
          </a:p>
        </p:txBody>
      </p:sp>
      <p:pic>
        <p:nvPicPr>
          <p:cNvPr id="202" name="Google Shape;202;p21"/>
          <p:cNvPicPr preferRelativeResize="0"/>
          <p:nvPr/>
        </p:nvPicPr>
        <p:blipFill>
          <a:blip r:embed="rId3">
            <a:alphaModFix/>
          </a:blip>
          <a:stretch>
            <a:fillRect/>
          </a:stretch>
        </p:blipFill>
        <p:spPr>
          <a:xfrm>
            <a:off x="190600" y="1318100"/>
            <a:ext cx="520700" cy="546735"/>
          </a:xfrm>
          <a:prstGeom prst="rect">
            <a:avLst/>
          </a:prstGeom>
          <a:noFill/>
          <a:ln>
            <a:noFill/>
          </a:ln>
        </p:spPr>
      </p:pic>
      <p:pic>
        <p:nvPicPr>
          <p:cNvPr id="203" name="Google Shape;203;p21"/>
          <p:cNvPicPr preferRelativeResize="0"/>
          <p:nvPr/>
        </p:nvPicPr>
        <p:blipFill>
          <a:blip r:embed="rId4">
            <a:alphaModFix/>
          </a:blip>
          <a:stretch>
            <a:fillRect/>
          </a:stretch>
        </p:blipFill>
        <p:spPr>
          <a:xfrm>
            <a:off x="190600" y="2311400"/>
            <a:ext cx="520700" cy="520700"/>
          </a:xfrm>
          <a:prstGeom prst="rect">
            <a:avLst/>
          </a:prstGeom>
          <a:noFill/>
          <a:ln>
            <a:noFill/>
          </a:ln>
        </p:spPr>
      </p:pic>
      <p:pic>
        <p:nvPicPr>
          <p:cNvPr id="204" name="Google Shape;204;p21"/>
          <p:cNvPicPr preferRelativeResize="0"/>
          <p:nvPr/>
        </p:nvPicPr>
        <p:blipFill>
          <a:blip r:embed="rId5">
            <a:alphaModFix/>
          </a:blip>
          <a:stretch>
            <a:fillRect/>
          </a:stretch>
        </p:blipFill>
        <p:spPr>
          <a:xfrm>
            <a:off x="137250" y="3310968"/>
            <a:ext cx="574061" cy="546725"/>
          </a:xfrm>
          <a:prstGeom prst="rect">
            <a:avLst/>
          </a:prstGeom>
          <a:noFill/>
          <a:ln>
            <a:noFill/>
          </a:ln>
        </p:spPr>
      </p:pic>
      <p:pic>
        <p:nvPicPr>
          <p:cNvPr id="205" name="Google Shape;205;p21"/>
          <p:cNvPicPr preferRelativeResize="0"/>
          <p:nvPr/>
        </p:nvPicPr>
        <p:blipFill>
          <a:blip r:embed="rId6">
            <a:alphaModFix/>
          </a:blip>
          <a:stretch>
            <a:fillRect/>
          </a:stretch>
        </p:blipFill>
        <p:spPr>
          <a:xfrm>
            <a:off x="190600" y="4336575"/>
            <a:ext cx="520700" cy="520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2"/>
          <p:cNvSpPr/>
          <p:nvPr/>
        </p:nvSpPr>
        <p:spPr>
          <a:xfrm>
            <a:off x="0" y="1025"/>
            <a:ext cx="9144000" cy="5143500"/>
          </a:xfrm>
          <a:prstGeom prst="rect">
            <a:avLst/>
          </a:prstGeom>
          <a:solidFill>
            <a:srgbClr val="FFFA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 name="Google Shape;211;p22"/>
          <p:cNvSpPr/>
          <p:nvPr/>
        </p:nvSpPr>
        <p:spPr>
          <a:xfrm>
            <a:off x="0" y="1032"/>
            <a:ext cx="9144000" cy="730800"/>
          </a:xfrm>
          <a:prstGeom prst="rect">
            <a:avLst/>
          </a:prstGeom>
          <a:solidFill>
            <a:srgbClr val="36C5EF"/>
          </a:solidFill>
          <a:ln>
            <a:noFill/>
          </a:ln>
        </p:spPr>
        <p:txBody>
          <a:bodyPr spcFirstLastPara="1" wrap="square" lIns="68575" tIns="34275" rIns="68575" bIns="34275"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 sz="1600" b="1">
                <a:solidFill>
                  <a:srgbClr val="FFFAEF"/>
                </a:solidFill>
                <a:latin typeface="Noto Sans"/>
                <a:ea typeface="Noto Sans"/>
                <a:cs typeface="Noto Sans"/>
                <a:sym typeface="Noto Sans"/>
              </a:rPr>
              <a:t>Experiment Setup: Testing Notification Features with Power Users</a:t>
            </a:r>
            <a:endParaRPr sz="1600" b="1">
              <a:solidFill>
                <a:srgbClr val="FFFAEF"/>
              </a:solidFill>
              <a:latin typeface="Noto Sans"/>
              <a:ea typeface="Noto Sans"/>
              <a:cs typeface="Noto Sans"/>
              <a:sym typeface="Noto Sans"/>
            </a:endParaRPr>
          </a:p>
        </p:txBody>
      </p:sp>
      <p:sp>
        <p:nvSpPr>
          <p:cNvPr id="212" name="Google Shape;212;p22"/>
          <p:cNvSpPr txBox="1"/>
          <p:nvPr/>
        </p:nvSpPr>
        <p:spPr>
          <a:xfrm>
            <a:off x="138600" y="865325"/>
            <a:ext cx="6783000" cy="42792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Clr>
                <a:schemeClr val="dk1"/>
              </a:buClr>
              <a:buSzPts val="1100"/>
              <a:buFont typeface="Arial"/>
              <a:buNone/>
            </a:pPr>
            <a:r>
              <a:rPr lang="en" b="1">
                <a:solidFill>
                  <a:schemeClr val="dk1"/>
                </a:solidFill>
                <a:latin typeface="Noto Sans"/>
                <a:ea typeface="Noto Sans"/>
                <a:cs typeface="Noto Sans"/>
                <a:sym typeface="Noto Sans"/>
              </a:rPr>
              <a:t>A/B Testing</a:t>
            </a:r>
            <a:endParaRPr b="1">
              <a:solidFill>
                <a:schemeClr val="dk1"/>
              </a:solidFill>
              <a:latin typeface="Noto Sans"/>
              <a:ea typeface="Noto Sans"/>
              <a:cs typeface="Noto Sans"/>
              <a:sym typeface="Noto Sans"/>
            </a:endParaRPr>
          </a:p>
          <a:p>
            <a:pPr marL="457200" lvl="0" indent="-317500" algn="l" rtl="0">
              <a:spcBef>
                <a:spcPts val="0"/>
              </a:spcBef>
              <a:spcAft>
                <a:spcPts val="0"/>
              </a:spcAft>
              <a:buClr>
                <a:schemeClr val="dk1"/>
              </a:buClr>
              <a:buSzPts val="1400"/>
              <a:buFont typeface="Noto Sans"/>
              <a:buChar char="●"/>
            </a:pPr>
            <a:r>
              <a:rPr lang="en">
                <a:solidFill>
                  <a:schemeClr val="dk1"/>
                </a:solidFill>
                <a:latin typeface="Noto Sans"/>
                <a:ea typeface="Noto Sans"/>
                <a:cs typeface="Noto Sans"/>
                <a:sym typeface="Noto Sans"/>
              </a:rPr>
              <a:t>Salesforce employees who match our “advanced” Slack user persona (in a large number of channels or receive a high volume of messages daily, and who have a mix of WFH and in-office days)</a:t>
            </a:r>
            <a:endParaRPr>
              <a:solidFill>
                <a:schemeClr val="dk1"/>
              </a:solidFill>
              <a:latin typeface="Noto Sans"/>
              <a:ea typeface="Noto Sans"/>
              <a:cs typeface="Noto Sans"/>
              <a:sym typeface="Noto Sans"/>
            </a:endParaRPr>
          </a:p>
          <a:p>
            <a:pPr marL="914400" lvl="1" indent="-317500" algn="l" rtl="0">
              <a:lnSpc>
                <a:spcPct val="100000"/>
              </a:lnSpc>
              <a:spcBef>
                <a:spcPts val="0"/>
              </a:spcBef>
              <a:spcAft>
                <a:spcPts val="0"/>
              </a:spcAft>
              <a:buClr>
                <a:schemeClr val="dk1"/>
              </a:buClr>
              <a:buSzPts val="1400"/>
              <a:buFont typeface="Noto Sans"/>
              <a:buChar char="○"/>
            </a:pPr>
            <a:r>
              <a:rPr lang="en" b="1">
                <a:solidFill>
                  <a:srgbClr val="073763"/>
                </a:solidFill>
                <a:latin typeface="Noto Sans"/>
                <a:ea typeface="Noto Sans"/>
                <a:cs typeface="Noto Sans"/>
                <a:sym typeface="Noto Sans"/>
              </a:rPr>
              <a:t>Control Group (500 users)</a:t>
            </a:r>
            <a:r>
              <a:rPr lang="en">
                <a:solidFill>
                  <a:schemeClr val="dk1"/>
                </a:solidFill>
                <a:latin typeface="Noto Sans"/>
                <a:ea typeface="Noto Sans"/>
                <a:cs typeface="Noto Sans"/>
                <a:sym typeface="Noto Sans"/>
              </a:rPr>
              <a:t>: Continue using the standard Slack app </a:t>
            </a:r>
            <a:endParaRPr>
              <a:solidFill>
                <a:schemeClr val="dk1"/>
              </a:solidFill>
              <a:latin typeface="Noto Sans"/>
              <a:ea typeface="Noto Sans"/>
              <a:cs typeface="Noto Sans"/>
              <a:sym typeface="Noto Sans"/>
            </a:endParaRPr>
          </a:p>
          <a:p>
            <a:pPr marL="914400" lvl="1" indent="-317500" algn="l" rtl="0">
              <a:lnSpc>
                <a:spcPct val="100000"/>
              </a:lnSpc>
              <a:spcBef>
                <a:spcPts val="0"/>
              </a:spcBef>
              <a:spcAft>
                <a:spcPts val="0"/>
              </a:spcAft>
              <a:buClr>
                <a:schemeClr val="dk1"/>
              </a:buClr>
              <a:buSzPts val="1400"/>
              <a:buFont typeface="Noto Sans"/>
              <a:buChar char="○"/>
            </a:pPr>
            <a:r>
              <a:rPr lang="en" b="1">
                <a:solidFill>
                  <a:srgbClr val="073763"/>
                </a:solidFill>
                <a:latin typeface="Noto Sans"/>
                <a:ea typeface="Noto Sans"/>
                <a:cs typeface="Noto Sans"/>
                <a:sym typeface="Noto Sans"/>
              </a:rPr>
              <a:t>Treatment Group (500 users)</a:t>
            </a:r>
            <a:r>
              <a:rPr lang="en">
                <a:solidFill>
                  <a:schemeClr val="dk1"/>
                </a:solidFill>
                <a:latin typeface="Noto Sans"/>
                <a:ea typeface="Noto Sans"/>
                <a:cs typeface="Noto Sans"/>
                <a:sym typeface="Noto Sans"/>
              </a:rPr>
              <a:t>: Use Slack with the new Intelligent Notification system installed</a:t>
            </a:r>
            <a:endParaRPr>
              <a:solidFill>
                <a:schemeClr val="dk1"/>
              </a:solidFill>
              <a:latin typeface="Noto Sans"/>
              <a:ea typeface="Noto Sans"/>
              <a:cs typeface="Noto Sans"/>
              <a:sym typeface="Noto Sans"/>
            </a:endParaRPr>
          </a:p>
          <a:p>
            <a:pPr marL="457200" lvl="0" indent="-317500" algn="l" rtl="0">
              <a:spcBef>
                <a:spcPts val="0"/>
              </a:spcBef>
              <a:spcAft>
                <a:spcPts val="0"/>
              </a:spcAft>
              <a:buClr>
                <a:schemeClr val="dk1"/>
              </a:buClr>
              <a:buSzPts val="1400"/>
              <a:buFont typeface="Noto Sans"/>
              <a:buChar char="●"/>
            </a:pPr>
            <a:r>
              <a:rPr lang="en">
                <a:solidFill>
                  <a:schemeClr val="dk1"/>
                </a:solidFill>
                <a:latin typeface="Noto Sans"/>
                <a:ea typeface="Noto Sans"/>
                <a:cs typeface="Noto Sans"/>
                <a:sym typeface="Noto Sans"/>
              </a:rPr>
              <a:t>Randomize at user level, minimize selection bias</a:t>
            </a:r>
            <a:endParaRPr>
              <a:solidFill>
                <a:schemeClr val="dk1"/>
              </a:solidFill>
              <a:latin typeface="Noto Sans"/>
              <a:ea typeface="Noto Sans"/>
              <a:cs typeface="Noto Sans"/>
              <a:sym typeface="Noto Sans"/>
            </a:endParaRPr>
          </a:p>
          <a:p>
            <a:pPr marL="914400" lvl="1" indent="-317500" algn="l" rtl="0">
              <a:spcBef>
                <a:spcPts val="0"/>
              </a:spcBef>
              <a:spcAft>
                <a:spcPts val="0"/>
              </a:spcAft>
              <a:buClr>
                <a:schemeClr val="dk1"/>
              </a:buClr>
              <a:buSzPts val="1400"/>
              <a:buFont typeface="Noto Sans"/>
              <a:buChar char="○"/>
            </a:pPr>
            <a:r>
              <a:rPr lang="en">
                <a:solidFill>
                  <a:schemeClr val="dk1"/>
                </a:solidFill>
                <a:latin typeface="Noto Sans"/>
                <a:ea typeface="Noto Sans"/>
                <a:cs typeface="Noto Sans"/>
                <a:sym typeface="Noto Sans"/>
              </a:rPr>
              <a:t>Each group has similar distribution of message volume, roles, and work patterns, and falls in the median range of advanced users</a:t>
            </a:r>
            <a:endParaRPr>
              <a:solidFill>
                <a:schemeClr val="dk1"/>
              </a:solidFill>
              <a:latin typeface="Noto Sans"/>
              <a:ea typeface="Noto Sans"/>
              <a:cs typeface="Noto Sans"/>
              <a:sym typeface="Noto Sans"/>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latin typeface="Noto Sans"/>
              <a:ea typeface="Noto Sans"/>
              <a:cs typeface="Noto Sans"/>
              <a:sym typeface="Noto Sans"/>
            </a:endParaRPr>
          </a:p>
          <a:p>
            <a:pPr marL="0" lvl="0" indent="0" algn="l" rtl="0">
              <a:lnSpc>
                <a:spcPct val="100000"/>
              </a:lnSpc>
              <a:spcBef>
                <a:spcPts val="0"/>
              </a:spcBef>
              <a:spcAft>
                <a:spcPts val="0"/>
              </a:spcAft>
              <a:buNone/>
            </a:pPr>
            <a:r>
              <a:rPr lang="en" b="1">
                <a:solidFill>
                  <a:schemeClr val="dk1"/>
                </a:solidFill>
                <a:latin typeface="Noto Sans"/>
                <a:ea typeface="Noto Sans"/>
                <a:cs typeface="Noto Sans"/>
                <a:sym typeface="Noto Sans"/>
              </a:rPr>
              <a:t>Risks </a:t>
            </a:r>
            <a:endParaRPr b="1">
              <a:solidFill>
                <a:schemeClr val="dk1"/>
              </a:solidFill>
              <a:latin typeface="Noto Sans"/>
              <a:ea typeface="Noto Sans"/>
              <a:cs typeface="Noto Sans"/>
              <a:sym typeface="Noto Sans"/>
            </a:endParaRPr>
          </a:p>
          <a:p>
            <a:pPr marL="457200" lvl="0" indent="-317500" algn="l" rtl="0">
              <a:lnSpc>
                <a:spcPct val="100000"/>
              </a:lnSpc>
              <a:spcBef>
                <a:spcPts val="0"/>
              </a:spcBef>
              <a:spcAft>
                <a:spcPts val="0"/>
              </a:spcAft>
              <a:buClr>
                <a:schemeClr val="dk1"/>
              </a:buClr>
              <a:buSzPts val="1400"/>
              <a:buFont typeface="Noto Sans"/>
              <a:buChar char="●"/>
            </a:pPr>
            <a:r>
              <a:rPr lang="en">
                <a:solidFill>
                  <a:schemeClr val="dk1"/>
                </a:solidFill>
                <a:latin typeface="Noto Sans"/>
                <a:ea typeface="Noto Sans"/>
                <a:cs typeface="Noto Sans"/>
                <a:sym typeface="Noto Sans"/>
              </a:rPr>
              <a:t>Initial usage may not be reflective of long term adoption i.e novelty effect</a:t>
            </a:r>
            <a:endParaRPr>
              <a:solidFill>
                <a:schemeClr val="dk1"/>
              </a:solidFill>
              <a:latin typeface="Noto Sans"/>
              <a:ea typeface="Noto Sans"/>
              <a:cs typeface="Noto Sans"/>
              <a:sym typeface="Noto Sans"/>
            </a:endParaRPr>
          </a:p>
          <a:p>
            <a:pPr marL="457200" lvl="0" indent="-317500" algn="l" rtl="0">
              <a:lnSpc>
                <a:spcPct val="100000"/>
              </a:lnSpc>
              <a:spcBef>
                <a:spcPts val="0"/>
              </a:spcBef>
              <a:spcAft>
                <a:spcPts val="0"/>
              </a:spcAft>
              <a:buClr>
                <a:schemeClr val="dk1"/>
              </a:buClr>
              <a:buSzPts val="1400"/>
              <a:buFont typeface="Noto Sans"/>
              <a:buChar char="●"/>
            </a:pPr>
            <a:r>
              <a:rPr lang="en">
                <a:solidFill>
                  <a:schemeClr val="dk1"/>
                </a:solidFill>
                <a:latin typeface="Noto Sans"/>
                <a:ea typeface="Noto Sans"/>
                <a:cs typeface="Noto Sans"/>
                <a:sym typeface="Noto Sans"/>
              </a:rPr>
              <a:t>To reduce biases, overlap with other beta testing efforts and dogfooding must be minimised for the group in consideration</a:t>
            </a:r>
            <a:endParaRPr>
              <a:solidFill>
                <a:schemeClr val="dk1"/>
              </a:solidFill>
              <a:latin typeface="Noto Sans"/>
              <a:ea typeface="Noto Sans"/>
              <a:cs typeface="Noto Sans"/>
              <a:sym typeface="Noto Sans"/>
            </a:endParaRPr>
          </a:p>
          <a:p>
            <a:pPr marL="457200" lvl="0" indent="-317500" algn="l" rtl="0">
              <a:lnSpc>
                <a:spcPct val="100000"/>
              </a:lnSpc>
              <a:spcBef>
                <a:spcPts val="0"/>
              </a:spcBef>
              <a:spcAft>
                <a:spcPts val="0"/>
              </a:spcAft>
              <a:buClr>
                <a:schemeClr val="dk1"/>
              </a:buClr>
              <a:buSzPts val="1400"/>
              <a:buFont typeface="Noto Sans"/>
              <a:buChar char="●"/>
            </a:pPr>
            <a:r>
              <a:rPr lang="en">
                <a:solidFill>
                  <a:schemeClr val="dk1"/>
                </a:solidFill>
                <a:latin typeface="Noto Sans"/>
                <a:ea typeface="Noto Sans"/>
                <a:cs typeface="Noto Sans"/>
                <a:sym typeface="Noto Sans"/>
              </a:rPr>
              <a:t>External events such as quarterly planning, critical incidents, or company-wide reorgs can lead to misleading observations owing to a change in notification flow</a:t>
            </a:r>
            <a:endParaRPr>
              <a:solidFill>
                <a:schemeClr val="dk1"/>
              </a:solidFill>
              <a:latin typeface="Noto Sans"/>
              <a:ea typeface="Noto Sans"/>
              <a:cs typeface="Noto Sans"/>
              <a:sym typeface="Noto Sans"/>
            </a:endParaRPr>
          </a:p>
          <a:p>
            <a:pPr marL="0" lvl="0" indent="0" algn="l" rtl="0">
              <a:lnSpc>
                <a:spcPct val="100000"/>
              </a:lnSpc>
              <a:spcBef>
                <a:spcPts val="0"/>
              </a:spcBef>
              <a:spcAft>
                <a:spcPts val="0"/>
              </a:spcAft>
              <a:buNone/>
            </a:pPr>
            <a:endParaRPr>
              <a:latin typeface="Noto Sans"/>
              <a:ea typeface="Noto Sans"/>
              <a:cs typeface="Noto Sans"/>
              <a:sym typeface="Noto Sans"/>
            </a:endParaRPr>
          </a:p>
        </p:txBody>
      </p:sp>
      <p:pic>
        <p:nvPicPr>
          <p:cNvPr id="213" name="Google Shape;213;p22"/>
          <p:cNvPicPr preferRelativeResize="0"/>
          <p:nvPr/>
        </p:nvPicPr>
        <p:blipFill>
          <a:blip r:embed="rId3">
            <a:alphaModFix/>
          </a:blip>
          <a:stretch>
            <a:fillRect/>
          </a:stretch>
        </p:blipFill>
        <p:spPr>
          <a:xfrm>
            <a:off x="7138150" y="1226450"/>
            <a:ext cx="1671325" cy="1671325"/>
          </a:xfrm>
          <a:prstGeom prst="rect">
            <a:avLst/>
          </a:prstGeom>
          <a:noFill/>
          <a:ln>
            <a:noFill/>
          </a:ln>
        </p:spPr>
      </p:pic>
      <p:pic>
        <p:nvPicPr>
          <p:cNvPr id="214" name="Google Shape;214;p22"/>
          <p:cNvPicPr preferRelativeResize="0"/>
          <p:nvPr/>
        </p:nvPicPr>
        <p:blipFill>
          <a:blip r:embed="rId4">
            <a:alphaModFix/>
          </a:blip>
          <a:stretch>
            <a:fillRect/>
          </a:stretch>
        </p:blipFill>
        <p:spPr>
          <a:xfrm>
            <a:off x="7188363" y="3194475"/>
            <a:ext cx="1570875" cy="1570875"/>
          </a:xfrm>
          <a:prstGeom prst="rect">
            <a:avLst/>
          </a:prstGeom>
          <a:noFill/>
          <a:ln>
            <a:noFill/>
          </a:ln>
        </p:spPr>
      </p:pic>
      <p:sp>
        <p:nvSpPr>
          <p:cNvPr id="215" name="Google Shape;215;p22"/>
          <p:cNvSpPr/>
          <p:nvPr/>
        </p:nvSpPr>
        <p:spPr>
          <a:xfrm>
            <a:off x="9236175" y="-35675"/>
            <a:ext cx="834900" cy="730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a:p>
            <a:pPr marL="0" lvl="0" indent="0" algn="ctr" rtl="0">
              <a:spcBef>
                <a:spcPts val="0"/>
              </a:spcBef>
              <a:spcAft>
                <a:spcPts val="0"/>
              </a:spcAft>
              <a:buNone/>
            </a:pPr>
            <a:r>
              <a:rPr lang="en"/>
              <a:t>AD</a:t>
            </a:r>
            <a:endParaRPr/>
          </a:p>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1362</Words>
  <Application>Microsoft Macintosh PowerPoint</Application>
  <PresentationFormat>On-screen Show (16:9)</PresentationFormat>
  <Paragraphs>157</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Helvetica Neue</vt:lpstr>
      <vt:lpstr>Noto Sans</vt:lpstr>
      <vt:lpstr>Arial</vt:lpstr>
      <vt:lpstr>Noto Sans ExtraBold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Sawant, Gai</cp:lastModifiedBy>
  <cp:revision>1</cp:revision>
  <dcterms:modified xsi:type="dcterms:W3CDTF">2025-05-05T02:24:38Z</dcterms:modified>
</cp:coreProperties>
</file>